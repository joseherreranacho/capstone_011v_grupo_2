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g2SPtcWJ2GoW6/zRNaH03q02J/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6dbac00d0b716a76_1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h6dbac00d0b716a76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77240" y="10515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TÉCNICO YA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77240" y="178308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69C3F5"/>
                </a:solidFill>
                <a:latin typeface="Arial"/>
                <a:ea typeface="Arial"/>
                <a:cs typeface="Arial"/>
                <a:sym typeface="Arial"/>
              </a:rPr>
              <a:t>Seguimiento y Roadmap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77240" y="2514600"/>
            <a:ext cx="9875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Plataforma Web + App móvil para gestión de servicios técnicos a domicilio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77240" y="38862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A0B1C3"/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77240" y="4224528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Waterfall / Cascada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6446520" y="38862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A0B1C3"/>
                </a:solidFill>
                <a:latin typeface="Arial"/>
                <a:ea typeface="Arial"/>
                <a:cs typeface="Arial"/>
                <a:sym typeface="Arial"/>
              </a:rPr>
              <a:t>EQUIPO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6446520" y="4224528"/>
            <a:ext cx="4663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Sebastián Valdés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José Herrera · José Espinoza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59893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4C3D2"/>
                </a:solidFill>
                <a:latin typeface="Arial"/>
                <a:ea typeface="Arial"/>
                <a:cs typeface="Arial"/>
                <a:sym typeface="Arial"/>
              </a:rPr>
              <a:t>Seguimiento · Septiembre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594360" y="256032"/>
            <a:ext cx="109728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42236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en-US" sz="2700">
                <a:solidFill>
                  <a:srgbClr val="142236"/>
                </a:solidFill>
              </a:rPr>
              <a:t>E</a:t>
            </a:r>
            <a:r>
              <a:rPr b="1" i="0" lang="en-US" sz="2700" u="none" cap="none" strike="noStrike">
                <a:solidFill>
                  <a:srgbClr val="142236"/>
                </a:solidFill>
                <a:latin typeface="Arial"/>
                <a:ea typeface="Arial"/>
                <a:cs typeface="Arial"/>
                <a:sym typeface="Arial"/>
              </a:rPr>
              <a:t>stado 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594360" y="841248"/>
            <a:ext cx="731520" cy="50292"/>
          </a:xfrm>
          <a:prstGeom prst="rect">
            <a:avLst/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40080" y="1536192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Requerimientos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2542032" y="1536192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4443984" y="1536192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6345936" y="1536192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8247888" y="1536192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Despliegue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0149840" y="1536192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594350" y="1265868"/>
            <a:ext cx="106986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42236"/>
                </a:solidFill>
                <a:latin typeface="Arial"/>
                <a:ea typeface="Arial"/>
                <a:cs typeface="Arial"/>
                <a:sym typeface="Arial"/>
              </a:rPr>
              <a:t>Estado 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372650" y="2045850"/>
            <a:ext cx="3429000" cy="339480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537242" y="2220353"/>
            <a:ext cx="30999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49765"/>
                </a:solidFill>
                <a:latin typeface="Arial"/>
                <a:ea typeface="Arial"/>
                <a:cs typeface="Arial"/>
                <a:sym typeface="Arial"/>
              </a:rPr>
              <a:t>REALIZADO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537200" y="2528329"/>
            <a:ext cx="3099900" cy="17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• Definición del proyecto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• Objetivos y alcance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• ERS y requerimientos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• Metodología Waterfall</a:t>
            </a:r>
            <a:endParaRPr b="0" i="0" sz="1400" u="none" cap="none" strike="noStrike">
              <a:solidFill>
                <a:srgbClr val="2A32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23B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Mockups</a:t>
            </a:r>
            <a:endParaRPr b="0" i="0" sz="1400" u="none" cap="none" strike="noStrike">
              <a:solidFill>
                <a:srgbClr val="2A32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323B"/>
              </a:buClr>
              <a:buSzPts val="1400"/>
              <a:buFont typeface="Arial"/>
              <a:buChar char="●"/>
            </a:pPr>
            <a:r>
              <a:rPr lang="en-US">
                <a:solidFill>
                  <a:srgbClr val="2A323B"/>
                </a:solidFill>
              </a:rPr>
              <a:t>Diagramas </a:t>
            </a: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4+1</a:t>
            </a:r>
            <a:b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Casos de </a:t>
            </a:r>
            <a:r>
              <a:rPr lang="en-US">
                <a:solidFill>
                  <a:srgbClr val="2A323B"/>
                </a:solidFill>
              </a:rPr>
              <a:t>uso web</a:t>
            </a:r>
            <a:endParaRPr b="0" i="0" sz="1400" u="none" cap="none" strike="noStrike">
              <a:solidFill>
                <a:srgbClr val="2A32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A323B"/>
              </a:solidFill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4050795" y="2045850"/>
            <a:ext cx="3429000" cy="205740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4215399" y="2215653"/>
            <a:ext cx="30999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66BE"/>
                </a:solidFill>
                <a:latin typeface="Arial"/>
                <a:ea typeface="Arial"/>
                <a:cs typeface="Arial"/>
                <a:sym typeface="Arial"/>
              </a:rPr>
              <a:t>EN PROGRESO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4215362" y="2711445"/>
            <a:ext cx="30999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• Das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>
                <a:solidFill>
                  <a:srgbClr val="2A323B"/>
                </a:solidFill>
              </a:rPr>
              <a:t>Mockups y casos de uso app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• Modelo de datos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7893440" y="2045850"/>
            <a:ext cx="3429000" cy="205740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8058044" y="2215653"/>
            <a:ext cx="30999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8E35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8058044" y="2528320"/>
            <a:ext cx="30999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>
                <a:solidFill>
                  <a:srgbClr val="2A323B"/>
                </a:solidFill>
              </a:rPr>
              <a:t>Desarrollo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• Web administrativa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• App del técnico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• Integración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731520" y="544068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42236"/>
                </a:solidFill>
                <a:latin typeface="Arial"/>
                <a:ea typeface="Arial"/>
                <a:cs typeface="Arial"/>
                <a:sym typeface="Arial"/>
              </a:rPr>
              <a:t>La fase de diseño se cierra antes de avanzar al desarrollo, manteniendo trazabilidad con los requerimientos.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594360" y="6473952"/>
            <a:ext cx="4572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707A"/>
                </a:solidFill>
                <a:latin typeface="Arial"/>
                <a:ea typeface="Arial"/>
                <a:cs typeface="Arial"/>
                <a:sym typeface="Arial"/>
              </a:rPr>
              <a:t>Técnico Ya · CAPSTONE_011V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11201400" y="6455664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707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594360" y="256032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42236"/>
                </a:solidFill>
                <a:latin typeface="Arial"/>
                <a:ea typeface="Arial"/>
                <a:cs typeface="Arial"/>
                <a:sym typeface="Arial"/>
              </a:rPr>
              <a:t>2. Alcance de Técnico Ya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594360" y="841248"/>
            <a:ext cx="731400" cy="50400"/>
          </a:xfrm>
          <a:prstGeom prst="rect">
            <a:avLst/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685800" y="1417320"/>
            <a:ext cx="3429000" cy="192030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850392" y="1527048"/>
            <a:ext cx="309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66BE"/>
                </a:solidFill>
                <a:latin typeface="Arial"/>
                <a:ea typeface="Arial"/>
                <a:cs typeface="Arial"/>
                <a:sym typeface="Arial"/>
              </a:rPr>
              <a:t>PLATAFORMA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850392" y="1920240"/>
            <a:ext cx="30999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Gestión de clientes, técnicos, servicios, solicitudes, asignaciones y seguimiento administrativo.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4389120" y="1417320"/>
            <a:ext cx="3429000" cy="192030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4553712" y="1527048"/>
            <a:ext cx="309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9DB9"/>
                </a:solidFill>
                <a:latin typeface="Arial"/>
                <a:ea typeface="Arial"/>
                <a:cs typeface="Arial"/>
                <a:sym typeface="Arial"/>
              </a:rPr>
              <a:t>APP DEL TÉCNICO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4553712" y="1920240"/>
            <a:ext cx="30999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Trabajos asignados, mapa, código de llegada, estados, observaciones y fotografías.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8092440" y="1417320"/>
            <a:ext cx="3429000" cy="192030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8257031" y="1527048"/>
            <a:ext cx="309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49765"/>
                </a:solidFill>
                <a:latin typeface="Arial"/>
                <a:ea typeface="Arial"/>
                <a:cs typeface="Arial"/>
                <a:sym typeface="Arial"/>
              </a:rPr>
              <a:t>BACKEND + BD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8257031" y="1920240"/>
            <a:ext cx="30999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API, autenticación, lógica de negocio y base de datos SQL centralizada.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1417320" y="3886200"/>
            <a:ext cx="4480500" cy="141720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1581912" y="3995928"/>
            <a:ext cx="4151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8E35"/>
                </a:solidFill>
                <a:latin typeface="Arial"/>
                <a:ea typeface="Arial"/>
                <a:cs typeface="Arial"/>
                <a:sym typeface="Arial"/>
              </a:rPr>
              <a:t>PROCESO PRINCIPAL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1581912" y="4389120"/>
            <a:ext cx="41514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Solicitud → revisión → asignación → ejecución → cierre.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6309360" y="3886200"/>
            <a:ext cx="4480500" cy="141720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6473952" y="3995928"/>
            <a:ext cx="4151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54444"/>
                </a:solidFill>
                <a:latin typeface="Arial"/>
                <a:ea typeface="Arial"/>
                <a:cs typeface="Arial"/>
                <a:sym typeface="Arial"/>
              </a:rPr>
              <a:t>APOYO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6473952" y="4389120"/>
            <a:ext cx="41514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Dashboard, mapas/geolocalización y notificaciones.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594360" y="6473952"/>
            <a:ext cx="4572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707A"/>
                </a:solidFill>
                <a:latin typeface="Arial"/>
                <a:ea typeface="Arial"/>
                <a:cs typeface="Arial"/>
                <a:sym typeface="Arial"/>
              </a:rPr>
              <a:t>Técnico Ya · CAPSTONE_011V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11201400" y="6455664"/>
            <a:ext cx="365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707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/>
          <p:nvPr/>
        </p:nvSpPr>
        <p:spPr>
          <a:xfrm>
            <a:off x="102650" y="0"/>
            <a:ext cx="121917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594360" y="256032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42236"/>
                </a:solidFill>
                <a:latin typeface="Arial"/>
                <a:ea typeface="Arial"/>
                <a:cs typeface="Arial"/>
                <a:sym typeface="Arial"/>
              </a:rPr>
              <a:t>3. Diseño — entregables de la fase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594360" y="841248"/>
            <a:ext cx="731520" cy="50292"/>
          </a:xfrm>
          <a:prstGeom prst="rect">
            <a:avLst/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685800" y="1371600"/>
            <a:ext cx="5257800" cy="169164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850392" y="1481328"/>
            <a:ext cx="49286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66BE"/>
                </a:solidFill>
                <a:latin typeface="Arial"/>
                <a:ea typeface="Arial"/>
                <a:cs typeface="Arial"/>
                <a:sym typeface="Arial"/>
              </a:rPr>
              <a:t>ARQUITECTURA 4+1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850392" y="1874519"/>
            <a:ext cx="4928616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Vista lógica · desarrollo · procesos · física · escenarios.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6236208" y="1371600"/>
            <a:ext cx="5257800" cy="169164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6400800" y="1481328"/>
            <a:ext cx="49286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49765"/>
                </a:solidFill>
                <a:latin typeface="Arial"/>
                <a:ea typeface="Arial"/>
                <a:cs typeface="Arial"/>
                <a:sym typeface="Arial"/>
              </a:rPr>
              <a:t>MODELO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6400800" y="1874519"/>
            <a:ext cx="4928616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Entidades, relaciones, claves y estructura SQL.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685800" y="3429000"/>
            <a:ext cx="5257800" cy="169164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850392" y="3538728"/>
            <a:ext cx="49286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8E35"/>
                </a:solidFill>
                <a:latin typeface="Arial"/>
                <a:ea typeface="Arial"/>
                <a:cs typeface="Arial"/>
                <a:sym typeface="Arial"/>
              </a:rPr>
              <a:t>CASOS DE USO PRINCIPALES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850392" y="3931920"/>
            <a:ext cx="4928616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Crear solicitud · asignar técnico · ejecutar trabajo · actualizar estado · cerrar servicio.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6236208" y="3429000"/>
            <a:ext cx="5257800" cy="1691640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6400800" y="3538728"/>
            <a:ext cx="49287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9DB9"/>
                </a:solidFill>
                <a:latin typeface="Arial"/>
                <a:ea typeface="Arial"/>
                <a:cs typeface="Arial"/>
                <a:sym typeface="Arial"/>
              </a:rPr>
              <a:t>DISEÑO DE LOS CASOS DE PRUEBA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6400800" y="3931920"/>
            <a:ext cx="49287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Diseñar casos de prueba - para posterior ejecución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594360" y="6473952"/>
            <a:ext cx="4572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707A"/>
                </a:solidFill>
                <a:latin typeface="Arial"/>
                <a:ea typeface="Arial"/>
                <a:cs typeface="Arial"/>
                <a:sym typeface="Arial"/>
              </a:rPr>
              <a:t>Técnico Ya · CAPSTONE_011V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11201400" y="6455664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707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594360" y="256032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42236"/>
                </a:solidFill>
                <a:latin typeface="Arial"/>
                <a:ea typeface="Arial"/>
                <a:cs typeface="Arial"/>
                <a:sym typeface="Arial"/>
              </a:rPr>
              <a:t>4.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594360" y="841248"/>
            <a:ext cx="731520" cy="50292"/>
          </a:xfrm>
          <a:prstGeom prst="rect">
            <a:avLst/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713232" y="1325880"/>
            <a:ext cx="10771632" cy="859536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868680" y="1453895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34976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868680" y="1472184"/>
            <a:ext cx="4389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1508760" y="1435607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49765"/>
                </a:solidFill>
                <a:latin typeface="Arial"/>
                <a:ea typeface="Arial"/>
                <a:cs typeface="Arial"/>
                <a:sym typeface="Arial"/>
              </a:rPr>
              <a:t>Base de datos +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4160520" y="1435607"/>
            <a:ext cx="6858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Esquema SQL, autenticación, lógica de negocio y endpoints.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713232" y="2487168"/>
            <a:ext cx="10771632" cy="859536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868680" y="2615184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868680" y="2633472"/>
            <a:ext cx="4389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1508760" y="2596896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66BE"/>
                </a:solidFill>
                <a:latin typeface="Arial"/>
                <a:ea typeface="Arial"/>
                <a:cs typeface="Arial"/>
                <a:sym typeface="Arial"/>
              </a:rPr>
              <a:t>Plataforma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4160520" y="2596896"/>
            <a:ext cx="6858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CRUD, solicitudes, recomendación, asignación y seguimiento.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713232" y="3648456"/>
            <a:ext cx="10771632" cy="859536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868680" y="3776472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1F9DB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868680" y="3794760"/>
            <a:ext cx="4389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1508760" y="3758184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9DB9"/>
                </a:solidFill>
                <a:latin typeface="Arial"/>
                <a:ea typeface="Arial"/>
                <a:cs typeface="Arial"/>
                <a:sym typeface="Arial"/>
              </a:rPr>
              <a:t>Aplicación móvil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 txBox="1"/>
          <p:nvPr/>
        </p:nvSpPr>
        <p:spPr>
          <a:xfrm>
            <a:off x="4160520" y="3758184"/>
            <a:ext cx="6858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Trabajos, mapa, código de llegada, estados y evidencias.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713232" y="4809744"/>
            <a:ext cx="10771632" cy="859536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868680" y="4937759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E88E3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868680" y="4956048"/>
            <a:ext cx="4389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1508760" y="4919472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8E35"/>
                </a:solidFill>
                <a:latin typeface="Arial"/>
                <a:ea typeface="Arial"/>
                <a:cs typeface="Arial"/>
                <a:sym typeface="Arial"/>
              </a:rPr>
              <a:t>Dashboard + integraciones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 txBox="1"/>
          <p:nvPr/>
        </p:nvSpPr>
        <p:spPr>
          <a:xfrm>
            <a:off x="4160520" y="4919472"/>
            <a:ext cx="6858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Indicadores, mapas y notificaciones.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594360" y="6473952"/>
            <a:ext cx="4572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707A"/>
                </a:solidFill>
                <a:latin typeface="Arial"/>
                <a:ea typeface="Arial"/>
                <a:cs typeface="Arial"/>
                <a:sym typeface="Arial"/>
              </a:rPr>
              <a:t>Técnico Ya · CAPSTONE_011V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11201400" y="6455664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707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594360" y="256032"/>
            <a:ext cx="109728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42236"/>
                </a:solidFill>
              </a:rPr>
              <a:t>5</a:t>
            </a:r>
            <a:r>
              <a:rPr b="1" i="0" lang="en-US" sz="2700" u="none" cap="none" strike="noStrike">
                <a:solidFill>
                  <a:srgbClr val="142236"/>
                </a:solidFill>
                <a:latin typeface="Arial"/>
                <a:ea typeface="Arial"/>
                <a:cs typeface="Arial"/>
                <a:sym typeface="Arial"/>
              </a:rPr>
              <a:t>. Responsables y próximos hitos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94360" y="841248"/>
            <a:ext cx="731520" cy="50292"/>
          </a:xfrm>
          <a:prstGeom prst="rect">
            <a:avLst/>
          </a:prstGeom>
          <a:solidFill>
            <a:srgbClr val="2666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685800" y="1325880"/>
            <a:ext cx="3429000" cy="1874519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850392" y="1435607"/>
            <a:ext cx="3099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66BE"/>
                </a:solidFill>
                <a:latin typeface="Arial"/>
                <a:ea typeface="Arial"/>
                <a:cs typeface="Arial"/>
                <a:sym typeface="Arial"/>
              </a:rPr>
              <a:t>SEBASTIÁN VALDÉS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850392" y="1828800"/>
            <a:ext cx="3099816" cy="125272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Líder de proyecto: coordinación, alcance, plazos, revisión y apoyo al desarrollo.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389120" y="1325880"/>
            <a:ext cx="3429000" cy="1874519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4553712" y="1435607"/>
            <a:ext cx="3099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9DB9"/>
                </a:solidFill>
                <a:latin typeface="Arial"/>
                <a:ea typeface="Arial"/>
                <a:cs typeface="Arial"/>
                <a:sym typeface="Arial"/>
              </a:rPr>
              <a:t>JOSÉ HERRERA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4553712" y="1828800"/>
            <a:ext cx="3099816" cy="125272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Desarrollo: plataforma Web, App móvil, lógica de negocio e integraciones.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8092440" y="1325880"/>
            <a:ext cx="3429000" cy="1874519"/>
          </a:xfrm>
          <a:prstGeom prst="roundRect">
            <a:avLst>
              <a:gd fmla="val 16667" name="adj"/>
            </a:avLst>
          </a:prstGeom>
          <a:solidFill>
            <a:srgbClr val="F0F4F8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 txBox="1"/>
          <p:nvPr/>
        </p:nvSpPr>
        <p:spPr>
          <a:xfrm>
            <a:off x="8257031" y="1435607"/>
            <a:ext cx="30998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49765"/>
                </a:solidFill>
                <a:latin typeface="Arial"/>
                <a:ea typeface="Arial"/>
                <a:cs typeface="Arial"/>
                <a:sym typeface="Arial"/>
              </a:rPr>
              <a:t>JOSÉ ESPINOZA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 txBox="1"/>
          <p:nvPr/>
        </p:nvSpPr>
        <p:spPr>
          <a:xfrm>
            <a:off x="8257031" y="1828800"/>
            <a:ext cx="3099816" cy="125272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23B"/>
                </a:solidFill>
                <a:latin typeface="Arial"/>
                <a:ea typeface="Arial"/>
                <a:cs typeface="Arial"/>
                <a:sym typeface="Arial"/>
              </a:rPr>
              <a:t>BD y arquitectura: modelo de datos, arquitectura y comunicación entre componentes.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731520" y="3657600"/>
            <a:ext cx="10607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42236"/>
                </a:solidFill>
                <a:latin typeface="Arial"/>
                <a:ea typeface="Arial"/>
                <a:cs typeface="Arial"/>
                <a:sym typeface="Arial"/>
              </a:rPr>
              <a:t>Próximos hitos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822960" y="4160520"/>
            <a:ext cx="104241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666BE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en-US" sz="1500">
                <a:solidFill>
                  <a:srgbClr val="2666BE"/>
                </a:solidFill>
              </a:rPr>
              <a:t>Empezar desarrollo</a:t>
            </a:r>
            <a:r>
              <a:rPr b="1" i="0" lang="en-US" sz="1500" u="none" cap="none" strike="noStrike">
                <a:solidFill>
                  <a:srgbClr val="2666BE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1" lang="en-US" sz="1500">
                <a:solidFill>
                  <a:srgbClr val="2666BE"/>
                </a:solidFill>
              </a:rPr>
              <a:t>José herrera desarrollador </a:t>
            </a:r>
            <a:r>
              <a:rPr b="1" lang="en-US" sz="1500">
                <a:solidFill>
                  <a:srgbClr val="2666BE"/>
                </a:solidFill>
              </a:rPr>
              <a:t>empezará</a:t>
            </a:r>
            <a:r>
              <a:rPr b="1" lang="en-US" sz="1500">
                <a:solidFill>
                  <a:srgbClr val="2666BE"/>
                </a:solidFill>
              </a:rPr>
              <a:t> </a:t>
            </a:r>
            <a:r>
              <a:rPr b="1" lang="en-US" sz="1500">
                <a:solidFill>
                  <a:srgbClr val="2666BE"/>
                </a:solidFill>
              </a:rPr>
              <a:t>módulo</a:t>
            </a:r>
            <a:r>
              <a:rPr b="1" lang="en-US" sz="1500">
                <a:solidFill>
                  <a:srgbClr val="2666BE"/>
                </a:solidFill>
              </a:rPr>
              <a:t>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822960" y="4645152"/>
            <a:ext cx="104241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9DB9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en-US" sz="1500">
                <a:solidFill>
                  <a:srgbClr val="1F9DB9"/>
                </a:solidFill>
              </a:rPr>
              <a:t>Mockups app/casos de uso app</a:t>
            </a:r>
            <a:r>
              <a:rPr b="1" i="0" lang="en-US" sz="1500" u="none" cap="none" strike="noStrike">
                <a:solidFill>
                  <a:srgbClr val="1F9DB9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1" lang="en-US" sz="1500">
                <a:solidFill>
                  <a:srgbClr val="1F9DB9"/>
                </a:solidFill>
              </a:rPr>
              <a:t>Terminarlos al 100%</a:t>
            </a:r>
            <a:endParaRPr b="1" sz="1500">
              <a:solidFill>
                <a:srgbClr val="1F9DB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sz="1500">
              <a:solidFill>
                <a:srgbClr val="1F9DB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sz="1500">
              <a:solidFill>
                <a:srgbClr val="1F9DB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9DB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822960" y="5129784"/>
            <a:ext cx="104241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9DB9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1" lang="en-US" sz="1500">
                <a:solidFill>
                  <a:srgbClr val="1F9DB9"/>
                </a:solidFill>
              </a:rPr>
              <a:t>Revisar</a:t>
            </a:r>
            <a:r>
              <a:rPr b="1" i="0" lang="en-US" sz="1500" u="none" cap="none" strike="noStrike">
                <a:solidFill>
                  <a:srgbClr val="1F9DB9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1" lang="en-US" sz="1500">
                <a:solidFill>
                  <a:srgbClr val="1F9DB9"/>
                </a:solidFill>
              </a:rPr>
              <a:t>Revisar y pulir </a:t>
            </a:r>
            <a:r>
              <a:rPr b="1" lang="en-US" sz="1500">
                <a:solidFill>
                  <a:srgbClr val="1F9DB9"/>
                </a:solidFill>
              </a:rPr>
              <a:t>últimos</a:t>
            </a:r>
            <a:r>
              <a:rPr b="1" lang="en-US" sz="1500">
                <a:solidFill>
                  <a:srgbClr val="1F9DB9"/>
                </a:solidFill>
              </a:rPr>
              <a:t> detalles antes de presentación final</a:t>
            </a:r>
            <a:endParaRPr b="1" i="0" sz="1500" u="none" cap="none" strike="noStrike">
              <a:solidFill>
                <a:srgbClr val="E88E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777240" y="5806440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236"/>
                </a:solidFill>
                <a:latin typeface="Arial"/>
                <a:ea typeface="Arial"/>
                <a:cs typeface="Arial"/>
                <a:sym typeface="Arial"/>
              </a:rPr>
              <a:t>Meta final: versión funcional integrada, probada, documentada y demostrable.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 txBox="1"/>
          <p:nvPr/>
        </p:nvSpPr>
        <p:spPr>
          <a:xfrm>
            <a:off x="594360" y="6473952"/>
            <a:ext cx="4572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707A"/>
                </a:solidFill>
                <a:latin typeface="Arial"/>
                <a:ea typeface="Arial"/>
                <a:cs typeface="Arial"/>
                <a:sym typeface="Arial"/>
              </a:rPr>
              <a:t>Técnico Ya · CAPSTONE_011V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11201400" y="6455664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36575" spcFirstLastPara="1" rIns="365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6707A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nclusión" id="220" name="Google Shape;220;h6dbac00d0b716a76_1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110966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h6dbac00d0b716a76_1_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800" y="747875"/>
            <a:ext cx="13144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h6dbac00d0b716a76_1_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800" y="1152525"/>
            <a:ext cx="11001375" cy="538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h6dbac00d0b716a76_1_30"/>
          <p:cNvSpPr txBox="1"/>
          <p:nvPr/>
        </p:nvSpPr>
        <p:spPr>
          <a:xfrm>
            <a:off x="875513" y="1507125"/>
            <a:ext cx="9650400" cy="4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proyecto Técnico Ya continuará su desarrollo utilizando la metodología Waterfall (Cascada), permitiendo avanzar de manera ordenada desde el diseño hasta la entrega final.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Roadmap permitirá organizar y controlar semanalmente las actividades de arquitectura 4+1, modelo de datos, casos de uso, desarrollo de la plataforma Web, aplicación móvil, backend y base de datos.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Finalmente, se realizarán las etapas de pruebas, integración, despliegue y documentación, con el objetivo de obtener una solución funcional, integrada y demostrable, cumpliendo con los requerimientos definidos para el proyecto.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