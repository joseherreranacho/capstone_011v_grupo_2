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hAMShmgB0ITTEy1mALeyQyop85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6dbac00d0b716a76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6dbac00d0b716a76_1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h6dbac00d0b716a76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h6dbac00d0b716a76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77240" y="10515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TÉCNICO YA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777240" y="178308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9C3F5"/>
                </a:solidFill>
                <a:latin typeface="Arial"/>
                <a:ea typeface="Arial"/>
                <a:cs typeface="Arial"/>
                <a:sym typeface="Arial"/>
              </a:rPr>
              <a:t>Seguimiento y Roadmap del Proyecto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777240" y="2514600"/>
            <a:ext cx="9875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Plataforma Web + App móvil para gestión de servicios técnicos a domicilio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777240" y="38862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0B1C3"/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777240" y="4224528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Waterfall / Cascada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6446520" y="38862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0B1C3"/>
                </a:solidFill>
                <a:latin typeface="Arial"/>
                <a:ea typeface="Arial"/>
                <a:cs typeface="Arial"/>
                <a:sym typeface="Arial"/>
              </a:rPr>
              <a:t>EQUIPO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6446520" y="4224528"/>
            <a:ext cx="4663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Sebastián Valdés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José Herrera · José Espinoza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5989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4C3D2"/>
                </a:solidFill>
                <a:latin typeface="Arial"/>
                <a:ea typeface="Arial"/>
                <a:cs typeface="Arial"/>
                <a:sym typeface="Arial"/>
              </a:rPr>
              <a:t>Seguimiento · Septiembre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594360" y="25603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236"/>
                </a:solidFill>
                <a:latin typeface="Arial"/>
                <a:ea typeface="Arial"/>
                <a:cs typeface="Arial"/>
                <a:sym typeface="Arial"/>
              </a:rPr>
              <a:t>1. Metodología y estado actual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594360" y="841248"/>
            <a:ext cx="731520" cy="50292"/>
          </a:xfrm>
          <a:prstGeom prst="rect">
            <a:avLst/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594360" y="1417320"/>
            <a:ext cx="1600200" cy="658368"/>
          </a:xfrm>
          <a:prstGeom prst="roundRect">
            <a:avLst>
              <a:gd fmla="val 16667" name="adj"/>
            </a:avLst>
          </a:prstGeom>
          <a:solidFill>
            <a:srgbClr val="34976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40080" y="153619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Requerimientos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2496312" y="1417320"/>
            <a:ext cx="1600200" cy="658368"/>
          </a:xfrm>
          <a:prstGeom prst="roundRect">
            <a:avLst>
              <a:gd fmla="val 16667" name="adj"/>
            </a:avLst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2542032" y="153619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4398264" y="1417320"/>
            <a:ext cx="1600200" cy="658368"/>
          </a:xfrm>
          <a:prstGeom prst="roundRect">
            <a:avLst>
              <a:gd fmla="val 16667" name="adj"/>
            </a:avLst>
          </a:prstGeom>
          <a:solidFill>
            <a:srgbClr val="1F9DB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4443984" y="153619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6300216" y="1417320"/>
            <a:ext cx="1600200" cy="658368"/>
          </a:xfrm>
          <a:prstGeom prst="roundRect">
            <a:avLst>
              <a:gd fmla="val 16667" name="adj"/>
            </a:avLst>
          </a:prstGeom>
          <a:solidFill>
            <a:srgbClr val="E88E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345936" y="153619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202168" y="1417320"/>
            <a:ext cx="1600200" cy="658368"/>
          </a:xfrm>
          <a:prstGeom prst="roundRect">
            <a:avLst>
              <a:gd fmla="val 16667" name="adj"/>
            </a:avLst>
          </a:prstGeom>
          <a:solidFill>
            <a:srgbClr val="C5444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8247888" y="153619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Despliegue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10104120" y="1417320"/>
            <a:ext cx="1600200" cy="658368"/>
          </a:xfrm>
          <a:prstGeom prst="roundRect">
            <a:avLst>
              <a:gd fmla="val 16667" name="adj"/>
            </a:avLst>
          </a:prstGeom>
          <a:solidFill>
            <a:srgbClr val="1422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10149840" y="153619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685800" y="2487168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42236"/>
                </a:solidFill>
                <a:latin typeface="Arial"/>
                <a:ea typeface="Arial"/>
                <a:cs typeface="Arial"/>
                <a:sym typeface="Arial"/>
              </a:rPr>
              <a:t>Estado actual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685800" y="2971800"/>
            <a:ext cx="3429000" cy="205740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850392" y="3081528"/>
            <a:ext cx="309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49765"/>
                </a:solidFill>
                <a:latin typeface="Arial"/>
                <a:ea typeface="Arial"/>
                <a:cs typeface="Arial"/>
                <a:sym typeface="Arial"/>
              </a:rPr>
              <a:t>REALIZADO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850392" y="3474720"/>
            <a:ext cx="30999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• Definición del proyecto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• Objetivos y alcance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• ERS y requerimientos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• Metodología Waterfall</a:t>
            </a:r>
            <a:endParaRPr>
              <a:solidFill>
                <a:srgbClr val="2A323B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A323B"/>
              </a:buClr>
              <a:buSzPts val="1400"/>
              <a:buChar char="●"/>
            </a:pPr>
            <a:r>
              <a:rPr lang="en-US">
                <a:solidFill>
                  <a:srgbClr val="2A323B"/>
                </a:solidFill>
              </a:rPr>
              <a:t>Mockups</a:t>
            </a:r>
            <a:endParaRPr>
              <a:solidFill>
                <a:srgbClr val="2A323B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A323B"/>
              </a:buClr>
              <a:buSzPts val="1400"/>
              <a:buChar char="●"/>
            </a:pPr>
            <a:r>
              <a:rPr lang="en-US">
                <a:solidFill>
                  <a:srgbClr val="2A323B"/>
                </a:solidFill>
              </a:rPr>
              <a:t>4+1</a:t>
            </a:r>
            <a:br>
              <a:rPr lang="en-US">
                <a:solidFill>
                  <a:srgbClr val="2A323B"/>
                </a:solidFill>
              </a:rPr>
            </a:br>
            <a:r>
              <a:rPr lang="en-US">
                <a:solidFill>
                  <a:srgbClr val="2A323B"/>
                </a:solidFill>
              </a:rPr>
              <a:t>Casos de datos</a:t>
            </a:r>
            <a:endParaRPr>
              <a:solidFill>
                <a:srgbClr val="2A323B"/>
              </a:solidFill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4389120" y="2971800"/>
            <a:ext cx="3429000" cy="205740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4553712" y="3081528"/>
            <a:ext cx="309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666BE"/>
                </a:solidFill>
                <a:latin typeface="Arial"/>
                <a:ea typeface="Arial"/>
                <a:cs typeface="Arial"/>
                <a:sym typeface="Arial"/>
              </a:rPr>
              <a:t>EN PROGRESO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4553712" y="3474720"/>
            <a:ext cx="30999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>
                <a:solidFill>
                  <a:srgbClr val="2A323B"/>
                </a:solidFill>
              </a:rPr>
              <a:t>Das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>
                <a:solidFill>
                  <a:srgbClr val="2A323B"/>
                </a:solidFill>
              </a:rPr>
              <a:t>Arquitectura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• Modelo de datos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8092440" y="2971800"/>
            <a:ext cx="3429000" cy="205740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8257031" y="3081528"/>
            <a:ext cx="309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8E35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8257031" y="3474720"/>
            <a:ext cx="3099816" cy="143560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• Base de datos y API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• Web administrativa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• App del técnico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• Integración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731520" y="544068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236"/>
                </a:solidFill>
                <a:latin typeface="Arial"/>
                <a:ea typeface="Arial"/>
                <a:cs typeface="Arial"/>
                <a:sym typeface="Arial"/>
              </a:rPr>
              <a:t>La fase de diseño se cierra antes de avanzar al desarrollo, manteniendo trazabilidad con los requerimientos.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594360" y="6473952"/>
            <a:ext cx="4572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7A"/>
                </a:solidFill>
                <a:latin typeface="Arial"/>
                <a:ea typeface="Arial"/>
                <a:cs typeface="Arial"/>
                <a:sym typeface="Arial"/>
              </a:rPr>
              <a:t>Técnico Ya · CAPSTONE_011V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11201400" y="6455664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7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6dbac00d0b716a76_1_41"/>
          <p:cNvSpPr/>
          <p:nvPr/>
        </p:nvSpPr>
        <p:spPr>
          <a:xfrm>
            <a:off x="0" y="0"/>
            <a:ext cx="12581700" cy="71322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h6dbac00d0b716a76_1_41"/>
          <p:cNvSpPr txBox="1"/>
          <p:nvPr/>
        </p:nvSpPr>
        <p:spPr>
          <a:xfrm>
            <a:off x="594360" y="274320"/>
            <a:ext cx="109728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236"/>
                </a:solidFill>
                <a:latin typeface="Arial"/>
                <a:ea typeface="Arial"/>
                <a:cs typeface="Arial"/>
                <a:sym typeface="Arial"/>
              </a:rPr>
              <a:t>Roadmap general — Septiembre a Noviembre 2026</a:t>
            </a:r>
            <a:endParaRPr/>
          </a:p>
        </p:txBody>
      </p:sp>
      <p:sp>
        <p:nvSpPr>
          <p:cNvPr id="131" name="Google Shape;131;h6dbac00d0b716a76_1_41"/>
          <p:cNvSpPr/>
          <p:nvPr/>
        </p:nvSpPr>
        <p:spPr>
          <a:xfrm>
            <a:off x="594360" y="850392"/>
            <a:ext cx="777300" cy="54900"/>
          </a:xfrm>
          <a:prstGeom prst="rect">
            <a:avLst/>
          </a:prstGeom>
          <a:solidFill>
            <a:srgbClr val="2666BE"/>
          </a:solidFill>
          <a:ln cap="flat" cmpd="sng" w="9525">
            <a:solidFill>
              <a:srgbClr val="266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h6dbac00d0b716a76_1_41"/>
          <p:cNvSpPr/>
          <p:nvPr/>
        </p:nvSpPr>
        <p:spPr>
          <a:xfrm>
            <a:off x="594360" y="1463040"/>
            <a:ext cx="2331600" cy="759000"/>
          </a:xfrm>
          <a:prstGeom prst="rect">
            <a:avLst/>
          </a:prstGeom>
          <a:solidFill>
            <a:srgbClr val="14223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h6dbac00d0b716a76_1_41"/>
          <p:cNvSpPr txBox="1"/>
          <p:nvPr/>
        </p:nvSpPr>
        <p:spPr>
          <a:xfrm>
            <a:off x="640080" y="1536192"/>
            <a:ext cx="22404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</a:t>
            </a:r>
            <a:endParaRPr/>
          </a:p>
        </p:txBody>
      </p:sp>
      <p:sp>
        <p:nvSpPr>
          <p:cNvPr id="134" name="Google Shape;134;h6dbac00d0b716a76_1_41"/>
          <p:cNvSpPr/>
          <p:nvPr/>
        </p:nvSpPr>
        <p:spPr>
          <a:xfrm>
            <a:off x="2926079" y="1463040"/>
            <a:ext cx="951000" cy="759000"/>
          </a:xfrm>
          <a:prstGeom prst="rect">
            <a:avLst/>
          </a:prstGeom>
          <a:solidFill>
            <a:srgbClr val="14223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h6dbac00d0b716a76_1_41"/>
          <p:cNvSpPr txBox="1"/>
          <p:nvPr/>
        </p:nvSpPr>
        <p:spPr>
          <a:xfrm>
            <a:off x="2944368" y="1527048"/>
            <a:ext cx="9144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Sep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S4</a:t>
            </a:r>
            <a:endParaRPr/>
          </a:p>
        </p:txBody>
      </p:sp>
      <p:sp>
        <p:nvSpPr>
          <p:cNvPr id="136" name="Google Shape;136;h6dbac00d0b716a76_1_41"/>
          <p:cNvSpPr/>
          <p:nvPr/>
        </p:nvSpPr>
        <p:spPr>
          <a:xfrm>
            <a:off x="3877056" y="1463040"/>
            <a:ext cx="951000" cy="759000"/>
          </a:xfrm>
          <a:prstGeom prst="rect">
            <a:avLst/>
          </a:prstGeom>
          <a:solidFill>
            <a:srgbClr val="14223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h6dbac00d0b716a76_1_41"/>
          <p:cNvSpPr txBox="1"/>
          <p:nvPr/>
        </p:nvSpPr>
        <p:spPr>
          <a:xfrm>
            <a:off x="3895344" y="1527048"/>
            <a:ext cx="9144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/>
          </a:p>
        </p:txBody>
      </p:sp>
      <p:sp>
        <p:nvSpPr>
          <p:cNvPr id="138" name="Google Shape;138;h6dbac00d0b716a76_1_41"/>
          <p:cNvSpPr/>
          <p:nvPr/>
        </p:nvSpPr>
        <p:spPr>
          <a:xfrm>
            <a:off x="4828031" y="1463040"/>
            <a:ext cx="951000" cy="759000"/>
          </a:xfrm>
          <a:prstGeom prst="rect">
            <a:avLst/>
          </a:prstGeom>
          <a:solidFill>
            <a:srgbClr val="14223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h6dbac00d0b716a76_1_41"/>
          <p:cNvSpPr txBox="1"/>
          <p:nvPr/>
        </p:nvSpPr>
        <p:spPr>
          <a:xfrm>
            <a:off x="4846319" y="1527048"/>
            <a:ext cx="9144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endParaRPr/>
          </a:p>
        </p:txBody>
      </p:sp>
      <p:sp>
        <p:nvSpPr>
          <p:cNvPr id="140" name="Google Shape;140;h6dbac00d0b716a76_1_41"/>
          <p:cNvSpPr/>
          <p:nvPr/>
        </p:nvSpPr>
        <p:spPr>
          <a:xfrm>
            <a:off x="5779008" y="1463040"/>
            <a:ext cx="951000" cy="759000"/>
          </a:xfrm>
          <a:prstGeom prst="rect">
            <a:avLst/>
          </a:prstGeom>
          <a:solidFill>
            <a:srgbClr val="14223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h6dbac00d0b716a76_1_41"/>
          <p:cNvSpPr txBox="1"/>
          <p:nvPr/>
        </p:nvSpPr>
        <p:spPr>
          <a:xfrm>
            <a:off x="5797296" y="1527048"/>
            <a:ext cx="9144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/>
          </a:p>
        </p:txBody>
      </p:sp>
      <p:sp>
        <p:nvSpPr>
          <p:cNvPr id="142" name="Google Shape;142;h6dbac00d0b716a76_1_41"/>
          <p:cNvSpPr/>
          <p:nvPr/>
        </p:nvSpPr>
        <p:spPr>
          <a:xfrm>
            <a:off x="6729983" y="1463040"/>
            <a:ext cx="951000" cy="759000"/>
          </a:xfrm>
          <a:prstGeom prst="rect">
            <a:avLst/>
          </a:prstGeom>
          <a:solidFill>
            <a:srgbClr val="14223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h6dbac00d0b716a76_1_41"/>
          <p:cNvSpPr txBox="1"/>
          <p:nvPr/>
        </p:nvSpPr>
        <p:spPr>
          <a:xfrm>
            <a:off x="6748271" y="1527048"/>
            <a:ext cx="9144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S4</a:t>
            </a:r>
            <a:endParaRPr/>
          </a:p>
        </p:txBody>
      </p:sp>
      <p:sp>
        <p:nvSpPr>
          <p:cNvPr id="144" name="Google Shape;144;h6dbac00d0b716a76_1_41"/>
          <p:cNvSpPr/>
          <p:nvPr/>
        </p:nvSpPr>
        <p:spPr>
          <a:xfrm>
            <a:off x="7680960" y="1463040"/>
            <a:ext cx="951000" cy="759000"/>
          </a:xfrm>
          <a:prstGeom prst="rect">
            <a:avLst/>
          </a:prstGeom>
          <a:solidFill>
            <a:srgbClr val="14223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h6dbac00d0b716a76_1_41"/>
          <p:cNvSpPr txBox="1"/>
          <p:nvPr/>
        </p:nvSpPr>
        <p:spPr>
          <a:xfrm>
            <a:off x="7699248" y="1527048"/>
            <a:ext cx="9144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/>
          </a:p>
        </p:txBody>
      </p:sp>
      <p:sp>
        <p:nvSpPr>
          <p:cNvPr id="146" name="Google Shape;146;h6dbac00d0b716a76_1_41"/>
          <p:cNvSpPr/>
          <p:nvPr/>
        </p:nvSpPr>
        <p:spPr>
          <a:xfrm>
            <a:off x="8631936" y="1463040"/>
            <a:ext cx="951000" cy="759000"/>
          </a:xfrm>
          <a:prstGeom prst="rect">
            <a:avLst/>
          </a:prstGeom>
          <a:solidFill>
            <a:srgbClr val="14223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h6dbac00d0b716a76_1_41"/>
          <p:cNvSpPr txBox="1"/>
          <p:nvPr/>
        </p:nvSpPr>
        <p:spPr>
          <a:xfrm>
            <a:off x="8650224" y="1527048"/>
            <a:ext cx="9144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endParaRPr/>
          </a:p>
        </p:txBody>
      </p:sp>
      <p:sp>
        <p:nvSpPr>
          <p:cNvPr id="148" name="Google Shape;148;h6dbac00d0b716a76_1_41"/>
          <p:cNvSpPr/>
          <p:nvPr/>
        </p:nvSpPr>
        <p:spPr>
          <a:xfrm>
            <a:off x="9582912" y="1463040"/>
            <a:ext cx="951000" cy="759000"/>
          </a:xfrm>
          <a:prstGeom prst="rect">
            <a:avLst/>
          </a:prstGeom>
          <a:solidFill>
            <a:srgbClr val="14223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h6dbac00d0b716a76_1_41"/>
          <p:cNvSpPr txBox="1"/>
          <p:nvPr/>
        </p:nvSpPr>
        <p:spPr>
          <a:xfrm>
            <a:off x="9601200" y="1527048"/>
            <a:ext cx="9144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/>
          </a:p>
        </p:txBody>
      </p:sp>
      <p:sp>
        <p:nvSpPr>
          <p:cNvPr id="150" name="Google Shape;150;h6dbac00d0b716a76_1_41"/>
          <p:cNvSpPr/>
          <p:nvPr/>
        </p:nvSpPr>
        <p:spPr>
          <a:xfrm>
            <a:off x="10533888" y="1463040"/>
            <a:ext cx="951000" cy="759000"/>
          </a:xfrm>
          <a:prstGeom prst="rect">
            <a:avLst/>
          </a:prstGeom>
          <a:solidFill>
            <a:srgbClr val="14223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h6dbac00d0b716a76_1_41"/>
          <p:cNvSpPr txBox="1"/>
          <p:nvPr/>
        </p:nvSpPr>
        <p:spPr>
          <a:xfrm>
            <a:off x="10552176" y="1527048"/>
            <a:ext cx="9144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S4</a:t>
            </a:r>
            <a:endParaRPr/>
          </a:p>
        </p:txBody>
      </p:sp>
      <p:sp>
        <p:nvSpPr>
          <p:cNvPr id="152" name="Google Shape;152;h6dbac00d0b716a76_1_41"/>
          <p:cNvSpPr/>
          <p:nvPr/>
        </p:nvSpPr>
        <p:spPr>
          <a:xfrm>
            <a:off x="594360" y="2221992"/>
            <a:ext cx="2331600" cy="75900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h6dbac00d0b716a76_1_41"/>
          <p:cNvSpPr txBox="1"/>
          <p:nvPr/>
        </p:nvSpPr>
        <p:spPr>
          <a:xfrm>
            <a:off x="667512" y="2295144"/>
            <a:ext cx="21855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endParaRPr/>
          </a:p>
        </p:txBody>
      </p:sp>
      <p:sp>
        <p:nvSpPr>
          <p:cNvPr id="154" name="Google Shape;154;h6dbac00d0b716a76_1_41"/>
          <p:cNvSpPr/>
          <p:nvPr/>
        </p:nvSpPr>
        <p:spPr>
          <a:xfrm>
            <a:off x="2926079" y="2221992"/>
            <a:ext cx="951000" cy="759000"/>
          </a:xfrm>
          <a:prstGeom prst="rect">
            <a:avLst/>
          </a:prstGeom>
          <a:solidFill>
            <a:srgbClr val="2666B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h6dbac00d0b716a76_1_41"/>
          <p:cNvSpPr txBox="1"/>
          <p:nvPr/>
        </p:nvSpPr>
        <p:spPr>
          <a:xfrm>
            <a:off x="2944368" y="2295144"/>
            <a:ext cx="914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56" name="Google Shape;156;h6dbac00d0b716a76_1_41"/>
          <p:cNvSpPr/>
          <p:nvPr/>
        </p:nvSpPr>
        <p:spPr>
          <a:xfrm>
            <a:off x="3877056" y="2221992"/>
            <a:ext cx="951000" cy="759000"/>
          </a:xfrm>
          <a:prstGeom prst="rect">
            <a:avLst/>
          </a:prstGeom>
          <a:solidFill>
            <a:srgbClr val="2666B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h6dbac00d0b716a76_1_41"/>
          <p:cNvSpPr txBox="1"/>
          <p:nvPr/>
        </p:nvSpPr>
        <p:spPr>
          <a:xfrm>
            <a:off x="3895344" y="2295144"/>
            <a:ext cx="914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58" name="Google Shape;158;h6dbac00d0b716a76_1_41"/>
          <p:cNvSpPr/>
          <p:nvPr/>
        </p:nvSpPr>
        <p:spPr>
          <a:xfrm>
            <a:off x="4828031" y="2221992"/>
            <a:ext cx="951000" cy="759000"/>
          </a:xfrm>
          <a:prstGeom prst="rect">
            <a:avLst/>
          </a:prstGeom>
          <a:solidFill>
            <a:srgbClr val="2666B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h6dbac00d0b716a76_1_41"/>
          <p:cNvSpPr txBox="1"/>
          <p:nvPr/>
        </p:nvSpPr>
        <p:spPr>
          <a:xfrm>
            <a:off x="4846319" y="2295144"/>
            <a:ext cx="914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60" name="Google Shape;160;h6dbac00d0b716a76_1_41"/>
          <p:cNvSpPr/>
          <p:nvPr/>
        </p:nvSpPr>
        <p:spPr>
          <a:xfrm>
            <a:off x="5779008" y="2221992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h6dbac00d0b716a76_1_41"/>
          <p:cNvSpPr/>
          <p:nvPr/>
        </p:nvSpPr>
        <p:spPr>
          <a:xfrm>
            <a:off x="6729983" y="2221992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h6dbac00d0b716a76_1_41"/>
          <p:cNvSpPr/>
          <p:nvPr/>
        </p:nvSpPr>
        <p:spPr>
          <a:xfrm>
            <a:off x="7680960" y="2221992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h6dbac00d0b716a76_1_41"/>
          <p:cNvSpPr/>
          <p:nvPr/>
        </p:nvSpPr>
        <p:spPr>
          <a:xfrm>
            <a:off x="8631936" y="2221992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h6dbac00d0b716a76_1_41"/>
          <p:cNvSpPr/>
          <p:nvPr/>
        </p:nvSpPr>
        <p:spPr>
          <a:xfrm>
            <a:off x="9582912" y="2221992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h6dbac00d0b716a76_1_41"/>
          <p:cNvSpPr/>
          <p:nvPr/>
        </p:nvSpPr>
        <p:spPr>
          <a:xfrm>
            <a:off x="10533888" y="2221992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h6dbac00d0b716a76_1_41"/>
          <p:cNvSpPr/>
          <p:nvPr/>
        </p:nvSpPr>
        <p:spPr>
          <a:xfrm>
            <a:off x="594360" y="2980944"/>
            <a:ext cx="2331600" cy="75900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h6dbac00d0b716a76_1_41"/>
          <p:cNvSpPr txBox="1"/>
          <p:nvPr/>
        </p:nvSpPr>
        <p:spPr>
          <a:xfrm>
            <a:off x="667512" y="3054096"/>
            <a:ext cx="21855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A323B"/>
                </a:solidFill>
              </a:rPr>
              <a:t>Arquitectura</a:t>
            </a:r>
            <a:endParaRPr/>
          </a:p>
        </p:txBody>
      </p:sp>
      <p:sp>
        <p:nvSpPr>
          <p:cNvPr id="168" name="Google Shape;168;h6dbac00d0b716a76_1_41"/>
          <p:cNvSpPr/>
          <p:nvPr/>
        </p:nvSpPr>
        <p:spPr>
          <a:xfrm>
            <a:off x="2926079" y="2980944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h6dbac00d0b716a76_1_41"/>
          <p:cNvSpPr/>
          <p:nvPr/>
        </p:nvSpPr>
        <p:spPr>
          <a:xfrm>
            <a:off x="3877056" y="2980944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h6dbac00d0b716a76_1_41"/>
          <p:cNvSpPr/>
          <p:nvPr/>
        </p:nvSpPr>
        <p:spPr>
          <a:xfrm>
            <a:off x="4828031" y="2980944"/>
            <a:ext cx="951000" cy="759000"/>
          </a:xfrm>
          <a:prstGeom prst="rect">
            <a:avLst/>
          </a:prstGeom>
          <a:solidFill>
            <a:srgbClr val="E88E3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h6dbac00d0b716a76_1_41"/>
          <p:cNvSpPr txBox="1"/>
          <p:nvPr/>
        </p:nvSpPr>
        <p:spPr>
          <a:xfrm>
            <a:off x="4846319" y="3054096"/>
            <a:ext cx="914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72" name="Google Shape;172;h6dbac00d0b716a76_1_41"/>
          <p:cNvSpPr/>
          <p:nvPr/>
        </p:nvSpPr>
        <p:spPr>
          <a:xfrm>
            <a:off x="5779008" y="2980944"/>
            <a:ext cx="951000" cy="759000"/>
          </a:xfrm>
          <a:prstGeom prst="rect">
            <a:avLst/>
          </a:prstGeom>
          <a:solidFill>
            <a:srgbClr val="E88E3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h6dbac00d0b716a76_1_41"/>
          <p:cNvSpPr txBox="1"/>
          <p:nvPr/>
        </p:nvSpPr>
        <p:spPr>
          <a:xfrm>
            <a:off x="5797296" y="3054096"/>
            <a:ext cx="914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74" name="Google Shape;174;h6dbac00d0b716a76_1_41"/>
          <p:cNvSpPr/>
          <p:nvPr/>
        </p:nvSpPr>
        <p:spPr>
          <a:xfrm>
            <a:off x="6729983" y="2980944"/>
            <a:ext cx="951000" cy="759000"/>
          </a:xfrm>
          <a:prstGeom prst="rect">
            <a:avLst/>
          </a:prstGeom>
          <a:solidFill>
            <a:srgbClr val="DCE3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h6dbac00d0b716a76_1_41"/>
          <p:cNvSpPr txBox="1"/>
          <p:nvPr/>
        </p:nvSpPr>
        <p:spPr>
          <a:xfrm>
            <a:off x="6748271" y="3054096"/>
            <a:ext cx="914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76" name="Google Shape;176;h6dbac00d0b716a76_1_41"/>
          <p:cNvSpPr/>
          <p:nvPr/>
        </p:nvSpPr>
        <p:spPr>
          <a:xfrm>
            <a:off x="7680960" y="2980944"/>
            <a:ext cx="951000" cy="759000"/>
          </a:xfrm>
          <a:prstGeom prst="rect">
            <a:avLst/>
          </a:prstGeom>
          <a:solidFill>
            <a:srgbClr val="DCE3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h6dbac00d0b716a76_1_41"/>
          <p:cNvSpPr txBox="1"/>
          <p:nvPr/>
        </p:nvSpPr>
        <p:spPr>
          <a:xfrm>
            <a:off x="7699248" y="3054096"/>
            <a:ext cx="914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78" name="Google Shape;178;h6dbac00d0b716a76_1_41"/>
          <p:cNvSpPr/>
          <p:nvPr/>
        </p:nvSpPr>
        <p:spPr>
          <a:xfrm>
            <a:off x="8631936" y="2980944"/>
            <a:ext cx="951000" cy="759000"/>
          </a:xfrm>
          <a:prstGeom prst="rect">
            <a:avLst/>
          </a:prstGeom>
          <a:solidFill>
            <a:srgbClr val="DCE3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h6dbac00d0b716a76_1_41"/>
          <p:cNvSpPr txBox="1"/>
          <p:nvPr/>
        </p:nvSpPr>
        <p:spPr>
          <a:xfrm>
            <a:off x="8650224" y="3054096"/>
            <a:ext cx="914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80" name="Google Shape;180;h6dbac00d0b716a76_1_41"/>
          <p:cNvSpPr/>
          <p:nvPr/>
        </p:nvSpPr>
        <p:spPr>
          <a:xfrm>
            <a:off x="9582912" y="2980944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h6dbac00d0b716a76_1_41"/>
          <p:cNvSpPr/>
          <p:nvPr/>
        </p:nvSpPr>
        <p:spPr>
          <a:xfrm>
            <a:off x="10533888" y="2980944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h6dbac00d0b716a76_1_41"/>
          <p:cNvSpPr/>
          <p:nvPr/>
        </p:nvSpPr>
        <p:spPr>
          <a:xfrm>
            <a:off x="594360" y="3739896"/>
            <a:ext cx="2331600" cy="75900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h6dbac00d0b716a76_1_41"/>
          <p:cNvSpPr txBox="1"/>
          <p:nvPr/>
        </p:nvSpPr>
        <p:spPr>
          <a:xfrm>
            <a:off x="667512" y="3813048"/>
            <a:ext cx="21855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A323B"/>
                </a:solidFill>
              </a:rPr>
              <a:t>Desarrollo</a:t>
            </a:r>
            <a:endParaRPr/>
          </a:p>
        </p:txBody>
      </p:sp>
      <p:sp>
        <p:nvSpPr>
          <p:cNvPr id="184" name="Google Shape;184;h6dbac00d0b716a76_1_41"/>
          <p:cNvSpPr/>
          <p:nvPr/>
        </p:nvSpPr>
        <p:spPr>
          <a:xfrm>
            <a:off x="2926079" y="3739896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h6dbac00d0b716a76_1_41"/>
          <p:cNvSpPr/>
          <p:nvPr/>
        </p:nvSpPr>
        <p:spPr>
          <a:xfrm>
            <a:off x="3877056" y="3739896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h6dbac00d0b716a76_1_41"/>
          <p:cNvSpPr/>
          <p:nvPr/>
        </p:nvSpPr>
        <p:spPr>
          <a:xfrm>
            <a:off x="4828031" y="3739896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h6dbac00d0b716a76_1_41"/>
          <p:cNvSpPr/>
          <p:nvPr/>
        </p:nvSpPr>
        <p:spPr>
          <a:xfrm>
            <a:off x="5779008" y="3739896"/>
            <a:ext cx="951000" cy="759000"/>
          </a:xfrm>
          <a:prstGeom prst="rect">
            <a:avLst/>
          </a:prstGeom>
          <a:solidFill>
            <a:srgbClr val="1F9DB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h6dbac00d0b716a76_1_41"/>
          <p:cNvSpPr/>
          <p:nvPr/>
        </p:nvSpPr>
        <p:spPr>
          <a:xfrm>
            <a:off x="6729983" y="3739896"/>
            <a:ext cx="951000" cy="759000"/>
          </a:xfrm>
          <a:prstGeom prst="rect">
            <a:avLst/>
          </a:prstGeom>
          <a:solidFill>
            <a:srgbClr val="1F9DB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h6dbac00d0b716a76_1_41"/>
          <p:cNvSpPr/>
          <p:nvPr/>
        </p:nvSpPr>
        <p:spPr>
          <a:xfrm>
            <a:off x="7680960" y="3739896"/>
            <a:ext cx="951000" cy="759000"/>
          </a:xfrm>
          <a:prstGeom prst="rect">
            <a:avLst/>
          </a:prstGeom>
          <a:solidFill>
            <a:srgbClr val="1F9DB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h6dbac00d0b716a76_1_41"/>
          <p:cNvSpPr/>
          <p:nvPr/>
        </p:nvSpPr>
        <p:spPr>
          <a:xfrm>
            <a:off x="8631936" y="3739896"/>
            <a:ext cx="951000" cy="759000"/>
          </a:xfrm>
          <a:prstGeom prst="rect">
            <a:avLst/>
          </a:prstGeom>
          <a:solidFill>
            <a:srgbClr val="1F9DB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h6dbac00d0b716a76_1_41"/>
          <p:cNvSpPr txBox="1"/>
          <p:nvPr/>
        </p:nvSpPr>
        <p:spPr>
          <a:xfrm>
            <a:off x="8650224" y="3813048"/>
            <a:ext cx="914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92" name="Google Shape;192;h6dbac00d0b716a76_1_41"/>
          <p:cNvSpPr/>
          <p:nvPr/>
        </p:nvSpPr>
        <p:spPr>
          <a:xfrm>
            <a:off x="9582912" y="3739896"/>
            <a:ext cx="951000" cy="759000"/>
          </a:xfrm>
          <a:prstGeom prst="rect">
            <a:avLst/>
          </a:prstGeom>
          <a:solidFill>
            <a:srgbClr val="1F9DB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h6dbac00d0b716a76_1_41"/>
          <p:cNvSpPr txBox="1"/>
          <p:nvPr/>
        </p:nvSpPr>
        <p:spPr>
          <a:xfrm>
            <a:off x="9601200" y="3813048"/>
            <a:ext cx="914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94" name="Google Shape;194;h6dbac00d0b716a76_1_41"/>
          <p:cNvSpPr/>
          <p:nvPr/>
        </p:nvSpPr>
        <p:spPr>
          <a:xfrm>
            <a:off x="10533888" y="3739896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h6dbac00d0b716a76_1_41"/>
          <p:cNvSpPr/>
          <p:nvPr/>
        </p:nvSpPr>
        <p:spPr>
          <a:xfrm>
            <a:off x="594360" y="4498848"/>
            <a:ext cx="2331600" cy="75900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h6dbac00d0b716a76_1_41"/>
          <p:cNvSpPr txBox="1"/>
          <p:nvPr/>
        </p:nvSpPr>
        <p:spPr>
          <a:xfrm>
            <a:off x="667512" y="4572000"/>
            <a:ext cx="21855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A323B"/>
                </a:solidFill>
              </a:rPr>
              <a:t>Pruebas / QA</a:t>
            </a:r>
            <a:endParaRPr/>
          </a:p>
        </p:txBody>
      </p:sp>
      <p:sp>
        <p:nvSpPr>
          <p:cNvPr id="197" name="Google Shape;197;h6dbac00d0b716a76_1_41"/>
          <p:cNvSpPr/>
          <p:nvPr/>
        </p:nvSpPr>
        <p:spPr>
          <a:xfrm>
            <a:off x="2926079" y="4498848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h6dbac00d0b716a76_1_41"/>
          <p:cNvSpPr/>
          <p:nvPr/>
        </p:nvSpPr>
        <p:spPr>
          <a:xfrm>
            <a:off x="3877056" y="4498848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h6dbac00d0b716a76_1_41"/>
          <p:cNvSpPr/>
          <p:nvPr/>
        </p:nvSpPr>
        <p:spPr>
          <a:xfrm>
            <a:off x="4828031" y="4498848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h6dbac00d0b716a76_1_41"/>
          <p:cNvSpPr/>
          <p:nvPr/>
        </p:nvSpPr>
        <p:spPr>
          <a:xfrm>
            <a:off x="5779008" y="4498848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h6dbac00d0b716a76_1_41"/>
          <p:cNvSpPr/>
          <p:nvPr/>
        </p:nvSpPr>
        <p:spPr>
          <a:xfrm>
            <a:off x="6729983" y="4498848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h6dbac00d0b716a76_1_41"/>
          <p:cNvSpPr/>
          <p:nvPr/>
        </p:nvSpPr>
        <p:spPr>
          <a:xfrm>
            <a:off x="7680960" y="4498848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h6dbac00d0b716a76_1_41"/>
          <p:cNvSpPr/>
          <p:nvPr/>
        </p:nvSpPr>
        <p:spPr>
          <a:xfrm>
            <a:off x="8631936" y="4498848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h6dbac00d0b716a76_1_41"/>
          <p:cNvSpPr/>
          <p:nvPr/>
        </p:nvSpPr>
        <p:spPr>
          <a:xfrm>
            <a:off x="9582912" y="4498848"/>
            <a:ext cx="951000" cy="759000"/>
          </a:xfrm>
          <a:prstGeom prst="rect">
            <a:avLst/>
          </a:prstGeom>
          <a:solidFill>
            <a:srgbClr val="C5444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h6dbac00d0b716a76_1_41"/>
          <p:cNvSpPr txBox="1"/>
          <p:nvPr/>
        </p:nvSpPr>
        <p:spPr>
          <a:xfrm>
            <a:off x="9601200" y="4572000"/>
            <a:ext cx="914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206" name="Google Shape;206;h6dbac00d0b716a76_1_41"/>
          <p:cNvSpPr/>
          <p:nvPr/>
        </p:nvSpPr>
        <p:spPr>
          <a:xfrm>
            <a:off x="10533888" y="4498848"/>
            <a:ext cx="951000" cy="759000"/>
          </a:xfrm>
          <a:prstGeom prst="rect">
            <a:avLst/>
          </a:prstGeom>
          <a:solidFill>
            <a:srgbClr val="C5444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h6dbac00d0b716a76_1_41"/>
          <p:cNvSpPr txBox="1"/>
          <p:nvPr/>
        </p:nvSpPr>
        <p:spPr>
          <a:xfrm>
            <a:off x="10552176" y="4572000"/>
            <a:ext cx="914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208" name="Google Shape;208;h6dbac00d0b716a76_1_41"/>
          <p:cNvSpPr/>
          <p:nvPr/>
        </p:nvSpPr>
        <p:spPr>
          <a:xfrm>
            <a:off x="594360" y="5257800"/>
            <a:ext cx="2331600" cy="75900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h6dbac00d0b716a76_1_41"/>
          <p:cNvSpPr txBox="1"/>
          <p:nvPr/>
        </p:nvSpPr>
        <p:spPr>
          <a:xfrm>
            <a:off x="667512" y="5330952"/>
            <a:ext cx="21855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Presentación final / Cierre</a:t>
            </a:r>
            <a:endParaRPr/>
          </a:p>
        </p:txBody>
      </p:sp>
      <p:sp>
        <p:nvSpPr>
          <p:cNvPr id="210" name="Google Shape;210;h6dbac00d0b716a76_1_41"/>
          <p:cNvSpPr/>
          <p:nvPr/>
        </p:nvSpPr>
        <p:spPr>
          <a:xfrm>
            <a:off x="2926079" y="5257800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h6dbac00d0b716a76_1_41"/>
          <p:cNvSpPr/>
          <p:nvPr/>
        </p:nvSpPr>
        <p:spPr>
          <a:xfrm>
            <a:off x="3877056" y="5257800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h6dbac00d0b716a76_1_41"/>
          <p:cNvSpPr/>
          <p:nvPr/>
        </p:nvSpPr>
        <p:spPr>
          <a:xfrm>
            <a:off x="4828031" y="5257800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h6dbac00d0b716a76_1_41"/>
          <p:cNvSpPr/>
          <p:nvPr/>
        </p:nvSpPr>
        <p:spPr>
          <a:xfrm>
            <a:off x="5779008" y="5257800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h6dbac00d0b716a76_1_41"/>
          <p:cNvSpPr/>
          <p:nvPr/>
        </p:nvSpPr>
        <p:spPr>
          <a:xfrm>
            <a:off x="6729983" y="5257800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h6dbac00d0b716a76_1_41"/>
          <p:cNvSpPr/>
          <p:nvPr/>
        </p:nvSpPr>
        <p:spPr>
          <a:xfrm>
            <a:off x="7680960" y="5257800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h6dbac00d0b716a76_1_41"/>
          <p:cNvSpPr/>
          <p:nvPr/>
        </p:nvSpPr>
        <p:spPr>
          <a:xfrm>
            <a:off x="8631936" y="5257800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h6dbac00d0b716a76_1_41"/>
          <p:cNvSpPr/>
          <p:nvPr/>
        </p:nvSpPr>
        <p:spPr>
          <a:xfrm>
            <a:off x="9582912" y="5257800"/>
            <a:ext cx="951000" cy="759000"/>
          </a:xfrm>
          <a:prstGeom prst="rect">
            <a:avLst/>
          </a:prstGeom>
          <a:solidFill>
            <a:srgbClr val="E8EEF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h6dbac00d0b716a76_1_41"/>
          <p:cNvSpPr/>
          <p:nvPr/>
        </p:nvSpPr>
        <p:spPr>
          <a:xfrm>
            <a:off x="10533888" y="5257800"/>
            <a:ext cx="951000" cy="759000"/>
          </a:xfrm>
          <a:prstGeom prst="rect">
            <a:avLst/>
          </a:prstGeom>
          <a:solidFill>
            <a:srgbClr val="14223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h6dbac00d0b716a76_1_41"/>
          <p:cNvSpPr txBox="1"/>
          <p:nvPr/>
        </p:nvSpPr>
        <p:spPr>
          <a:xfrm>
            <a:off x="10552176" y="5330952"/>
            <a:ext cx="914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"/>
          <p:cNvSpPr txBox="1"/>
          <p:nvPr/>
        </p:nvSpPr>
        <p:spPr>
          <a:xfrm>
            <a:off x="594360" y="25603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236"/>
                </a:solidFill>
                <a:latin typeface="Arial"/>
                <a:ea typeface="Arial"/>
                <a:cs typeface="Arial"/>
                <a:sym typeface="Arial"/>
              </a:rPr>
              <a:t>2. Alcance de Técnico Ya</a:t>
            </a:r>
            <a:endParaRPr/>
          </a:p>
        </p:txBody>
      </p:sp>
      <p:sp>
        <p:nvSpPr>
          <p:cNvPr id="226" name="Google Shape;226;p3"/>
          <p:cNvSpPr/>
          <p:nvPr/>
        </p:nvSpPr>
        <p:spPr>
          <a:xfrm>
            <a:off x="594360" y="841248"/>
            <a:ext cx="731400" cy="50400"/>
          </a:xfrm>
          <a:prstGeom prst="rect">
            <a:avLst/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"/>
          <p:cNvSpPr/>
          <p:nvPr/>
        </p:nvSpPr>
        <p:spPr>
          <a:xfrm>
            <a:off x="685800" y="1417320"/>
            <a:ext cx="3429000" cy="192030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"/>
          <p:cNvSpPr txBox="1"/>
          <p:nvPr/>
        </p:nvSpPr>
        <p:spPr>
          <a:xfrm>
            <a:off x="850392" y="1527048"/>
            <a:ext cx="309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666BE"/>
                </a:solidFill>
                <a:latin typeface="Arial"/>
                <a:ea typeface="Arial"/>
                <a:cs typeface="Arial"/>
                <a:sym typeface="Arial"/>
              </a:rPr>
              <a:t>PLATAFORMA WEB</a:t>
            </a:r>
            <a:endParaRPr/>
          </a:p>
        </p:txBody>
      </p:sp>
      <p:sp>
        <p:nvSpPr>
          <p:cNvPr id="229" name="Google Shape;229;p3"/>
          <p:cNvSpPr txBox="1"/>
          <p:nvPr/>
        </p:nvSpPr>
        <p:spPr>
          <a:xfrm>
            <a:off x="850392" y="1920240"/>
            <a:ext cx="30999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Gestión de clientes, técnicos, servicios, solicitudes, asignaciones y seguimiento administrativo.</a:t>
            </a:r>
            <a:endParaRPr/>
          </a:p>
        </p:txBody>
      </p:sp>
      <p:sp>
        <p:nvSpPr>
          <p:cNvPr id="230" name="Google Shape;230;p3"/>
          <p:cNvSpPr/>
          <p:nvPr/>
        </p:nvSpPr>
        <p:spPr>
          <a:xfrm>
            <a:off x="4389120" y="1417320"/>
            <a:ext cx="3429000" cy="192030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"/>
          <p:cNvSpPr txBox="1"/>
          <p:nvPr/>
        </p:nvSpPr>
        <p:spPr>
          <a:xfrm>
            <a:off x="4553712" y="1527048"/>
            <a:ext cx="309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9DB9"/>
                </a:solidFill>
                <a:latin typeface="Arial"/>
                <a:ea typeface="Arial"/>
                <a:cs typeface="Arial"/>
                <a:sym typeface="Arial"/>
              </a:rPr>
              <a:t>APP DEL TÉCNICO</a:t>
            </a:r>
            <a:endParaRPr/>
          </a:p>
        </p:txBody>
      </p:sp>
      <p:sp>
        <p:nvSpPr>
          <p:cNvPr id="232" name="Google Shape;232;p3"/>
          <p:cNvSpPr txBox="1"/>
          <p:nvPr/>
        </p:nvSpPr>
        <p:spPr>
          <a:xfrm>
            <a:off x="4553712" y="1920240"/>
            <a:ext cx="30999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Trabajos asignados, mapa, código de llegada, estados, observaciones y fotografías.</a:t>
            </a:r>
            <a:endParaRPr/>
          </a:p>
        </p:txBody>
      </p:sp>
      <p:sp>
        <p:nvSpPr>
          <p:cNvPr id="233" name="Google Shape;233;p3"/>
          <p:cNvSpPr/>
          <p:nvPr/>
        </p:nvSpPr>
        <p:spPr>
          <a:xfrm>
            <a:off x="8092440" y="1417320"/>
            <a:ext cx="3429000" cy="192030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"/>
          <p:cNvSpPr txBox="1"/>
          <p:nvPr/>
        </p:nvSpPr>
        <p:spPr>
          <a:xfrm>
            <a:off x="8257031" y="1527048"/>
            <a:ext cx="309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49765"/>
                </a:solidFill>
                <a:latin typeface="Arial"/>
                <a:ea typeface="Arial"/>
                <a:cs typeface="Arial"/>
                <a:sym typeface="Arial"/>
              </a:rPr>
              <a:t>BACKEND + BD</a:t>
            </a:r>
            <a:endParaRPr/>
          </a:p>
        </p:txBody>
      </p:sp>
      <p:sp>
        <p:nvSpPr>
          <p:cNvPr id="235" name="Google Shape;235;p3"/>
          <p:cNvSpPr txBox="1"/>
          <p:nvPr/>
        </p:nvSpPr>
        <p:spPr>
          <a:xfrm>
            <a:off x="8257031" y="1920240"/>
            <a:ext cx="30999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API, autenticación, lógica de negocio y base de datos SQL centralizada.</a:t>
            </a:r>
            <a:endParaRPr/>
          </a:p>
        </p:txBody>
      </p:sp>
      <p:sp>
        <p:nvSpPr>
          <p:cNvPr id="236" name="Google Shape;236;p3"/>
          <p:cNvSpPr/>
          <p:nvPr/>
        </p:nvSpPr>
        <p:spPr>
          <a:xfrm>
            <a:off x="1417320" y="3886200"/>
            <a:ext cx="4480500" cy="141720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"/>
          <p:cNvSpPr txBox="1"/>
          <p:nvPr/>
        </p:nvSpPr>
        <p:spPr>
          <a:xfrm>
            <a:off x="1581912" y="3995928"/>
            <a:ext cx="4151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8E35"/>
                </a:solidFill>
                <a:latin typeface="Arial"/>
                <a:ea typeface="Arial"/>
                <a:cs typeface="Arial"/>
                <a:sym typeface="Arial"/>
              </a:rPr>
              <a:t>PROCESO PRINCIPAL</a:t>
            </a:r>
            <a:endParaRPr/>
          </a:p>
        </p:txBody>
      </p:sp>
      <p:sp>
        <p:nvSpPr>
          <p:cNvPr id="238" name="Google Shape;238;p3"/>
          <p:cNvSpPr txBox="1"/>
          <p:nvPr/>
        </p:nvSpPr>
        <p:spPr>
          <a:xfrm>
            <a:off x="1581912" y="4389120"/>
            <a:ext cx="41514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Solicitud → revisión → asignación → ejecución → cierre.</a:t>
            </a:r>
            <a:endParaRPr/>
          </a:p>
        </p:txBody>
      </p:sp>
      <p:sp>
        <p:nvSpPr>
          <p:cNvPr id="239" name="Google Shape;239;p3"/>
          <p:cNvSpPr/>
          <p:nvPr/>
        </p:nvSpPr>
        <p:spPr>
          <a:xfrm>
            <a:off x="6309360" y="3886200"/>
            <a:ext cx="4480500" cy="141720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"/>
          <p:cNvSpPr txBox="1"/>
          <p:nvPr/>
        </p:nvSpPr>
        <p:spPr>
          <a:xfrm>
            <a:off x="6473952" y="3995928"/>
            <a:ext cx="4151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54444"/>
                </a:solidFill>
                <a:latin typeface="Arial"/>
                <a:ea typeface="Arial"/>
                <a:cs typeface="Arial"/>
                <a:sym typeface="Arial"/>
              </a:rPr>
              <a:t>APOYO</a:t>
            </a:r>
            <a:endParaRPr/>
          </a:p>
        </p:txBody>
      </p:sp>
      <p:sp>
        <p:nvSpPr>
          <p:cNvPr id="241" name="Google Shape;241;p3"/>
          <p:cNvSpPr txBox="1"/>
          <p:nvPr/>
        </p:nvSpPr>
        <p:spPr>
          <a:xfrm>
            <a:off x="6473952" y="4389120"/>
            <a:ext cx="41514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Dashboard, mapas/geolocalización y notificaciones.</a:t>
            </a:r>
            <a:endParaRPr/>
          </a:p>
        </p:txBody>
      </p:sp>
      <p:sp>
        <p:nvSpPr>
          <p:cNvPr id="242" name="Google Shape;242;p3"/>
          <p:cNvSpPr txBox="1"/>
          <p:nvPr/>
        </p:nvSpPr>
        <p:spPr>
          <a:xfrm>
            <a:off x="594360" y="6473952"/>
            <a:ext cx="4572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7A"/>
                </a:solidFill>
                <a:latin typeface="Arial"/>
                <a:ea typeface="Arial"/>
                <a:cs typeface="Arial"/>
                <a:sym typeface="Arial"/>
              </a:rPr>
              <a:t>Técnico Ya · CAPSTONE_011V</a:t>
            </a:r>
            <a:endParaRPr/>
          </a:p>
        </p:txBody>
      </p:sp>
      <p:sp>
        <p:nvSpPr>
          <p:cNvPr id="243" name="Google Shape;243;p3"/>
          <p:cNvSpPr txBox="1"/>
          <p:nvPr/>
        </p:nvSpPr>
        <p:spPr>
          <a:xfrm>
            <a:off x="11201400" y="6455664"/>
            <a:ext cx="365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7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"/>
          <p:cNvSpPr/>
          <p:nvPr/>
        </p:nvSpPr>
        <p:spPr>
          <a:xfrm>
            <a:off x="102650" y="0"/>
            <a:ext cx="121917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"/>
          <p:cNvSpPr txBox="1"/>
          <p:nvPr/>
        </p:nvSpPr>
        <p:spPr>
          <a:xfrm>
            <a:off x="594360" y="25603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236"/>
                </a:solidFill>
                <a:latin typeface="Arial"/>
                <a:ea typeface="Arial"/>
                <a:cs typeface="Arial"/>
                <a:sym typeface="Arial"/>
              </a:rPr>
              <a:t>3. Diseño — entregables de la fase</a:t>
            </a:r>
            <a:endParaRPr/>
          </a:p>
        </p:txBody>
      </p:sp>
      <p:sp>
        <p:nvSpPr>
          <p:cNvPr id="250" name="Google Shape;250;p4"/>
          <p:cNvSpPr/>
          <p:nvPr/>
        </p:nvSpPr>
        <p:spPr>
          <a:xfrm>
            <a:off x="594360" y="841248"/>
            <a:ext cx="731520" cy="50292"/>
          </a:xfrm>
          <a:prstGeom prst="rect">
            <a:avLst/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685800" y="1371600"/>
            <a:ext cx="5257800" cy="169164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4"/>
          <p:cNvSpPr txBox="1"/>
          <p:nvPr/>
        </p:nvSpPr>
        <p:spPr>
          <a:xfrm>
            <a:off x="850392" y="1481328"/>
            <a:ext cx="49286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666BE"/>
                </a:solidFill>
                <a:latin typeface="Arial"/>
                <a:ea typeface="Arial"/>
                <a:cs typeface="Arial"/>
                <a:sym typeface="Arial"/>
              </a:rPr>
              <a:t>ARQUITECTURA 4+1</a:t>
            </a:r>
            <a:endParaRPr/>
          </a:p>
        </p:txBody>
      </p:sp>
      <p:sp>
        <p:nvSpPr>
          <p:cNvPr id="253" name="Google Shape;253;p4"/>
          <p:cNvSpPr txBox="1"/>
          <p:nvPr/>
        </p:nvSpPr>
        <p:spPr>
          <a:xfrm>
            <a:off x="850392" y="1874519"/>
            <a:ext cx="4928616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Vista lógica · desarrollo · procesos · física · escenarios.</a:t>
            </a:r>
            <a:endParaRPr/>
          </a:p>
        </p:txBody>
      </p:sp>
      <p:sp>
        <p:nvSpPr>
          <p:cNvPr id="254" name="Google Shape;254;p4"/>
          <p:cNvSpPr/>
          <p:nvPr/>
        </p:nvSpPr>
        <p:spPr>
          <a:xfrm>
            <a:off x="6236208" y="1371600"/>
            <a:ext cx="5257800" cy="169164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"/>
          <p:cNvSpPr txBox="1"/>
          <p:nvPr/>
        </p:nvSpPr>
        <p:spPr>
          <a:xfrm>
            <a:off x="6400800" y="1481328"/>
            <a:ext cx="49286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49765"/>
                </a:solidFill>
                <a:latin typeface="Arial"/>
                <a:ea typeface="Arial"/>
                <a:cs typeface="Arial"/>
                <a:sym typeface="Arial"/>
              </a:rPr>
              <a:t>MODELO DE DATOS</a:t>
            </a:r>
            <a:endParaRPr/>
          </a:p>
        </p:txBody>
      </p:sp>
      <p:sp>
        <p:nvSpPr>
          <p:cNvPr id="256" name="Google Shape;256;p4"/>
          <p:cNvSpPr txBox="1"/>
          <p:nvPr/>
        </p:nvSpPr>
        <p:spPr>
          <a:xfrm>
            <a:off x="6400800" y="1874519"/>
            <a:ext cx="4928616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Entidades, relaciones, claves y estructura SQL.</a:t>
            </a:r>
            <a:endParaRPr/>
          </a:p>
        </p:txBody>
      </p:sp>
      <p:sp>
        <p:nvSpPr>
          <p:cNvPr id="257" name="Google Shape;257;p4"/>
          <p:cNvSpPr/>
          <p:nvPr/>
        </p:nvSpPr>
        <p:spPr>
          <a:xfrm>
            <a:off x="685800" y="3429000"/>
            <a:ext cx="5257800" cy="169164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4"/>
          <p:cNvSpPr txBox="1"/>
          <p:nvPr/>
        </p:nvSpPr>
        <p:spPr>
          <a:xfrm>
            <a:off x="850392" y="3538728"/>
            <a:ext cx="49286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8E35"/>
                </a:solidFill>
                <a:latin typeface="Arial"/>
                <a:ea typeface="Arial"/>
                <a:cs typeface="Arial"/>
                <a:sym typeface="Arial"/>
              </a:rPr>
              <a:t>CASOS DE USO PRINCIPALES</a:t>
            </a:r>
            <a:endParaRPr/>
          </a:p>
        </p:txBody>
      </p:sp>
      <p:sp>
        <p:nvSpPr>
          <p:cNvPr id="259" name="Google Shape;259;p4"/>
          <p:cNvSpPr txBox="1"/>
          <p:nvPr/>
        </p:nvSpPr>
        <p:spPr>
          <a:xfrm>
            <a:off x="850392" y="3931920"/>
            <a:ext cx="4928616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Crear solicitud · asignar técnico · ejecutar trabajo · actualizar estado · cerrar servicio.</a:t>
            </a:r>
            <a:endParaRPr/>
          </a:p>
        </p:txBody>
      </p:sp>
      <p:sp>
        <p:nvSpPr>
          <p:cNvPr id="260" name="Google Shape;260;p4"/>
          <p:cNvSpPr/>
          <p:nvPr/>
        </p:nvSpPr>
        <p:spPr>
          <a:xfrm>
            <a:off x="6236208" y="3429000"/>
            <a:ext cx="5257800" cy="169164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4"/>
          <p:cNvSpPr txBox="1"/>
          <p:nvPr/>
        </p:nvSpPr>
        <p:spPr>
          <a:xfrm>
            <a:off x="6400800" y="3538728"/>
            <a:ext cx="4928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9DB9"/>
                </a:solidFill>
              </a:rPr>
              <a:t>DISEÑO DE LOS CASOS DE PRUEBA</a:t>
            </a:r>
            <a:endParaRPr/>
          </a:p>
        </p:txBody>
      </p:sp>
      <p:sp>
        <p:nvSpPr>
          <p:cNvPr id="262" name="Google Shape;262;p4"/>
          <p:cNvSpPr txBox="1"/>
          <p:nvPr/>
        </p:nvSpPr>
        <p:spPr>
          <a:xfrm>
            <a:off x="6400800" y="3931920"/>
            <a:ext cx="49287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A323B"/>
                </a:solidFill>
              </a:rPr>
              <a:t>Diseñar casos de prueba - para posterior </a:t>
            </a:r>
            <a:r>
              <a:rPr lang="en-US">
                <a:solidFill>
                  <a:srgbClr val="2A323B"/>
                </a:solidFill>
              </a:rPr>
              <a:t>ejecución</a:t>
            </a:r>
            <a:r>
              <a:rPr lang="en-US">
                <a:solidFill>
                  <a:srgbClr val="2A323B"/>
                </a:solidFill>
              </a:rPr>
              <a:t> </a:t>
            </a:r>
            <a:endParaRPr/>
          </a:p>
        </p:txBody>
      </p:sp>
      <p:sp>
        <p:nvSpPr>
          <p:cNvPr id="263" name="Google Shape;263;p4"/>
          <p:cNvSpPr txBox="1"/>
          <p:nvPr/>
        </p:nvSpPr>
        <p:spPr>
          <a:xfrm>
            <a:off x="594360" y="6473952"/>
            <a:ext cx="4572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7A"/>
                </a:solidFill>
                <a:latin typeface="Arial"/>
                <a:ea typeface="Arial"/>
                <a:cs typeface="Arial"/>
                <a:sym typeface="Arial"/>
              </a:rPr>
              <a:t>Técnico Ya · CAPSTONE_011V</a:t>
            </a:r>
            <a:endParaRPr/>
          </a:p>
        </p:txBody>
      </p:sp>
      <p:sp>
        <p:nvSpPr>
          <p:cNvPr id="264" name="Google Shape;264;p4"/>
          <p:cNvSpPr txBox="1"/>
          <p:nvPr/>
        </p:nvSpPr>
        <p:spPr>
          <a:xfrm>
            <a:off x="11201400" y="6455664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7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 txBox="1"/>
          <p:nvPr/>
        </p:nvSpPr>
        <p:spPr>
          <a:xfrm>
            <a:off x="594360" y="25603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236"/>
                </a:solidFill>
                <a:latin typeface="Arial"/>
                <a:ea typeface="Arial"/>
                <a:cs typeface="Arial"/>
                <a:sym typeface="Arial"/>
              </a:rPr>
              <a:t>4. Desarrollo</a:t>
            </a:r>
            <a:endParaRPr/>
          </a:p>
        </p:txBody>
      </p:sp>
      <p:sp>
        <p:nvSpPr>
          <p:cNvPr id="271" name="Google Shape;271;p5"/>
          <p:cNvSpPr/>
          <p:nvPr/>
        </p:nvSpPr>
        <p:spPr>
          <a:xfrm>
            <a:off x="594360" y="841248"/>
            <a:ext cx="731520" cy="50292"/>
          </a:xfrm>
          <a:prstGeom prst="rect">
            <a:avLst/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713232" y="1325880"/>
            <a:ext cx="10771632" cy="859536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868680" y="1453895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34976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 txBox="1"/>
          <p:nvPr/>
        </p:nvSpPr>
        <p:spPr>
          <a:xfrm>
            <a:off x="868680" y="1472184"/>
            <a:ext cx="438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75" name="Google Shape;275;p5"/>
          <p:cNvSpPr txBox="1"/>
          <p:nvPr/>
        </p:nvSpPr>
        <p:spPr>
          <a:xfrm>
            <a:off x="1508760" y="1435607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49765"/>
                </a:solidFill>
                <a:latin typeface="Arial"/>
                <a:ea typeface="Arial"/>
                <a:cs typeface="Arial"/>
                <a:sym typeface="Arial"/>
              </a:rPr>
              <a:t>Base de datos + API</a:t>
            </a:r>
            <a:endParaRPr/>
          </a:p>
        </p:txBody>
      </p:sp>
      <p:sp>
        <p:nvSpPr>
          <p:cNvPr id="276" name="Google Shape;276;p5"/>
          <p:cNvSpPr txBox="1"/>
          <p:nvPr/>
        </p:nvSpPr>
        <p:spPr>
          <a:xfrm>
            <a:off x="4160520" y="1435607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Esquema SQL, autenticación, lógica de negocio y endpoints.</a:t>
            </a:r>
            <a:endParaRPr/>
          </a:p>
        </p:txBody>
      </p:sp>
      <p:sp>
        <p:nvSpPr>
          <p:cNvPr id="277" name="Google Shape;277;p5"/>
          <p:cNvSpPr/>
          <p:nvPr/>
        </p:nvSpPr>
        <p:spPr>
          <a:xfrm>
            <a:off x="713232" y="2487168"/>
            <a:ext cx="10771632" cy="859536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868680" y="261518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 txBox="1"/>
          <p:nvPr/>
        </p:nvSpPr>
        <p:spPr>
          <a:xfrm>
            <a:off x="868680" y="2633472"/>
            <a:ext cx="438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80" name="Google Shape;280;p5"/>
          <p:cNvSpPr txBox="1"/>
          <p:nvPr/>
        </p:nvSpPr>
        <p:spPr>
          <a:xfrm>
            <a:off x="1508760" y="2596896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666BE"/>
                </a:solidFill>
                <a:latin typeface="Arial"/>
                <a:ea typeface="Arial"/>
                <a:cs typeface="Arial"/>
                <a:sym typeface="Arial"/>
              </a:rPr>
              <a:t>Plataforma Web</a:t>
            </a:r>
            <a:endParaRPr/>
          </a:p>
        </p:txBody>
      </p:sp>
      <p:sp>
        <p:nvSpPr>
          <p:cNvPr id="281" name="Google Shape;281;p5"/>
          <p:cNvSpPr txBox="1"/>
          <p:nvPr/>
        </p:nvSpPr>
        <p:spPr>
          <a:xfrm>
            <a:off x="4160520" y="2596896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CRUD, solicitudes, recomendación, asignación y seguimiento.</a:t>
            </a:r>
            <a:endParaRPr/>
          </a:p>
        </p:txBody>
      </p:sp>
      <p:sp>
        <p:nvSpPr>
          <p:cNvPr id="282" name="Google Shape;282;p5"/>
          <p:cNvSpPr/>
          <p:nvPr/>
        </p:nvSpPr>
        <p:spPr>
          <a:xfrm>
            <a:off x="713232" y="3648456"/>
            <a:ext cx="10771632" cy="859536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868680" y="3776472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1F9DB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5"/>
          <p:cNvSpPr txBox="1"/>
          <p:nvPr/>
        </p:nvSpPr>
        <p:spPr>
          <a:xfrm>
            <a:off x="868680" y="3794760"/>
            <a:ext cx="438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85" name="Google Shape;285;p5"/>
          <p:cNvSpPr txBox="1"/>
          <p:nvPr/>
        </p:nvSpPr>
        <p:spPr>
          <a:xfrm>
            <a:off x="1508760" y="3758184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9DB9"/>
                </a:solidFill>
                <a:latin typeface="Arial"/>
                <a:ea typeface="Arial"/>
                <a:cs typeface="Arial"/>
                <a:sym typeface="Arial"/>
              </a:rPr>
              <a:t>Aplicación móvil</a:t>
            </a:r>
            <a:endParaRPr/>
          </a:p>
        </p:txBody>
      </p:sp>
      <p:sp>
        <p:nvSpPr>
          <p:cNvPr id="286" name="Google Shape;286;p5"/>
          <p:cNvSpPr txBox="1"/>
          <p:nvPr/>
        </p:nvSpPr>
        <p:spPr>
          <a:xfrm>
            <a:off x="4160520" y="3758184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Trabajos, mapa, código de llegada, estados y evidencias.</a:t>
            </a:r>
            <a:endParaRPr/>
          </a:p>
        </p:txBody>
      </p:sp>
      <p:sp>
        <p:nvSpPr>
          <p:cNvPr id="287" name="Google Shape;287;p5"/>
          <p:cNvSpPr/>
          <p:nvPr/>
        </p:nvSpPr>
        <p:spPr>
          <a:xfrm>
            <a:off x="713232" y="4809744"/>
            <a:ext cx="10771632" cy="859536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5"/>
          <p:cNvSpPr/>
          <p:nvPr/>
        </p:nvSpPr>
        <p:spPr>
          <a:xfrm>
            <a:off x="868680" y="4937759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E88E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5"/>
          <p:cNvSpPr txBox="1"/>
          <p:nvPr/>
        </p:nvSpPr>
        <p:spPr>
          <a:xfrm>
            <a:off x="868680" y="4956048"/>
            <a:ext cx="438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90" name="Google Shape;290;p5"/>
          <p:cNvSpPr txBox="1"/>
          <p:nvPr/>
        </p:nvSpPr>
        <p:spPr>
          <a:xfrm>
            <a:off x="1508760" y="4919472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8E35"/>
                </a:solidFill>
                <a:latin typeface="Arial"/>
                <a:ea typeface="Arial"/>
                <a:cs typeface="Arial"/>
                <a:sym typeface="Arial"/>
              </a:rPr>
              <a:t>Dashboard + integraciones</a:t>
            </a:r>
            <a:endParaRPr/>
          </a:p>
        </p:txBody>
      </p:sp>
      <p:sp>
        <p:nvSpPr>
          <p:cNvPr id="291" name="Google Shape;291;p5"/>
          <p:cNvSpPr txBox="1"/>
          <p:nvPr/>
        </p:nvSpPr>
        <p:spPr>
          <a:xfrm>
            <a:off x="4160520" y="4919472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Indicadores, mapas y notificaciones.</a:t>
            </a:r>
            <a:endParaRPr/>
          </a:p>
        </p:txBody>
      </p:sp>
      <p:sp>
        <p:nvSpPr>
          <p:cNvPr id="292" name="Google Shape;292;p5"/>
          <p:cNvSpPr txBox="1"/>
          <p:nvPr/>
        </p:nvSpPr>
        <p:spPr>
          <a:xfrm>
            <a:off x="594360" y="6473952"/>
            <a:ext cx="4572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7A"/>
                </a:solidFill>
                <a:latin typeface="Arial"/>
                <a:ea typeface="Arial"/>
                <a:cs typeface="Arial"/>
                <a:sym typeface="Arial"/>
              </a:rPr>
              <a:t>Técnico Ya · CAPSTONE_011V</a:t>
            </a:r>
            <a:endParaRPr/>
          </a:p>
        </p:txBody>
      </p:sp>
      <p:sp>
        <p:nvSpPr>
          <p:cNvPr id="293" name="Google Shape;293;p5"/>
          <p:cNvSpPr txBox="1"/>
          <p:nvPr/>
        </p:nvSpPr>
        <p:spPr>
          <a:xfrm>
            <a:off x="11201400" y="6455664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7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 txBox="1"/>
          <p:nvPr/>
        </p:nvSpPr>
        <p:spPr>
          <a:xfrm>
            <a:off x="594360" y="25603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236"/>
                </a:solidFill>
                <a:latin typeface="Arial"/>
                <a:ea typeface="Arial"/>
                <a:cs typeface="Arial"/>
                <a:sym typeface="Arial"/>
              </a:rPr>
              <a:t>6. Detalle semanal del Roadmap</a:t>
            </a: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594360" y="841248"/>
            <a:ext cx="731520" cy="50292"/>
          </a:xfrm>
          <a:prstGeom prst="rect">
            <a:avLst/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685800" y="1325880"/>
            <a:ext cx="960120" cy="457200"/>
          </a:xfrm>
          <a:prstGeom prst="roundRect">
            <a:avLst>
              <a:gd fmla="val 16667" name="adj"/>
            </a:avLst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 txBox="1"/>
          <p:nvPr/>
        </p:nvSpPr>
        <p:spPr>
          <a:xfrm>
            <a:off x="713232" y="1399032"/>
            <a:ext cx="9052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Sep S4</a:t>
            </a:r>
            <a:endParaRPr/>
          </a:p>
        </p:txBody>
      </p:sp>
      <p:sp>
        <p:nvSpPr>
          <p:cNvPr id="303" name="Google Shape;303;p7"/>
          <p:cNvSpPr txBox="1"/>
          <p:nvPr/>
        </p:nvSpPr>
        <p:spPr>
          <a:xfrm>
            <a:off x="1783080" y="1325880"/>
            <a:ext cx="4343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Cerrar ERS y confirmar Roadmap.</a:t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685800" y="2121408"/>
            <a:ext cx="960120" cy="457200"/>
          </a:xfrm>
          <a:prstGeom prst="roundRect">
            <a:avLst>
              <a:gd fmla="val 16667" name="adj"/>
            </a:avLst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 txBox="1"/>
          <p:nvPr/>
        </p:nvSpPr>
        <p:spPr>
          <a:xfrm>
            <a:off x="713232" y="2194560"/>
            <a:ext cx="9052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 S1</a:t>
            </a:r>
            <a:endParaRPr/>
          </a:p>
        </p:txBody>
      </p:sp>
      <p:sp>
        <p:nvSpPr>
          <p:cNvPr id="306" name="Google Shape;306;p7"/>
          <p:cNvSpPr txBox="1"/>
          <p:nvPr/>
        </p:nvSpPr>
        <p:spPr>
          <a:xfrm>
            <a:off x="1783080" y="2121408"/>
            <a:ext cx="4343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Arquitectura 4+1 y casos de uso.</a:t>
            </a: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685800" y="2916936"/>
            <a:ext cx="960120" cy="457200"/>
          </a:xfrm>
          <a:prstGeom prst="roundRect">
            <a:avLst>
              <a:gd fmla="val 16667" name="adj"/>
            </a:avLst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 txBox="1"/>
          <p:nvPr/>
        </p:nvSpPr>
        <p:spPr>
          <a:xfrm>
            <a:off x="713232" y="2990088"/>
            <a:ext cx="9052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 S2</a:t>
            </a:r>
            <a:endParaRPr/>
          </a:p>
        </p:txBody>
      </p:sp>
      <p:sp>
        <p:nvSpPr>
          <p:cNvPr id="309" name="Google Shape;309;p7"/>
          <p:cNvSpPr txBox="1"/>
          <p:nvPr/>
        </p:nvSpPr>
        <p:spPr>
          <a:xfrm>
            <a:off x="1783080" y="2916936"/>
            <a:ext cx="4343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Modelo de datos, API y mockups.</a:t>
            </a:r>
            <a:endParaRPr/>
          </a:p>
        </p:txBody>
      </p:sp>
      <p:sp>
        <p:nvSpPr>
          <p:cNvPr id="310" name="Google Shape;310;p7"/>
          <p:cNvSpPr/>
          <p:nvPr/>
        </p:nvSpPr>
        <p:spPr>
          <a:xfrm>
            <a:off x="685800" y="3712463"/>
            <a:ext cx="960120" cy="457200"/>
          </a:xfrm>
          <a:prstGeom prst="roundRect">
            <a:avLst>
              <a:gd fmla="val 16667" name="adj"/>
            </a:avLst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 txBox="1"/>
          <p:nvPr/>
        </p:nvSpPr>
        <p:spPr>
          <a:xfrm>
            <a:off x="713232" y="3785615"/>
            <a:ext cx="9052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 S3</a:t>
            </a:r>
            <a:endParaRPr/>
          </a:p>
        </p:txBody>
      </p:sp>
      <p:sp>
        <p:nvSpPr>
          <p:cNvPr id="312" name="Google Shape;312;p7"/>
          <p:cNvSpPr txBox="1"/>
          <p:nvPr/>
        </p:nvSpPr>
        <p:spPr>
          <a:xfrm>
            <a:off x="1783080" y="3712463"/>
            <a:ext cx="4343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Base de datos, backend y autenticación.</a:t>
            </a:r>
            <a:endParaRPr/>
          </a:p>
        </p:txBody>
      </p:sp>
      <p:sp>
        <p:nvSpPr>
          <p:cNvPr id="313" name="Google Shape;313;p7"/>
          <p:cNvSpPr/>
          <p:nvPr/>
        </p:nvSpPr>
        <p:spPr>
          <a:xfrm>
            <a:off x="685800" y="4507992"/>
            <a:ext cx="960120" cy="457200"/>
          </a:xfrm>
          <a:prstGeom prst="roundRect">
            <a:avLst>
              <a:gd fmla="val 16667" name="adj"/>
            </a:avLst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 txBox="1"/>
          <p:nvPr/>
        </p:nvSpPr>
        <p:spPr>
          <a:xfrm>
            <a:off x="713232" y="4581144"/>
            <a:ext cx="905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</a:rPr>
              <a:t>Nov s1</a:t>
            </a:r>
            <a:endParaRPr/>
          </a:p>
        </p:txBody>
      </p:sp>
      <p:sp>
        <p:nvSpPr>
          <p:cNvPr id="315" name="Google Shape;315;p7"/>
          <p:cNvSpPr txBox="1"/>
          <p:nvPr/>
        </p:nvSpPr>
        <p:spPr>
          <a:xfrm>
            <a:off x="1783080" y="4507992"/>
            <a:ext cx="4343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Web: solicitudes y seguimiento.</a:t>
            </a:r>
            <a:endParaRPr/>
          </a:p>
        </p:txBody>
      </p:sp>
      <p:sp>
        <p:nvSpPr>
          <p:cNvPr id="316" name="Google Shape;316;p7"/>
          <p:cNvSpPr/>
          <p:nvPr/>
        </p:nvSpPr>
        <p:spPr>
          <a:xfrm>
            <a:off x="685800" y="5303520"/>
            <a:ext cx="960120" cy="457200"/>
          </a:xfrm>
          <a:prstGeom prst="roundRect">
            <a:avLst>
              <a:gd fmla="val 16667" name="adj"/>
            </a:avLst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 txBox="1"/>
          <p:nvPr/>
        </p:nvSpPr>
        <p:spPr>
          <a:xfrm>
            <a:off x="713232" y="5376672"/>
            <a:ext cx="9052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 S1</a:t>
            </a:r>
            <a:endParaRPr/>
          </a:p>
        </p:txBody>
      </p:sp>
      <p:sp>
        <p:nvSpPr>
          <p:cNvPr id="318" name="Google Shape;318;p7"/>
          <p:cNvSpPr txBox="1"/>
          <p:nvPr/>
        </p:nvSpPr>
        <p:spPr>
          <a:xfrm>
            <a:off x="1783080" y="5303520"/>
            <a:ext cx="4343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Web: recomendación y asignación.</a:t>
            </a:r>
            <a:endParaRPr/>
          </a:p>
        </p:txBody>
      </p:sp>
      <p:sp>
        <p:nvSpPr>
          <p:cNvPr id="319" name="Google Shape;319;p7"/>
          <p:cNvSpPr/>
          <p:nvPr/>
        </p:nvSpPr>
        <p:spPr>
          <a:xfrm>
            <a:off x="6400800" y="1325880"/>
            <a:ext cx="960120" cy="457200"/>
          </a:xfrm>
          <a:prstGeom prst="roundRect">
            <a:avLst>
              <a:gd fmla="val 16667" name="adj"/>
            </a:avLst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 txBox="1"/>
          <p:nvPr/>
        </p:nvSpPr>
        <p:spPr>
          <a:xfrm>
            <a:off x="6428232" y="1399032"/>
            <a:ext cx="9052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 S2</a:t>
            </a:r>
            <a:endParaRPr/>
          </a:p>
        </p:txBody>
      </p:sp>
      <p:sp>
        <p:nvSpPr>
          <p:cNvPr id="321" name="Google Shape;321;p7"/>
          <p:cNvSpPr txBox="1"/>
          <p:nvPr/>
        </p:nvSpPr>
        <p:spPr>
          <a:xfrm>
            <a:off x="7498079" y="1325880"/>
            <a:ext cx="4343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App: login y trabajos asignados.</a:t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>
            <a:off x="6400800" y="2121408"/>
            <a:ext cx="960120" cy="457200"/>
          </a:xfrm>
          <a:prstGeom prst="roundRect">
            <a:avLst>
              <a:gd fmla="val 16667" name="adj"/>
            </a:avLst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 txBox="1"/>
          <p:nvPr/>
        </p:nvSpPr>
        <p:spPr>
          <a:xfrm>
            <a:off x="6428232" y="2194560"/>
            <a:ext cx="905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 S</a:t>
            </a:r>
            <a:r>
              <a:rPr b="1" lang="en-US" sz="1000">
                <a:solidFill>
                  <a:srgbClr val="FFFFFF"/>
                </a:solidFill>
              </a:rPr>
              <a:t>2</a:t>
            </a:r>
            <a:endParaRPr/>
          </a:p>
        </p:txBody>
      </p:sp>
      <p:sp>
        <p:nvSpPr>
          <p:cNvPr id="324" name="Google Shape;324;p7"/>
          <p:cNvSpPr txBox="1"/>
          <p:nvPr/>
        </p:nvSpPr>
        <p:spPr>
          <a:xfrm>
            <a:off x="7498079" y="2121408"/>
            <a:ext cx="4343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App: mapa, estados y evidencias.</a:t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>
            <a:off x="6400800" y="2916936"/>
            <a:ext cx="960120" cy="457200"/>
          </a:xfrm>
          <a:prstGeom prst="roundRect">
            <a:avLst>
              <a:gd fmla="val 16667" name="adj"/>
            </a:avLst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 txBox="1"/>
          <p:nvPr/>
        </p:nvSpPr>
        <p:spPr>
          <a:xfrm>
            <a:off x="6428232" y="2990088"/>
            <a:ext cx="905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 S</a:t>
            </a:r>
            <a:r>
              <a:rPr b="1" lang="en-US" sz="1000">
                <a:solidFill>
                  <a:srgbClr val="FFFFFF"/>
                </a:solidFill>
              </a:rPr>
              <a:t>2</a:t>
            </a:r>
            <a:endParaRPr/>
          </a:p>
        </p:txBody>
      </p:sp>
      <p:sp>
        <p:nvSpPr>
          <p:cNvPr id="327" name="Google Shape;327;p7"/>
          <p:cNvSpPr txBox="1"/>
          <p:nvPr/>
        </p:nvSpPr>
        <p:spPr>
          <a:xfrm>
            <a:off x="7498079" y="2916936"/>
            <a:ext cx="4343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Dashboard e integraciones.</a:t>
            </a:r>
            <a:endParaRPr/>
          </a:p>
        </p:txBody>
      </p:sp>
      <p:sp>
        <p:nvSpPr>
          <p:cNvPr id="328" name="Google Shape;328;p7"/>
          <p:cNvSpPr/>
          <p:nvPr/>
        </p:nvSpPr>
        <p:spPr>
          <a:xfrm>
            <a:off x="6400800" y="3712463"/>
            <a:ext cx="960120" cy="457200"/>
          </a:xfrm>
          <a:prstGeom prst="roundRect">
            <a:avLst>
              <a:gd fmla="val 16667" name="adj"/>
            </a:avLst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7"/>
          <p:cNvSpPr txBox="1"/>
          <p:nvPr/>
        </p:nvSpPr>
        <p:spPr>
          <a:xfrm>
            <a:off x="6428232" y="3785615"/>
            <a:ext cx="905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</a:rPr>
              <a:t>Nov S3</a:t>
            </a:r>
            <a:endParaRPr/>
          </a:p>
        </p:txBody>
      </p:sp>
      <p:sp>
        <p:nvSpPr>
          <p:cNvPr id="330" name="Google Shape;330;p7"/>
          <p:cNvSpPr txBox="1"/>
          <p:nvPr/>
        </p:nvSpPr>
        <p:spPr>
          <a:xfrm>
            <a:off x="7498079" y="3712463"/>
            <a:ext cx="4343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QA, integración y correcciones.</a:t>
            </a:r>
            <a:endParaRPr/>
          </a:p>
        </p:txBody>
      </p:sp>
      <p:sp>
        <p:nvSpPr>
          <p:cNvPr id="331" name="Google Shape;331;p7"/>
          <p:cNvSpPr/>
          <p:nvPr/>
        </p:nvSpPr>
        <p:spPr>
          <a:xfrm>
            <a:off x="6400800" y="4507992"/>
            <a:ext cx="960120" cy="457200"/>
          </a:xfrm>
          <a:prstGeom prst="roundRect">
            <a:avLst>
              <a:gd fmla="val 16667" name="adj"/>
            </a:avLst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 txBox="1"/>
          <p:nvPr/>
        </p:nvSpPr>
        <p:spPr>
          <a:xfrm>
            <a:off x="6428232" y="4581144"/>
            <a:ext cx="905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</a:rPr>
              <a:t>Nov S3</a:t>
            </a:r>
            <a:endParaRPr/>
          </a:p>
        </p:txBody>
      </p:sp>
      <p:sp>
        <p:nvSpPr>
          <p:cNvPr id="333" name="Google Shape;333;p7"/>
          <p:cNvSpPr txBox="1"/>
          <p:nvPr/>
        </p:nvSpPr>
        <p:spPr>
          <a:xfrm>
            <a:off x="7498079" y="4507992"/>
            <a:ext cx="4343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Despliegue y documentación.</a:t>
            </a:r>
            <a:endParaRPr/>
          </a:p>
        </p:txBody>
      </p:sp>
      <p:sp>
        <p:nvSpPr>
          <p:cNvPr id="334" name="Google Shape;334;p7"/>
          <p:cNvSpPr/>
          <p:nvPr/>
        </p:nvSpPr>
        <p:spPr>
          <a:xfrm>
            <a:off x="6400800" y="5303520"/>
            <a:ext cx="960120" cy="457200"/>
          </a:xfrm>
          <a:prstGeom prst="roundRect">
            <a:avLst>
              <a:gd fmla="val 16667" name="adj"/>
            </a:avLst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 txBox="1"/>
          <p:nvPr/>
        </p:nvSpPr>
        <p:spPr>
          <a:xfrm>
            <a:off x="6428232" y="5376672"/>
            <a:ext cx="905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</a:rPr>
              <a:t>Nov S3</a:t>
            </a:r>
            <a:endParaRPr/>
          </a:p>
        </p:txBody>
      </p:sp>
      <p:sp>
        <p:nvSpPr>
          <p:cNvPr id="336" name="Google Shape;336;p7"/>
          <p:cNvSpPr txBox="1"/>
          <p:nvPr/>
        </p:nvSpPr>
        <p:spPr>
          <a:xfrm>
            <a:off x="7498079" y="5303520"/>
            <a:ext cx="4343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Presentación y demostración final.</a:t>
            </a:r>
            <a:endParaRPr/>
          </a:p>
        </p:txBody>
      </p:sp>
      <p:sp>
        <p:nvSpPr>
          <p:cNvPr id="337" name="Google Shape;337;p7"/>
          <p:cNvSpPr txBox="1"/>
          <p:nvPr/>
        </p:nvSpPr>
        <p:spPr>
          <a:xfrm>
            <a:off x="594360" y="6473952"/>
            <a:ext cx="4572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7A"/>
                </a:solidFill>
                <a:latin typeface="Arial"/>
                <a:ea typeface="Arial"/>
                <a:cs typeface="Arial"/>
                <a:sym typeface="Arial"/>
              </a:rPr>
              <a:t>Técnico Ya · CAPSTONE_011V</a:t>
            </a:r>
            <a:endParaRPr/>
          </a:p>
        </p:txBody>
      </p:sp>
      <p:sp>
        <p:nvSpPr>
          <p:cNvPr id="338" name="Google Shape;338;p7"/>
          <p:cNvSpPr txBox="1"/>
          <p:nvPr/>
        </p:nvSpPr>
        <p:spPr>
          <a:xfrm>
            <a:off x="11201400" y="6455664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7A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 txBox="1"/>
          <p:nvPr/>
        </p:nvSpPr>
        <p:spPr>
          <a:xfrm>
            <a:off x="594360" y="25603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236"/>
                </a:solidFill>
                <a:latin typeface="Arial"/>
                <a:ea typeface="Arial"/>
                <a:cs typeface="Arial"/>
                <a:sym typeface="Arial"/>
              </a:rPr>
              <a:t>7. Responsables y próximos hitos</a:t>
            </a:r>
            <a:endParaRPr/>
          </a:p>
        </p:txBody>
      </p:sp>
      <p:sp>
        <p:nvSpPr>
          <p:cNvPr id="345" name="Google Shape;345;p8"/>
          <p:cNvSpPr/>
          <p:nvPr/>
        </p:nvSpPr>
        <p:spPr>
          <a:xfrm>
            <a:off x="594360" y="841248"/>
            <a:ext cx="731520" cy="50292"/>
          </a:xfrm>
          <a:prstGeom prst="rect">
            <a:avLst/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685800" y="1325880"/>
            <a:ext cx="3429000" cy="1874519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 txBox="1"/>
          <p:nvPr/>
        </p:nvSpPr>
        <p:spPr>
          <a:xfrm>
            <a:off x="850392" y="1435607"/>
            <a:ext cx="309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666BE"/>
                </a:solidFill>
                <a:latin typeface="Arial"/>
                <a:ea typeface="Arial"/>
                <a:cs typeface="Arial"/>
                <a:sym typeface="Arial"/>
              </a:rPr>
              <a:t>SEBASTIÁN VALDÉS</a:t>
            </a:r>
            <a:endParaRPr/>
          </a:p>
        </p:txBody>
      </p:sp>
      <p:sp>
        <p:nvSpPr>
          <p:cNvPr id="348" name="Google Shape;348;p8"/>
          <p:cNvSpPr txBox="1"/>
          <p:nvPr/>
        </p:nvSpPr>
        <p:spPr>
          <a:xfrm>
            <a:off x="850392" y="1828800"/>
            <a:ext cx="3099816" cy="125272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Líder de proyecto: coordinación, alcance, plazos, revisión y apoyo al desarrollo.</a:t>
            </a:r>
            <a:endParaRPr/>
          </a:p>
        </p:txBody>
      </p:sp>
      <p:sp>
        <p:nvSpPr>
          <p:cNvPr id="349" name="Google Shape;349;p8"/>
          <p:cNvSpPr/>
          <p:nvPr/>
        </p:nvSpPr>
        <p:spPr>
          <a:xfrm>
            <a:off x="4389120" y="1325880"/>
            <a:ext cx="3429000" cy="1874519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 txBox="1"/>
          <p:nvPr/>
        </p:nvSpPr>
        <p:spPr>
          <a:xfrm>
            <a:off x="4553712" y="1435607"/>
            <a:ext cx="309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9DB9"/>
                </a:solidFill>
                <a:latin typeface="Arial"/>
                <a:ea typeface="Arial"/>
                <a:cs typeface="Arial"/>
                <a:sym typeface="Arial"/>
              </a:rPr>
              <a:t>JOSÉ HERRERA</a:t>
            </a:r>
            <a:endParaRPr/>
          </a:p>
        </p:txBody>
      </p:sp>
      <p:sp>
        <p:nvSpPr>
          <p:cNvPr id="351" name="Google Shape;351;p8"/>
          <p:cNvSpPr txBox="1"/>
          <p:nvPr/>
        </p:nvSpPr>
        <p:spPr>
          <a:xfrm>
            <a:off x="4553712" y="1828800"/>
            <a:ext cx="3099816" cy="125272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Desarrollo: plataforma Web, App móvil, lógica de negocio e integraciones.</a:t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8092440" y="1325880"/>
            <a:ext cx="3429000" cy="1874519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 txBox="1"/>
          <p:nvPr/>
        </p:nvSpPr>
        <p:spPr>
          <a:xfrm>
            <a:off x="8257031" y="1435607"/>
            <a:ext cx="309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49765"/>
                </a:solidFill>
                <a:latin typeface="Arial"/>
                <a:ea typeface="Arial"/>
                <a:cs typeface="Arial"/>
                <a:sym typeface="Arial"/>
              </a:rPr>
              <a:t>JOSÉ ESPINOZA</a:t>
            </a:r>
            <a:endParaRPr/>
          </a:p>
        </p:txBody>
      </p:sp>
      <p:sp>
        <p:nvSpPr>
          <p:cNvPr id="354" name="Google Shape;354;p8"/>
          <p:cNvSpPr txBox="1"/>
          <p:nvPr/>
        </p:nvSpPr>
        <p:spPr>
          <a:xfrm>
            <a:off x="8257031" y="1828800"/>
            <a:ext cx="3099816" cy="125272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BD y arquitectura: modelo de datos, arquitectura y comunicación entre componentes.</a:t>
            </a:r>
            <a:endParaRPr/>
          </a:p>
        </p:txBody>
      </p:sp>
      <p:sp>
        <p:nvSpPr>
          <p:cNvPr id="355" name="Google Shape;355;p8"/>
          <p:cNvSpPr txBox="1"/>
          <p:nvPr/>
        </p:nvSpPr>
        <p:spPr>
          <a:xfrm>
            <a:off x="731520" y="3657600"/>
            <a:ext cx="10607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42236"/>
                </a:solidFill>
                <a:latin typeface="Arial"/>
                <a:ea typeface="Arial"/>
                <a:cs typeface="Arial"/>
                <a:sym typeface="Arial"/>
              </a:rPr>
              <a:t>Próximos hitos</a:t>
            </a:r>
            <a:endParaRPr/>
          </a:p>
        </p:txBody>
      </p:sp>
      <p:sp>
        <p:nvSpPr>
          <p:cNvPr id="356" name="Google Shape;356;p8"/>
          <p:cNvSpPr txBox="1"/>
          <p:nvPr/>
        </p:nvSpPr>
        <p:spPr>
          <a:xfrm>
            <a:off x="822960" y="4160520"/>
            <a:ext cx="104241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666BE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en-US" sz="1500">
                <a:solidFill>
                  <a:srgbClr val="2666BE"/>
                </a:solidFill>
              </a:rPr>
              <a:t>Finalizar DAS</a:t>
            </a:r>
            <a:r>
              <a:rPr b="1" i="0" lang="en-US" sz="1500" u="none" cap="none" strike="noStrike">
                <a:solidFill>
                  <a:srgbClr val="2666BE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1" lang="en-US" sz="1500">
                <a:solidFill>
                  <a:srgbClr val="2666BE"/>
                </a:solidFill>
              </a:rPr>
              <a:t>Toda documentación correspondiente al DAS</a:t>
            </a:r>
            <a:endParaRPr/>
          </a:p>
        </p:txBody>
      </p:sp>
      <p:sp>
        <p:nvSpPr>
          <p:cNvPr id="357" name="Google Shape;357;p8"/>
          <p:cNvSpPr txBox="1"/>
          <p:nvPr/>
        </p:nvSpPr>
        <p:spPr>
          <a:xfrm>
            <a:off x="822960" y="4645152"/>
            <a:ext cx="104241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9DB9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en-US" sz="1500">
                <a:solidFill>
                  <a:srgbClr val="1F9DB9"/>
                </a:solidFill>
              </a:rPr>
              <a:t>Revisión y correcion modelo de base de datos</a:t>
            </a:r>
            <a:r>
              <a:rPr b="1" i="0" lang="en-US" sz="1500" u="none" cap="none" strike="noStrike">
                <a:solidFill>
                  <a:srgbClr val="1F9DB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500" u="none" cap="none" strike="noStrike">
                <a:solidFill>
                  <a:srgbClr val="1F9DB9"/>
                </a:solidFill>
                <a:latin typeface="Arial"/>
                <a:ea typeface="Arial"/>
                <a:cs typeface="Arial"/>
                <a:sym typeface="Arial"/>
              </a:rPr>
              <a:t> →  Base de datos </a:t>
            </a:r>
            <a:endParaRPr/>
          </a:p>
        </p:txBody>
      </p:sp>
      <p:sp>
        <p:nvSpPr>
          <p:cNvPr id="358" name="Google Shape;358;p8"/>
          <p:cNvSpPr txBox="1"/>
          <p:nvPr/>
        </p:nvSpPr>
        <p:spPr>
          <a:xfrm>
            <a:off x="822960" y="5129784"/>
            <a:ext cx="104241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9DB9"/>
                </a:solidFill>
              </a:rPr>
              <a:t>3</a:t>
            </a:r>
            <a:r>
              <a:rPr b="1" lang="en-US" sz="1500">
                <a:solidFill>
                  <a:srgbClr val="1F9DB9"/>
                </a:solidFill>
              </a:rPr>
              <a:t>. Iniciar Desarrollo  →  Base de datos + API + Plataforma Web</a:t>
            </a:r>
            <a:endParaRPr b="1" sz="1500">
              <a:solidFill>
                <a:srgbClr val="E88E35"/>
              </a:solidFill>
            </a:endParaRPr>
          </a:p>
        </p:txBody>
      </p:sp>
      <p:sp>
        <p:nvSpPr>
          <p:cNvPr id="359" name="Google Shape;359;p8"/>
          <p:cNvSpPr txBox="1"/>
          <p:nvPr/>
        </p:nvSpPr>
        <p:spPr>
          <a:xfrm>
            <a:off x="777240" y="5806440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236"/>
                </a:solidFill>
                <a:latin typeface="Arial"/>
                <a:ea typeface="Arial"/>
                <a:cs typeface="Arial"/>
                <a:sym typeface="Arial"/>
              </a:rPr>
              <a:t>Meta final: versión funcional integrada, probada, documentada y demostrable.</a:t>
            </a:r>
            <a:endParaRPr/>
          </a:p>
        </p:txBody>
      </p:sp>
      <p:sp>
        <p:nvSpPr>
          <p:cNvPr id="360" name="Google Shape;360;p8"/>
          <p:cNvSpPr txBox="1"/>
          <p:nvPr/>
        </p:nvSpPr>
        <p:spPr>
          <a:xfrm>
            <a:off x="594360" y="6473952"/>
            <a:ext cx="4572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7A"/>
                </a:solidFill>
                <a:latin typeface="Arial"/>
                <a:ea typeface="Arial"/>
                <a:cs typeface="Arial"/>
                <a:sym typeface="Arial"/>
              </a:rPr>
              <a:t>Técnico Ya · CAPSTONE_011V</a:t>
            </a:r>
            <a:endParaRPr/>
          </a:p>
        </p:txBody>
      </p:sp>
      <p:sp>
        <p:nvSpPr>
          <p:cNvPr id="361" name="Google Shape;361;p8"/>
          <p:cNvSpPr txBox="1"/>
          <p:nvPr/>
        </p:nvSpPr>
        <p:spPr>
          <a:xfrm>
            <a:off x="11201400" y="6455664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7A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nclusión" id="366" name="Google Shape;366;h6dbac00d0b716a76_1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0966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h6dbac00d0b716a76_1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800" y="747875"/>
            <a:ext cx="13144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h6dbac00d0b716a76_1_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800" y="1152525"/>
            <a:ext cx="11001375" cy="538515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h6dbac00d0b716a76_1_30"/>
          <p:cNvSpPr txBox="1"/>
          <p:nvPr/>
        </p:nvSpPr>
        <p:spPr>
          <a:xfrm>
            <a:off x="875513" y="1507125"/>
            <a:ext cx="9650400" cy="4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</a:rPr>
              <a:t>El proyecto Técnico Ya continuará su desarrollo utilizando la metodología Waterfall (Cascada), permitiendo avanzar de manera ordenada desde el diseño hasta la entrega final.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</a:rPr>
              <a:t>El Roadmap permitirá organizar y controlar semanalmente las actividades de arquitectura 4+1, modelo de datos, casos de uso, desarrollo de la plataforma Web, aplicación móvil, backend y base de datos.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</a:rPr>
              <a:t>Finalmente, se realizarán las etapas de pruebas, integración, despliegue y documentación, con el objetivo de obtener una solución funcional, integrada y demostrable, cumpliendo con los requerimientos definidos para el proyecto.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