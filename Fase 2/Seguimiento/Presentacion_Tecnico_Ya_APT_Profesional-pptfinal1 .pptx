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Z6q2q2m/BoaS5PVDf2uNzNkHh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Presentar el nombre del proyecto y explicar en una frase que integra la operación completa de los servicios técnicos.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Aclarar los roles: la empresa externa presenta la necesidad; JJV es el equipo desarrollador; Técnico Ya es el nombre de la solución propuesta. Luego explicar los tres problemas: dispersión, gestión manual y baja trazabilidad.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Explicar que el problema no es la falta de demanda, sino la ausencia de un flujo centralizado y trazable.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Contar este caso como una historia breve. El flujo muestra cómo una solicitud desordenada se convierte en un servicio coordinado y trazable.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Recorrer el flujo de izquierda a derecha y destacar que todos los actores trabajan sobre información centralizada.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Diferenciar interfaz, lógica y persistencia. La separación facilita integración, seguridad y mantenibilidad.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Relacionar cada etapa del proyecto con competencias del perfil de egreso y con una evidencia concreta.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Conectar el proyecto con los intereses del equipo: desarrollo integral, móvil, datos e integración.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217" name="Google Shape;21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Defender la factibilidad con alcance, conocimientos, herramientas y respuestas concretas a los riesgos.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242" name="Google Shape;24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Presentar el objetivo general y resumir los objetivos específicos como una secuencia de resultados verificables.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276" name="Google Shape;27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Explicar que la metodología permite revisión formal de cada entregable y control de dependencias.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311" name="Google Shape;31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Explicar que el proyecto abarca cuatro meses y finaliza durante la última semana de diciembre de 2026. Las fases avanzan de forma secuencial según Waterfall, con revisión del entregable antes de pasar a la fase siguiente.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347" name="Google Shape;34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f8c1e5d2d4_0_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g3f8c1e5d2d4_0_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Diferenciar interfaz, lógica y persistencia. La separación facilita integración, seguridad y mantenibilidad.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407" name="Google Shape;407;g3f8c1e5d2d4_0_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Aclarar que los roles ordenan el trabajo, pero la revisión, integración y calidad son responsabilidades compartidas.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441" name="Google Shape;44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8" name="Google Shape;468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Concluir relacionando cada problema de la introducción con la función concreta que lo resuelve. Destacar que el resultado esperado es control y trazabilidad durante todo el servicio.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469" name="Google Shape;469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858250" y="0"/>
            <a:ext cx="3333750" cy="2857500"/>
          </a:xfrm>
          <a:prstGeom prst="ellipse">
            <a:avLst/>
          </a:prstGeom>
          <a:solidFill>
            <a:srgbClr val="153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096500" y="0"/>
            <a:ext cx="1619250" cy="1619250"/>
          </a:xfrm>
          <a:prstGeom prst="ellipse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85800" y="6667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6B8D4"/>
                </a:solidFill>
              </a:rPr>
              <a:t>PROYECTO APT · CAPSTONE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04875" y="1514400"/>
            <a:ext cx="72390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FFFFFF"/>
                </a:solidFill>
              </a:rPr>
              <a:t>JJV - </a:t>
            </a:r>
            <a:r>
              <a:rPr b="1" lang="en-US" sz="4350">
                <a:solidFill>
                  <a:srgbClr val="FFFFFF"/>
                </a:solidFill>
              </a:rPr>
              <a:t>Técnico Ya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85800" y="2724150"/>
            <a:ext cx="6762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C8D8E5"/>
                </a:solidFill>
              </a:rPr>
              <a:t>Gestión inteligente de servicios técnicos a domicilio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85800" y="3714750"/>
            <a:ext cx="1143000" cy="47625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85800" y="3952875"/>
            <a:ext cx="6477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Web · App móvil · API · Base de datos</a:t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85800" y="5810250"/>
            <a:ext cx="723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8D8E5"/>
                </a:solidFill>
              </a:rPr>
              <a:t>José Espinoza  ·  José Herrera  ·  Sebastián Valdés</a:t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85800" y="6153150"/>
            <a:ext cx="4762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Equipo desarrollador JJV · Agosto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INTRODUCCIÓN</a:t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Una empresa externa solicita una solución para ordenar sus servicios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02</a:t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09600" y="1657350"/>
            <a:ext cx="10572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Una empresa externa encarga al equipo JJV el desarrollo de una solución para administrar servicios a domicilio, como electricidad, gasfitería, reparación, instalación y soporte técnico. JJV denomina esta propuesta “Técnico Ya”.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09600" y="3076575"/>
            <a:ext cx="3219450" cy="1866900"/>
          </a:xfrm>
          <a:prstGeom prst="roundRect">
            <a:avLst>
              <a:gd fmla="val 4082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09600" y="3076575"/>
            <a:ext cx="3219450" cy="76200"/>
          </a:xfrm>
          <a:prstGeom prst="rect">
            <a:avLst/>
          </a:prstGeom>
          <a:solidFill>
            <a:srgbClr val="EF6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847725" y="3371850"/>
            <a:ext cx="2724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INFORMACIÓN DISPERSA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47725" y="3876675"/>
            <a:ext cx="27241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Las solicitudes y antecedentes se encuentran en llamadas, mensajes y redes sociales.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133850" y="3076575"/>
            <a:ext cx="3219450" cy="1866900"/>
          </a:xfrm>
          <a:prstGeom prst="roundRect">
            <a:avLst>
              <a:gd fmla="val 4082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133850" y="3076575"/>
            <a:ext cx="3219450" cy="76200"/>
          </a:xfrm>
          <a:prstGeom prst="rect">
            <a:avLst/>
          </a:prstGeom>
          <a:solidFill>
            <a:srgbClr val="F5B6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371975" y="3371850"/>
            <a:ext cx="2724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GESTIÓN MANUAL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371975" y="3876675"/>
            <a:ext cx="27241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La revisión, asignación y actualización de los trabajos requieren coordinación constante.</a:t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658100" y="3076575"/>
            <a:ext cx="3219450" cy="1866900"/>
          </a:xfrm>
          <a:prstGeom prst="roundRect">
            <a:avLst>
              <a:gd fmla="val 4082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658100" y="3076575"/>
            <a:ext cx="3219450" cy="762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896225" y="3371850"/>
            <a:ext cx="2724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BAJA TRAZABILIDAD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7896225" y="3876675"/>
            <a:ext cx="27241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Resulta difícil conocer el estado del servicio y conservar evidencias de principio a fin.</a:t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1457325" y="5391150"/>
            <a:ext cx="8877300" cy="552450"/>
          </a:xfrm>
          <a:prstGeom prst="roundRect">
            <a:avLst>
              <a:gd fmla="val 13793" name="adj"/>
            </a:avLst>
          </a:prstGeom>
          <a:solidFill>
            <a:srgbClr val="0B1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1704975" y="54673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El desafío es centralizar el proceso sin perder control, evidencia ni responsabilidad.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PROBLEMÁTICA Y RELEVANCIA</a:t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575900" y="619125"/>
            <a:ext cx="10858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La operación dispersa limita el control del servicio</a:t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03</a:t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09600" y="1657350"/>
            <a:ext cx="5095875" cy="371475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09600" y="1657350"/>
            <a:ext cx="66675" cy="3714750"/>
          </a:xfrm>
          <a:prstGeom prst="rect">
            <a:avLst/>
          </a:prstGeom>
          <a:solidFill>
            <a:srgbClr val="EF6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847725" y="1828800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Situación actual</a:t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847725" y="2200275"/>
            <a:ext cx="466725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chemeClr val="dk1"/>
                </a:solidFill>
              </a:rPr>
              <a:t>• Solicitudes por llamadas, WhatsApp y redes sociales.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25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chemeClr val="dk1"/>
                </a:solidFill>
              </a:rPr>
              <a:t>• Asignación y seguimiento realizados manualmente.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25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chemeClr val="dk1"/>
                </a:solidFill>
              </a:rPr>
              <a:t>• Información duplicada, incompleta o difícil de consultar.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048375" y="1657350"/>
            <a:ext cx="5514975" cy="3714750"/>
          </a:xfrm>
          <a:prstGeom prst="roundRect">
            <a:avLst>
              <a:gd fmla="val 2051" name="adj"/>
            </a:avLst>
          </a:prstGeom>
          <a:solidFill>
            <a:srgbClr val="0B1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381750" y="1943100"/>
            <a:ext cx="4476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6B8D4"/>
                </a:solidFill>
              </a:rPr>
              <a:t>IMPACTO OPERACIONAL</a:t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381750" y="2505075"/>
            <a:ext cx="361950" cy="28575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905625" y="23526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CLIENTES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905625" y="2609850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Demoras y poca visibilidad</a:t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381750" y="3343275"/>
            <a:ext cx="361950" cy="2857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905625" y="31908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ADMINISTRACIÓN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905625" y="3448050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Mayor carga y coordinación lenta</a:t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381750" y="4181475"/>
            <a:ext cx="361950" cy="2857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905625" y="40290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TÉCNICOS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905625" y="4286250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Datos y órdenes sin centralizar</a:t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09600" y="5772150"/>
            <a:ext cx="1047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962FF"/>
                </a:solidFill>
              </a:rPr>
              <a:t>Resolverlo aplica transformación digital e Ingeniería en Informática.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CONTEXTO Y PROPUESTA DE VALOR</a:t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Una solicitud cotidiana revela el valor de Técnico Ya</a:t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04</a:t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609600" y="1743075"/>
            <a:ext cx="2419350" cy="3095625"/>
          </a:xfrm>
          <a:prstGeom prst="roundRect">
            <a:avLst>
              <a:gd fmla="val 3150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819150" y="1981200"/>
            <a:ext cx="400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962FF"/>
                </a:solidFill>
              </a:rPr>
              <a:t>01</a:t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819150" y="2505075"/>
            <a:ext cx="1952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NECESIDAD</a:t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819150" y="3071813"/>
            <a:ext cx="19527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Un cliente requiere una reparación y registra su solicitud.</a:t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819150" y="4410075"/>
            <a:ext cx="609600" cy="381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3295650" y="1743075"/>
            <a:ext cx="2419350" cy="3095625"/>
          </a:xfrm>
          <a:prstGeom prst="roundRect">
            <a:avLst>
              <a:gd fmla="val 3150" name="adj"/>
            </a:avLst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3505200" y="1981200"/>
            <a:ext cx="400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6B8D4"/>
                </a:solidFill>
              </a:rPr>
              <a:t>02</a:t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3505200" y="2505075"/>
            <a:ext cx="1952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COORDINACIÓN</a:t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3505200" y="3057525"/>
            <a:ext cx="195262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CE8F1"/>
                </a:solidFill>
              </a:rPr>
              <a:t>El gestor revisa el caso y recibe técnicos recomendados.</a:t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505200" y="4410075"/>
            <a:ext cx="60960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5981700" y="1743075"/>
            <a:ext cx="2419350" cy="3095625"/>
          </a:xfrm>
          <a:prstGeom prst="roundRect">
            <a:avLst>
              <a:gd fmla="val 3150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191250" y="1981200"/>
            <a:ext cx="400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962FF"/>
                </a:solidFill>
              </a:rPr>
              <a:t>03</a:t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191250" y="2505075"/>
            <a:ext cx="1952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ATENCIÓN</a:t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191250" y="3017050"/>
            <a:ext cx="19527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El técnico consulta la ruta, valida el inicio y registra evidencias.</a:t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191250" y="4410075"/>
            <a:ext cx="609600" cy="381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8667750" y="1743075"/>
            <a:ext cx="2419350" cy="3095625"/>
          </a:xfrm>
          <a:prstGeom prst="roundRect">
            <a:avLst>
              <a:gd fmla="val 3150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8877300" y="1981200"/>
            <a:ext cx="400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962FF"/>
                </a:solidFill>
              </a:rPr>
              <a:t>04</a:t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8877300" y="2505075"/>
            <a:ext cx="1952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CIERRE</a:t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8877300" y="3057525"/>
            <a:ext cx="195262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El cliente confirma el término y la empresa conserva la trazabilidad.</a:t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8877300" y="4410075"/>
            <a:ext cx="609600" cy="38100"/>
          </a:xfrm>
          <a:prstGeom prst="rect">
            <a:avLst/>
          </a:prstGeom>
          <a:solidFill>
            <a:srgbClr val="55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1428750" y="5305425"/>
            <a:ext cx="9334500" cy="609600"/>
          </a:xfrm>
          <a:prstGeom prst="roundRect">
            <a:avLst>
              <a:gd fmla="val 12500" name="adj"/>
            </a:avLst>
          </a:prstGeom>
          <a:solidFill>
            <a:srgbClr val="DF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1676400" y="5400675"/>
            <a:ext cx="8839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Propuesta de valor: centralizar la gestión y entregar visibilidad a clientes, gestores y técnicos.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SOLUCIÓN PROPUESTA</a:t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Una plataforma integrada acompaña todo el ciclo</a:t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05</a:t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2000250" y="2952750"/>
            <a:ext cx="895350" cy="38100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4191000" y="2952750"/>
            <a:ext cx="895350" cy="38100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6381750" y="2952750"/>
            <a:ext cx="895350" cy="38100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8572500" y="2952750"/>
            <a:ext cx="895350" cy="38100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704850" y="2495550"/>
            <a:ext cx="876300" cy="876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895350" y="261937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</a:rPr>
              <a:t>01</a:t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38150" y="3476625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SOLICITUD</a:t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628650" y="3819525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637586"/>
                </a:solidFill>
              </a:rPr>
              <a:t>Cliente</a:t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2895600" y="2495550"/>
            <a:ext cx="876300" cy="876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3086100" y="261937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</a:rPr>
              <a:t>02</a:t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2628900" y="3476625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REVISIÓN</a:t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2819400" y="3819525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637586"/>
                </a:solidFill>
              </a:rPr>
              <a:t>Gestor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5086350" y="2495550"/>
            <a:ext cx="876300" cy="876300"/>
          </a:xfrm>
          <a:prstGeom prst="ellipse">
            <a:avLst/>
          </a:prstGeom>
          <a:solidFill>
            <a:srgbClr val="16B8D4"/>
          </a:solidFill>
          <a:ln cap="flat" cmpd="sng" w="9525">
            <a:solidFill>
              <a:srgbClr val="16B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5276850" y="261937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B1F33"/>
                </a:solidFill>
              </a:rPr>
              <a:t>03</a:t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819650" y="3476625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ASIGNACIÓN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5010150" y="3819525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637586"/>
                </a:solidFill>
              </a:rPr>
              <a:t>Sistema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7277100" y="2495550"/>
            <a:ext cx="876300" cy="876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7467600" y="261937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</a:rPr>
              <a:t>04</a:t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7010400" y="3476625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EJECUCIÓN</a:t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7200900" y="3819525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637586"/>
                </a:solidFill>
              </a:rPr>
              <a:t>Técnico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9467850" y="2495550"/>
            <a:ext cx="876300" cy="876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9658350" y="261937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</a:rPr>
              <a:t>05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9201150" y="3476625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CIERRE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9391650" y="3819525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637586"/>
                </a:solidFill>
              </a:rPr>
              <a:t>Solicitante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1524000" y="4705350"/>
            <a:ext cx="9144000" cy="723900"/>
          </a:xfrm>
          <a:prstGeom prst="roundRect">
            <a:avLst>
              <a:gd fmla="val 10526" name="adj"/>
            </a:avLst>
          </a:prstGeom>
          <a:solidFill>
            <a:srgbClr val="DF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1809750" y="483870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Una sola base de datos mantiene la trazabilidad desde la solicitud hasta la finalización.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COMPONENTES </a:t>
            </a:r>
            <a:r>
              <a:rPr b="1" lang="en-US" sz="900">
                <a:solidFill>
                  <a:srgbClr val="16B8D4"/>
                </a:solidFill>
              </a:rPr>
              <a:t>FUNCIONAL</a:t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609600" y="573950"/>
            <a:ext cx="10858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Cuatro componentes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06</a:t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09600" y="1714500"/>
            <a:ext cx="2419350" cy="3143250"/>
          </a:xfrm>
          <a:prstGeom prst="roundRect">
            <a:avLst>
              <a:gd fmla="val 3150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609600" y="1714500"/>
            <a:ext cx="2419350" cy="9525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819150" y="2019300"/>
            <a:ext cx="428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962FF"/>
                </a:solidFill>
              </a:rPr>
              <a:t>01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819150" y="251460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WEB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819150" y="3048000"/>
            <a:ext cx="1981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Solicitudes, clientes, servicios, asignaciones y dashboard.</a:t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819150" y="4276725"/>
            <a:ext cx="1219200" cy="323850"/>
          </a:xfrm>
          <a:prstGeom prst="roundRect">
            <a:avLst>
              <a:gd fmla="val 23529" name="adj"/>
            </a:avLst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914400" y="4295775"/>
            <a:ext cx="102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B1F33"/>
                </a:solidFill>
              </a:rPr>
              <a:t>INTERFAZ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3333750" y="1714500"/>
            <a:ext cx="2419350" cy="3143250"/>
          </a:xfrm>
          <a:prstGeom prst="roundRect">
            <a:avLst>
              <a:gd fmla="val 3150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3333750" y="1714500"/>
            <a:ext cx="2419350" cy="9525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3543300" y="2019300"/>
            <a:ext cx="428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6B8D4"/>
                </a:solidFill>
              </a:rPr>
              <a:t>02</a:t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3543300" y="251460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APP MÓVIL</a:t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3543300" y="3048000"/>
            <a:ext cx="1981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Órdenes, mapas, códigos, estados y evidencias.</a:t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3543300" y="4276725"/>
            <a:ext cx="1219200" cy="323850"/>
          </a:xfrm>
          <a:prstGeom prst="roundRect">
            <a:avLst>
              <a:gd fmla="val 23529" name="adj"/>
            </a:avLst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3638550" y="4295775"/>
            <a:ext cx="102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B1F33"/>
                </a:solidFill>
              </a:rPr>
              <a:t>INTERFAZ</a:t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6057900" y="1714500"/>
            <a:ext cx="2419350" cy="3143250"/>
          </a:xfrm>
          <a:prstGeom prst="roundRect">
            <a:avLst>
              <a:gd fmla="val 3150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6057900" y="1714500"/>
            <a:ext cx="2419350" cy="95250"/>
          </a:xfrm>
          <a:prstGeom prst="rect">
            <a:avLst/>
          </a:prstGeom>
          <a:solidFill>
            <a:srgbClr val="55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6267450" y="2019300"/>
            <a:ext cx="428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5C08A"/>
                </a:solidFill>
              </a:rPr>
              <a:t>03</a:t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6267450" y="251460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BACKEND / API</a:t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6267450" y="3048000"/>
            <a:ext cx="1981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Autenticación, permisos, reglas e integraciones.</a:t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6267450" y="4276725"/>
            <a:ext cx="1219200" cy="323850"/>
          </a:xfrm>
          <a:prstGeom prst="roundRect">
            <a:avLst>
              <a:gd fmla="val 23529" name="adj"/>
            </a:avLst>
          </a:prstGeom>
          <a:solidFill>
            <a:srgbClr val="55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6362700" y="4295775"/>
            <a:ext cx="102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B1F33"/>
                </a:solidFill>
              </a:rPr>
              <a:t>LÓGICA</a:t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8782050" y="1714500"/>
            <a:ext cx="2419350" cy="3143250"/>
          </a:xfrm>
          <a:prstGeom prst="roundRect">
            <a:avLst>
              <a:gd fmla="val 3150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8782050" y="1714500"/>
            <a:ext cx="2419350" cy="95250"/>
          </a:xfrm>
          <a:prstGeom prst="rect">
            <a:avLst/>
          </a:prstGeom>
          <a:solidFill>
            <a:srgbClr val="F5B6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8991600" y="2019300"/>
            <a:ext cx="428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5B63C"/>
                </a:solidFill>
              </a:rPr>
              <a:t>04</a:t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8991600" y="251460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BASE DE DATOS</a:t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8991600" y="3048000"/>
            <a:ext cx="1981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Usuarios, históricos, órdenes y evidencias.</a:t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8991600" y="4276725"/>
            <a:ext cx="1219200" cy="323850"/>
          </a:xfrm>
          <a:prstGeom prst="roundRect">
            <a:avLst>
              <a:gd fmla="val 23529" name="adj"/>
            </a:avLst>
          </a:prstGeom>
          <a:solidFill>
            <a:srgbClr val="F5B6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8991600" y="4295775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B1F33"/>
                </a:solidFill>
              </a:rPr>
              <a:t>INFORMACIÓN</a:t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609600" y="5334000"/>
            <a:ext cx="10572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3047"/>
                </a:solidFill>
              </a:rPr>
              <a:t>Servicios externos: mapas, geolocalización, notificaciones y almacenamiento de fotografías.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PERFIL DE EGRESO</a:t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El proyecto integra las competencias centrales de la carrera</a:t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07</a:t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609600" y="1752600"/>
            <a:ext cx="514350" cy="47625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609600" y="1924050"/>
            <a:ext cx="3190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ANALIZAR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609600" y="2305050"/>
            <a:ext cx="31432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37586"/>
                </a:solidFill>
              </a:rPr>
              <a:t>Requerimientos, actores, procesos y reglas.</a:t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4248150" y="1752600"/>
            <a:ext cx="514350" cy="4762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248150" y="1924050"/>
            <a:ext cx="3190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DISEÑAR</a:t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4248150" y="2305050"/>
            <a:ext cx="31432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37586"/>
                </a:solidFill>
              </a:rPr>
              <a:t>Arquitectura, API, base de datos e interfaces.</a:t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7886700" y="1752600"/>
            <a:ext cx="514350" cy="47625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7886700" y="1924050"/>
            <a:ext cx="3190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DESARROLLAR</a:t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7886700" y="2305050"/>
            <a:ext cx="31432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37586"/>
                </a:solidFill>
              </a:rPr>
              <a:t>Web, app móvil y lógica backend.</a:t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09600" y="3448050"/>
            <a:ext cx="514350" cy="4762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609600" y="3619500"/>
            <a:ext cx="3190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INTEGRAR</a:t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609600" y="4000500"/>
            <a:ext cx="31432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37586"/>
                </a:solidFill>
              </a:rPr>
              <a:t>Servicios externos y fuente de datos común.</a:t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4248150" y="3448050"/>
            <a:ext cx="514350" cy="47625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4248150" y="3619500"/>
            <a:ext cx="3190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VALIDAR</a:t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4248150" y="4000500"/>
            <a:ext cx="31432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37586"/>
                </a:solidFill>
              </a:rPr>
              <a:t>Seguridad, calidad, pruebas y trazabilidad.</a:t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7886700" y="3448050"/>
            <a:ext cx="514350" cy="4762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7886700" y="3619500"/>
            <a:ext cx="3190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GESTIONAR</a:t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7886700" y="4010025"/>
            <a:ext cx="3143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37586"/>
                </a:solidFill>
              </a:rPr>
              <a:t>Alcance, plazos, riesgos y colaboración.</a:t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609600" y="5429250"/>
            <a:ext cx="10572750" cy="523875"/>
          </a:xfrm>
          <a:prstGeom prst="roundRect">
            <a:avLst>
              <a:gd fmla="val 14545" name="adj"/>
            </a:avLst>
          </a:prstGeom>
          <a:solidFill>
            <a:srgbClr val="0B1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800100" y="5505450"/>
            <a:ext cx="10191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Resultado: aplicación integral de las competencias del ciclo de vida del software.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INTERESES PROFESIONALES</a:t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Técnico Ya conecta aprendizaje, práctica e impacto</a:t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08</a:t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609600" y="1676400"/>
            <a:ext cx="4381500" cy="3733800"/>
          </a:xfrm>
          <a:prstGeom prst="roundRect">
            <a:avLst>
              <a:gd fmla="val 2041" name="adj"/>
            </a:avLst>
          </a:prstGeom>
          <a:solidFill>
            <a:srgbClr val="0B1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914400" y="1943100"/>
            <a:ext cx="3714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6B8D4"/>
                </a:solidFill>
              </a:rPr>
              <a:t>ÁREAS QUE QUEREMOS FORTALECER</a:t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914400" y="2562225"/>
            <a:ext cx="152400" cy="152400"/>
          </a:xfrm>
          <a:prstGeom prst="ellipse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1238250" y="2457450"/>
            <a:ext cx="3143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Desarrollo Full Stack</a:t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914400" y="3190875"/>
            <a:ext cx="152400" cy="1524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1238250" y="3086100"/>
            <a:ext cx="3143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Aplicaciones móviles</a:t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914400" y="3819525"/>
            <a:ext cx="152400" cy="152400"/>
          </a:xfrm>
          <a:prstGeom prst="ellipse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1238250" y="3714750"/>
            <a:ext cx="3143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APIs y bases de datos</a:t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914400" y="4448175"/>
            <a:ext cx="152400" cy="1524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1238250" y="4343400"/>
            <a:ext cx="3143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Integración y despliegue</a:t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5524500" y="178117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962FF"/>
                </a:solidFill>
              </a:rPr>
              <a:t>Aplicación profesional</a:t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5524500" y="2143125"/>
            <a:ext cx="53340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0B1F33"/>
                </a:solidFill>
              </a:rPr>
              <a:t>Convertir una problemática real en una solución funcional, documentada y comprobable.</a:t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5524500" y="3571875"/>
            <a:ext cx="5334000" cy="1238250"/>
          </a:xfrm>
          <a:prstGeom prst="roundRect">
            <a:avLst>
              <a:gd fmla="val 6154" name="adj"/>
            </a:avLst>
          </a:prstGeom>
          <a:solidFill>
            <a:srgbClr val="DF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5810250" y="3752850"/>
            <a:ext cx="4762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962FF"/>
                </a:solidFill>
              </a:rPr>
              <a:t>VALOR LABORAL</a:t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5810250" y="4086225"/>
            <a:ext cx="4667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Ejecución de un proyecto real de transformación digital.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FACTIBILIDAD</a:t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Un alcance acotado hace viable la entrega semestral</a:t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09</a:t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609600" y="171450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962FF"/>
                </a:solidFill>
              </a:rPr>
              <a:t>FACILITADORES</a:t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666750" y="2219325"/>
            <a:ext cx="142875" cy="142875"/>
          </a:xfrm>
          <a:prstGeom prst="ellipse">
            <a:avLst/>
          </a:prstGeom>
          <a:solidFill>
            <a:srgbClr val="55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990600" y="2076450"/>
            <a:ext cx="4191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Equipo de tres integrantes</a:t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666750" y="2819400"/>
            <a:ext cx="142875" cy="142875"/>
          </a:xfrm>
          <a:prstGeom prst="ellipse">
            <a:avLst/>
          </a:prstGeom>
          <a:solidFill>
            <a:srgbClr val="55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990600" y="2676525"/>
            <a:ext cx="4191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Conocimientos previos en programación y SQL</a:t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666750" y="3419475"/>
            <a:ext cx="142875" cy="142875"/>
          </a:xfrm>
          <a:prstGeom prst="ellipse">
            <a:avLst/>
          </a:prstGeom>
          <a:solidFill>
            <a:srgbClr val="55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990600" y="3276600"/>
            <a:ext cx="4191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Herramientas gratuitas o educativas</a:t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666750" y="4019550"/>
            <a:ext cx="142875" cy="142875"/>
          </a:xfrm>
          <a:prstGeom prst="ellipse">
            <a:avLst/>
          </a:prstGeom>
          <a:solidFill>
            <a:srgbClr val="55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990600" y="3876675"/>
            <a:ext cx="4191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Problema y alcance claramente definidos</a:t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6096000" y="1714500"/>
            <a:ext cx="4381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962FF"/>
                </a:solidFill>
              </a:rPr>
              <a:t>RIESGO → RESPUESTA</a:t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6096000" y="2114550"/>
            <a:ext cx="4857750" cy="49530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6286500" y="2200275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Tiempo disponible</a:t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8401050" y="2200275"/>
            <a:ext cx="2333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962FF"/>
                </a:solidFill>
              </a:rPr>
              <a:t>Carta Gantt + alcance definido</a:t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6096000" y="2771775"/>
            <a:ext cx="4857750" cy="49530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6286500" y="2857500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Integración Web–App–API</a:t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8401050" y="2857500"/>
            <a:ext cx="2333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962FF"/>
                </a:solidFill>
              </a:rPr>
              <a:t>Pruebas progresivas</a:t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6096000" y="3429000"/>
            <a:ext cx="4857750" cy="49530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6286500" y="3514725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Coordinación</a:t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8401050" y="3514725"/>
            <a:ext cx="2333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962FF"/>
                </a:solidFill>
              </a:rPr>
              <a:t>Repositorio + reuniones</a:t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6096000" y="4086225"/>
            <a:ext cx="4857750" cy="49530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6286500" y="4171950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APIs externas</a:t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8401050" y="4171950"/>
            <a:ext cx="2333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962FF"/>
                </a:solidFill>
              </a:rPr>
              <a:t>Servicios alternativos</a:t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609600" y="5619750"/>
            <a:ext cx="10344150" cy="438150"/>
          </a:xfrm>
          <a:prstGeom prst="roundRect">
            <a:avLst>
              <a:gd fmla="val 17391" name="adj"/>
            </a:avLst>
          </a:prstGeom>
          <a:solidFill>
            <a:srgbClr val="FFF2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800100" y="5676900"/>
            <a:ext cx="9963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4560B"/>
                </a:solidFill>
              </a:rPr>
              <a:t>Fuera del alcance: pagos, facturación, marketplace e IA compleja.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OBJETIVOS</a:t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Los objetivos conducen desde el análisis hasta la validación</a:t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10</a:t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609600" y="1600200"/>
            <a:ext cx="10572750" cy="914400"/>
          </a:xfrm>
          <a:prstGeom prst="roundRect">
            <a:avLst>
              <a:gd fmla="val 8333" name="adj"/>
            </a:avLst>
          </a:prstGeom>
          <a:solidFill>
            <a:srgbClr val="DF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838200" y="1752600"/>
            <a:ext cx="1762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962FF"/>
                </a:solidFill>
              </a:rPr>
              <a:t>OBJETIVO GENERAL</a:t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2781300" y="1724025"/>
            <a:ext cx="8020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Desarrollar una solución Web y móvil integrada que centralice y optimice la gestión de servicios técnicos a domicilio.</a:t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609600" y="3028950"/>
            <a:ext cx="2400300" cy="8763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762000" y="3152775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01</a:t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1123950" y="3162300"/>
            <a:ext cx="1695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Analizar requerimientos y actores</a:t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3257550" y="3028950"/>
            <a:ext cx="2400300" cy="8763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3409950" y="3152775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02</a:t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3771900" y="3162300"/>
            <a:ext cx="1695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Diseñar BD, API y arquitectura</a:t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5905500" y="3028950"/>
            <a:ext cx="2400300" cy="8763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6057900" y="3152775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03</a:t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6419850" y="3162300"/>
            <a:ext cx="1695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Desarrollar plataforma Web</a:t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8553450" y="3028950"/>
            <a:ext cx="2400300" cy="8763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8705850" y="3152775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04</a:t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9067800" y="3162300"/>
            <a:ext cx="1695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Implementar aplicación móvil</a:t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609600" y="4229100"/>
            <a:ext cx="2400300" cy="8763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762000" y="4352925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05</a:t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1123950" y="4362450"/>
            <a:ext cx="1695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Incorporar recomendación y códigos</a:t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3257550" y="4229100"/>
            <a:ext cx="2400300" cy="8763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3409950" y="4352925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06</a:t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3771900" y="4362450"/>
            <a:ext cx="1695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Crear dashboard e integraciones</a:t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5905500" y="4229100"/>
            <a:ext cx="2400300" cy="8763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6057900" y="4352925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07</a:t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6419850" y="4362450"/>
            <a:ext cx="1695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Probar el flujo completo</a:t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609600" y="5667375"/>
            <a:ext cx="9525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962FF"/>
                </a:solidFill>
              </a:rPr>
              <a:t>Cada objetivo produce una evidencia verificable.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METODOLOGÍA</a:t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Waterfall ordena el avance mediante entregables revisables</a:t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11</a:t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2095500" y="2628900"/>
            <a:ext cx="704850" cy="38100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647700" y="2114550"/>
            <a:ext cx="1466850" cy="1047750"/>
          </a:xfrm>
          <a:prstGeom prst="roundRect">
            <a:avLst>
              <a:gd fmla="val 7273" name="adj"/>
            </a:avLst>
          </a:prstGeom>
          <a:solidFill>
            <a:srgbClr val="16B8D4"/>
          </a:solidFill>
          <a:ln cap="flat" cmpd="sng" w="9525">
            <a:solidFill>
              <a:srgbClr val="16B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819150" y="2276475"/>
            <a:ext cx="304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B1F33"/>
                </a:solidFill>
              </a:rPr>
              <a:t>1</a:t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790575" y="2647950"/>
            <a:ext cx="1181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REQUISITOS</a:t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4248150" y="2628900"/>
            <a:ext cx="704850" cy="38100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2800350" y="2114550"/>
            <a:ext cx="1466850" cy="10477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2971800" y="2276475"/>
            <a:ext cx="304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</a:rPr>
              <a:t>2</a:t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2943225" y="2647950"/>
            <a:ext cx="1181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DISEÑO</a:t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6400800" y="2628900"/>
            <a:ext cx="704850" cy="38100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4953000" y="2114550"/>
            <a:ext cx="1466850" cy="10477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5124450" y="2276475"/>
            <a:ext cx="304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</a:rPr>
              <a:t>3</a:t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5095875" y="2647950"/>
            <a:ext cx="1181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IMPLEMENTACIÓN</a:t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8553450" y="2628900"/>
            <a:ext cx="704850" cy="38100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7105650" y="2114550"/>
            <a:ext cx="1466850" cy="10477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7277100" y="2276475"/>
            <a:ext cx="304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</a:rPr>
              <a:t>4</a:t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7248525" y="2647950"/>
            <a:ext cx="1181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PRUEBAS</a:t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9258300" y="2114550"/>
            <a:ext cx="1466850" cy="10477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9429750" y="2276475"/>
            <a:ext cx="304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</a:rPr>
              <a:t>5</a:t>
            </a:r>
            <a:endParaRPr/>
          </a:p>
        </p:txBody>
      </p:sp>
      <p:sp>
        <p:nvSpPr>
          <p:cNvPr id="336" name="Google Shape;336;p11"/>
          <p:cNvSpPr/>
          <p:nvPr/>
        </p:nvSpPr>
        <p:spPr>
          <a:xfrm>
            <a:off x="9401175" y="2647950"/>
            <a:ext cx="1181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INTEGRACIÓN</a:t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609600" y="3867150"/>
            <a:ext cx="4857750" cy="142875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609600" y="3867150"/>
            <a:ext cx="66675" cy="142875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847725" y="4038600"/>
            <a:ext cx="442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Criterio de avance</a:t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847725" y="4410075"/>
            <a:ext cx="4429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37586"/>
                </a:solidFill>
              </a:rPr>
              <a:t>Cada etapa comienza después de revisar el entregable anterior y conservar la trazabilidad.</a:t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5905500" y="3867150"/>
            <a:ext cx="5276850" cy="1428750"/>
          </a:xfrm>
          <a:prstGeom prst="roundRect">
            <a:avLst>
              <a:gd fmla="val 5333" name="adj"/>
            </a:avLst>
          </a:prstGeom>
          <a:solidFill>
            <a:srgbClr val="0B1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6191250" y="4076700"/>
            <a:ext cx="438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6B8D4"/>
                </a:solidFill>
              </a:rPr>
              <a:t>¿POR QUÉ CASCADA?</a:t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6191250" y="4429125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El alcance requiere documentación previa y coordinación entre componentes dependientes.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PLAN DE TRABAJO</a:t>
            </a: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El proyecto se desarrolla de agosto a diciembre de 2026</a:t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12</a:t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1106350" y="1619200"/>
            <a:ext cx="2952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637586"/>
                </a:solidFill>
              </a:rPr>
              <a:t>ACTIVIDAD</a:t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4554400" y="1619200"/>
            <a:ext cx="1428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37586"/>
                </a:solidFill>
              </a:rPr>
              <a:t>SEPTIEMBRE</a:t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6307000" y="1619200"/>
            <a:ext cx="1428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37586"/>
                </a:solidFill>
              </a:rPr>
              <a:t>OCTUBRE</a:t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8059600" y="1619200"/>
            <a:ext cx="1428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37586"/>
                </a:solidFill>
              </a:rPr>
              <a:t>NOVIEMBRE</a:t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9812200" y="1619200"/>
            <a:ext cx="1428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37586"/>
                </a:solidFill>
              </a:rPr>
              <a:t>DICIEMBRE</a:t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609600" y="1971675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Análisis y requerimientos</a:t>
            </a: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2998950" y="197163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2998800" y="246216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6504150" y="197163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8256750" y="197163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609600" y="243840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Arquitectura y base de datos</a:t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4751475" y="2438325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6504150" y="243836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8256750" y="243836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609600" y="2905125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Backend y plataforma Web</a:t>
            </a: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2998800" y="290503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4751550" y="290508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6504150" y="290508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8256750" y="290508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609600" y="337185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Aplicación móvil</a:t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2998950" y="337181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4751550" y="337181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6504150" y="337181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8256750" y="337181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609600" y="3838575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Integraciones y dashboard</a:t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2998950" y="383853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4751550" y="383853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6504150" y="383853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8256750" y="383853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609600" y="430530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Pruebas y documentación</a:t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2998950" y="430526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4751550" y="430526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6504150" y="430526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8256750" y="430526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609600" y="4772025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Entrega y defensa final</a:t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2998950" y="477198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4751550" y="477198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6504150" y="477198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8256750" y="477198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609600" y="5476875"/>
            <a:ext cx="10572750" cy="600075"/>
          </a:xfrm>
          <a:prstGeom prst="roundRect">
            <a:avLst>
              <a:gd fmla="val 12698" name="adj"/>
            </a:avLst>
          </a:prstGeom>
          <a:solidFill>
            <a:srgbClr val="0B1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800100" y="5657875"/>
            <a:ext cx="1019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6B8D4"/>
                </a:solidFill>
              </a:rPr>
              <a:t>Duración: Agosto–diciembre 2026  ·  Entrega final: últim</a:t>
            </a:r>
            <a:r>
              <a:rPr b="1" lang="en-US" sz="1200">
                <a:solidFill>
                  <a:srgbClr val="16B8D4"/>
                </a:solidFill>
              </a:rPr>
              <a:t>a semana de noviembre </a:t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3068175" y="1619125"/>
            <a:ext cx="1428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37586"/>
                </a:solidFill>
              </a:rPr>
              <a:t>AGOSTO</a:t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10009350" y="1971625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10009350" y="2438350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10009350" y="2905075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10009350" y="3371800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10009350" y="3838525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10009350" y="4771975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10039200" y="4343375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4751550" y="1995450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8c1e5d2d4_0_27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f8c1e5d2d4_0_27"/>
          <p:cNvSpPr/>
          <p:nvPr/>
        </p:nvSpPr>
        <p:spPr>
          <a:xfrm>
            <a:off x="609600" y="333375"/>
            <a:ext cx="5238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SEGUIMIENTO</a:t>
            </a:r>
            <a:endParaRPr/>
          </a:p>
        </p:txBody>
      </p:sp>
      <p:sp>
        <p:nvSpPr>
          <p:cNvPr id="411" name="Google Shape;411;g3f8c1e5d2d4_0_27"/>
          <p:cNvSpPr/>
          <p:nvPr/>
        </p:nvSpPr>
        <p:spPr>
          <a:xfrm>
            <a:off x="466800" y="573950"/>
            <a:ext cx="10858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Estado semanal</a:t>
            </a:r>
            <a:endParaRPr/>
          </a:p>
        </p:txBody>
      </p:sp>
      <p:sp>
        <p:nvSpPr>
          <p:cNvPr id="412" name="Google Shape;412;g3f8c1e5d2d4_0_27"/>
          <p:cNvSpPr/>
          <p:nvPr/>
        </p:nvSpPr>
        <p:spPr>
          <a:xfrm>
            <a:off x="609600" y="1285875"/>
            <a:ext cx="66690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f8c1e5d2d4_0_27"/>
          <p:cNvSpPr/>
          <p:nvPr/>
        </p:nvSpPr>
        <p:spPr>
          <a:xfrm>
            <a:off x="11144250" y="6381750"/>
            <a:ext cx="419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13</a:t>
            </a:r>
            <a:endParaRPr/>
          </a:p>
        </p:txBody>
      </p:sp>
      <p:sp>
        <p:nvSpPr>
          <p:cNvPr id="414" name="Google Shape;414;g3f8c1e5d2d4_0_27"/>
          <p:cNvSpPr/>
          <p:nvPr/>
        </p:nvSpPr>
        <p:spPr>
          <a:xfrm>
            <a:off x="948975" y="1601425"/>
            <a:ext cx="2419500" cy="3143400"/>
          </a:xfrm>
          <a:prstGeom prst="roundRect">
            <a:avLst>
              <a:gd fmla="val 3150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8c1e5d2d4_0_27"/>
          <p:cNvSpPr/>
          <p:nvPr/>
        </p:nvSpPr>
        <p:spPr>
          <a:xfrm>
            <a:off x="948975" y="1601425"/>
            <a:ext cx="2419500" cy="9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f8c1e5d2d4_0_27"/>
          <p:cNvSpPr/>
          <p:nvPr/>
        </p:nvSpPr>
        <p:spPr>
          <a:xfrm>
            <a:off x="1158525" y="1906225"/>
            <a:ext cx="4287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962FF"/>
                </a:solidFill>
              </a:rPr>
              <a:t>01</a:t>
            </a:r>
            <a:endParaRPr/>
          </a:p>
        </p:txBody>
      </p:sp>
      <p:sp>
        <p:nvSpPr>
          <p:cNvPr id="417" name="Google Shape;417;g3f8c1e5d2d4_0_27"/>
          <p:cNvSpPr/>
          <p:nvPr/>
        </p:nvSpPr>
        <p:spPr>
          <a:xfrm>
            <a:off x="1122350" y="2606388"/>
            <a:ext cx="1981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586"/>
              </a:buClr>
              <a:buSzPts val="1300"/>
              <a:buChar char="●"/>
            </a:pPr>
            <a:r>
              <a:rPr lang="en-US" sz="1300">
                <a:solidFill>
                  <a:srgbClr val="637586"/>
                </a:solidFill>
              </a:rPr>
              <a:t>Desarrollo web</a:t>
            </a:r>
            <a:endParaRPr sz="1300">
              <a:solidFill>
                <a:srgbClr val="637586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586"/>
              </a:buClr>
              <a:buSzPts val="1300"/>
              <a:buChar char="●"/>
            </a:pPr>
            <a:r>
              <a:rPr lang="en-US" sz="1300">
                <a:solidFill>
                  <a:srgbClr val="637586"/>
                </a:solidFill>
              </a:rPr>
              <a:t>Desarrollo </a:t>
            </a:r>
            <a:r>
              <a:rPr lang="en-US" sz="1300">
                <a:solidFill>
                  <a:srgbClr val="637586"/>
                </a:solidFill>
              </a:rPr>
              <a:t>móvil</a:t>
            </a:r>
            <a:endParaRPr sz="1300">
              <a:solidFill>
                <a:srgbClr val="637586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586"/>
              </a:buClr>
              <a:buSzPts val="1300"/>
              <a:buChar char="●"/>
            </a:pPr>
            <a:r>
              <a:rPr lang="en-US" sz="1300">
                <a:solidFill>
                  <a:srgbClr val="637586"/>
                </a:solidFill>
              </a:rPr>
              <a:t>Diseño BD</a:t>
            </a:r>
            <a:endParaRPr sz="1300">
              <a:solidFill>
                <a:srgbClr val="637586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586"/>
              </a:buClr>
              <a:buSzPts val="1300"/>
              <a:buChar char="●"/>
            </a:pPr>
            <a:r>
              <a:rPr lang="en-US" sz="1300">
                <a:solidFill>
                  <a:srgbClr val="637586"/>
                </a:solidFill>
              </a:rPr>
              <a:t>Pruebas QA</a:t>
            </a:r>
            <a:endParaRPr sz="1200">
              <a:solidFill>
                <a:srgbClr val="637586"/>
              </a:solidFill>
            </a:endParaRPr>
          </a:p>
        </p:txBody>
      </p:sp>
      <p:sp>
        <p:nvSpPr>
          <p:cNvPr id="418" name="Google Shape;418;g3f8c1e5d2d4_0_27"/>
          <p:cNvSpPr/>
          <p:nvPr/>
        </p:nvSpPr>
        <p:spPr>
          <a:xfrm>
            <a:off x="1158525" y="4163650"/>
            <a:ext cx="1219200" cy="324000"/>
          </a:xfrm>
          <a:prstGeom prst="roundRect">
            <a:avLst>
              <a:gd fmla="val 23529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f8c1e5d2d4_0_27"/>
          <p:cNvSpPr/>
          <p:nvPr/>
        </p:nvSpPr>
        <p:spPr>
          <a:xfrm>
            <a:off x="1253775" y="4182700"/>
            <a:ext cx="102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B1F33"/>
                </a:solidFill>
              </a:rPr>
              <a:t>PENDIENTE</a:t>
            </a:r>
            <a:endParaRPr/>
          </a:p>
        </p:txBody>
      </p:sp>
      <p:sp>
        <p:nvSpPr>
          <p:cNvPr id="420" name="Google Shape;420;g3f8c1e5d2d4_0_27"/>
          <p:cNvSpPr/>
          <p:nvPr/>
        </p:nvSpPr>
        <p:spPr>
          <a:xfrm>
            <a:off x="7145250" y="1677625"/>
            <a:ext cx="2419500" cy="3143400"/>
          </a:xfrm>
          <a:prstGeom prst="roundRect">
            <a:avLst>
              <a:gd fmla="val 3150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f8c1e5d2d4_0_27"/>
          <p:cNvSpPr/>
          <p:nvPr/>
        </p:nvSpPr>
        <p:spPr>
          <a:xfrm>
            <a:off x="7101575" y="1563325"/>
            <a:ext cx="2419500" cy="95400"/>
          </a:xfrm>
          <a:prstGeom prst="rect">
            <a:avLst/>
          </a:prstGeom>
          <a:solidFill>
            <a:srgbClr val="55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f8c1e5d2d4_0_27"/>
          <p:cNvSpPr/>
          <p:nvPr/>
        </p:nvSpPr>
        <p:spPr>
          <a:xfrm>
            <a:off x="7320725" y="1944325"/>
            <a:ext cx="4287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5C08A"/>
                </a:solidFill>
              </a:rPr>
              <a:t>03</a:t>
            </a:r>
            <a:endParaRPr/>
          </a:p>
        </p:txBody>
      </p:sp>
      <p:sp>
        <p:nvSpPr>
          <p:cNvPr id="423" name="Google Shape;423;g3f8c1e5d2d4_0_27"/>
          <p:cNvSpPr/>
          <p:nvPr/>
        </p:nvSpPr>
        <p:spPr>
          <a:xfrm>
            <a:off x="7364400" y="2234988"/>
            <a:ext cx="1981200" cy="18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37586"/>
              </a:buClr>
              <a:buSzPts val="1300"/>
              <a:buChar char="●"/>
            </a:pPr>
            <a:r>
              <a:rPr lang="en-US" sz="1300">
                <a:solidFill>
                  <a:srgbClr val="637586"/>
                </a:solidFill>
              </a:rPr>
              <a:t>ERS</a:t>
            </a:r>
            <a:endParaRPr sz="1300">
              <a:solidFill>
                <a:srgbClr val="637586"/>
              </a:solidFill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37586"/>
              </a:buClr>
              <a:buSzPts val="1300"/>
              <a:buChar char="●"/>
            </a:pPr>
            <a:r>
              <a:rPr lang="en-US" sz="1300">
                <a:solidFill>
                  <a:srgbClr val="637586"/>
                </a:solidFill>
              </a:rPr>
              <a:t>Carta </a:t>
            </a:r>
            <a:r>
              <a:rPr lang="en-US" sz="1300">
                <a:solidFill>
                  <a:srgbClr val="637586"/>
                </a:solidFill>
              </a:rPr>
              <a:t>Gantt</a:t>
            </a:r>
            <a:r>
              <a:rPr lang="en-US" sz="1300">
                <a:solidFill>
                  <a:srgbClr val="637586"/>
                </a:solidFill>
              </a:rPr>
              <a:t> </a:t>
            </a:r>
            <a:endParaRPr sz="1300">
              <a:solidFill>
                <a:srgbClr val="637586"/>
              </a:solidFill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37586"/>
              </a:buClr>
              <a:buSzPts val="1300"/>
              <a:buChar char="●"/>
            </a:pPr>
            <a:r>
              <a:rPr lang="en-US" sz="1300">
                <a:solidFill>
                  <a:srgbClr val="637586"/>
                </a:solidFill>
              </a:rPr>
              <a:t>Riesgos</a:t>
            </a:r>
            <a:endParaRPr sz="1300">
              <a:solidFill>
                <a:srgbClr val="637586"/>
              </a:solidFill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37586"/>
              </a:buClr>
              <a:buSzPts val="1300"/>
              <a:buChar char="●"/>
            </a:pPr>
            <a:r>
              <a:rPr lang="en-US" sz="1300">
                <a:solidFill>
                  <a:srgbClr val="637586"/>
                </a:solidFill>
              </a:rPr>
              <a:t>Plan de </a:t>
            </a:r>
            <a:r>
              <a:rPr lang="en-US" sz="1300">
                <a:solidFill>
                  <a:srgbClr val="637586"/>
                </a:solidFill>
              </a:rPr>
              <a:t>mitigación</a:t>
            </a:r>
            <a:endParaRPr sz="1300">
              <a:solidFill>
                <a:srgbClr val="637586"/>
              </a:solidFill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37586"/>
              </a:buClr>
              <a:buSzPts val="1300"/>
              <a:buChar char="●"/>
            </a:pPr>
            <a:r>
              <a:rPr lang="en-US" sz="1300">
                <a:solidFill>
                  <a:srgbClr val="637586"/>
                </a:solidFill>
              </a:rPr>
              <a:t>REQ Funcionales / no funcionales</a:t>
            </a:r>
            <a:endParaRPr sz="1300">
              <a:solidFill>
                <a:srgbClr val="637586"/>
              </a:solidFill>
            </a:endParaRPr>
          </a:p>
        </p:txBody>
      </p:sp>
      <p:sp>
        <p:nvSpPr>
          <p:cNvPr id="424" name="Google Shape;424;g3f8c1e5d2d4_0_27"/>
          <p:cNvSpPr/>
          <p:nvPr/>
        </p:nvSpPr>
        <p:spPr>
          <a:xfrm>
            <a:off x="7320725" y="4201750"/>
            <a:ext cx="1219200" cy="324000"/>
          </a:xfrm>
          <a:prstGeom prst="roundRect">
            <a:avLst>
              <a:gd fmla="val 23529" name="adj"/>
            </a:avLst>
          </a:prstGeom>
          <a:solidFill>
            <a:srgbClr val="55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f8c1e5d2d4_0_27"/>
          <p:cNvSpPr/>
          <p:nvPr/>
        </p:nvSpPr>
        <p:spPr>
          <a:xfrm>
            <a:off x="7415975" y="4220800"/>
            <a:ext cx="102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B1F33"/>
                </a:solidFill>
              </a:rPr>
              <a:t>FINALIZADO</a:t>
            </a:r>
            <a:endParaRPr/>
          </a:p>
        </p:txBody>
      </p:sp>
      <p:sp>
        <p:nvSpPr>
          <p:cNvPr id="426" name="Google Shape;426;g3f8c1e5d2d4_0_27"/>
          <p:cNvSpPr/>
          <p:nvPr/>
        </p:nvSpPr>
        <p:spPr>
          <a:xfrm>
            <a:off x="4073500" y="1601425"/>
            <a:ext cx="2419500" cy="3143400"/>
          </a:xfrm>
          <a:prstGeom prst="roundRect">
            <a:avLst>
              <a:gd fmla="val 3150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f8c1e5d2d4_0_27"/>
          <p:cNvSpPr/>
          <p:nvPr/>
        </p:nvSpPr>
        <p:spPr>
          <a:xfrm>
            <a:off x="4073500" y="1601425"/>
            <a:ext cx="2419500" cy="95400"/>
          </a:xfrm>
          <a:prstGeom prst="rect">
            <a:avLst/>
          </a:prstGeom>
          <a:solidFill>
            <a:srgbClr val="F5B6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f8c1e5d2d4_0_27"/>
          <p:cNvSpPr/>
          <p:nvPr/>
        </p:nvSpPr>
        <p:spPr>
          <a:xfrm>
            <a:off x="4283050" y="1906225"/>
            <a:ext cx="4287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5B63C"/>
                </a:solidFill>
              </a:rPr>
              <a:t>02</a:t>
            </a:r>
            <a:endParaRPr/>
          </a:p>
        </p:txBody>
      </p:sp>
      <p:sp>
        <p:nvSpPr>
          <p:cNvPr id="429" name="Google Shape;429;g3f8c1e5d2d4_0_27"/>
          <p:cNvSpPr/>
          <p:nvPr/>
        </p:nvSpPr>
        <p:spPr>
          <a:xfrm>
            <a:off x="4151888" y="2715925"/>
            <a:ext cx="1981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586"/>
              </a:buClr>
              <a:buSzPts val="1300"/>
              <a:buChar char="●"/>
            </a:pPr>
            <a:r>
              <a:rPr lang="en-US" sz="1300">
                <a:solidFill>
                  <a:srgbClr val="637586"/>
                </a:solidFill>
              </a:rPr>
              <a:t>Evaluación</a:t>
            </a:r>
            <a:r>
              <a:rPr lang="en-US" sz="1300">
                <a:solidFill>
                  <a:srgbClr val="637586"/>
                </a:solidFill>
              </a:rPr>
              <a:t> Fase 1</a:t>
            </a:r>
            <a:endParaRPr sz="1300">
              <a:solidFill>
                <a:srgbClr val="637586"/>
              </a:solidFill>
            </a:endParaRPr>
          </a:p>
        </p:txBody>
      </p:sp>
      <p:sp>
        <p:nvSpPr>
          <p:cNvPr id="430" name="Google Shape;430;g3f8c1e5d2d4_0_27"/>
          <p:cNvSpPr/>
          <p:nvPr/>
        </p:nvSpPr>
        <p:spPr>
          <a:xfrm>
            <a:off x="4283050" y="4163650"/>
            <a:ext cx="1219200" cy="324000"/>
          </a:xfrm>
          <a:prstGeom prst="roundRect">
            <a:avLst>
              <a:gd fmla="val 23529" name="adj"/>
            </a:avLst>
          </a:prstGeom>
          <a:solidFill>
            <a:srgbClr val="F5B6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f8c1e5d2d4_0_27"/>
          <p:cNvSpPr/>
          <p:nvPr/>
        </p:nvSpPr>
        <p:spPr>
          <a:xfrm>
            <a:off x="4283050" y="4182700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B1F33"/>
                </a:solidFill>
              </a:rPr>
              <a:t>EN PROCESO</a:t>
            </a:r>
            <a:endParaRPr/>
          </a:p>
        </p:txBody>
      </p:sp>
      <p:sp>
        <p:nvSpPr>
          <p:cNvPr id="432" name="Google Shape;432;g3f8c1e5d2d4_0_27"/>
          <p:cNvSpPr/>
          <p:nvPr/>
        </p:nvSpPr>
        <p:spPr>
          <a:xfrm>
            <a:off x="10007450" y="1639525"/>
            <a:ext cx="2419500" cy="3143400"/>
          </a:xfrm>
          <a:prstGeom prst="roundRect">
            <a:avLst>
              <a:gd fmla="val 3150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f8c1e5d2d4_0_27"/>
          <p:cNvSpPr/>
          <p:nvPr/>
        </p:nvSpPr>
        <p:spPr>
          <a:xfrm>
            <a:off x="9997850" y="1563325"/>
            <a:ext cx="2419500" cy="95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f8c1e5d2d4_0_27"/>
          <p:cNvSpPr/>
          <p:nvPr/>
        </p:nvSpPr>
        <p:spPr>
          <a:xfrm>
            <a:off x="10217000" y="1944325"/>
            <a:ext cx="4287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5C08A"/>
                </a:solidFill>
              </a:rPr>
              <a:t>04</a:t>
            </a:r>
            <a:endParaRPr/>
          </a:p>
        </p:txBody>
      </p:sp>
      <p:sp>
        <p:nvSpPr>
          <p:cNvPr id="435" name="Google Shape;435;g3f8c1e5d2d4_0_27"/>
          <p:cNvSpPr/>
          <p:nvPr/>
        </p:nvSpPr>
        <p:spPr>
          <a:xfrm>
            <a:off x="10217000" y="2396825"/>
            <a:ext cx="1981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586"/>
              </a:buClr>
              <a:buSzPts val="1300"/>
              <a:buChar char="●"/>
            </a:pPr>
            <a:r>
              <a:rPr lang="en-US" sz="1300">
                <a:solidFill>
                  <a:srgbClr val="637586"/>
                </a:solidFill>
              </a:rPr>
              <a:t>Arquitectura</a:t>
            </a:r>
            <a:endParaRPr sz="1300">
              <a:solidFill>
                <a:srgbClr val="637586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586"/>
              </a:buClr>
              <a:buSzPts val="1300"/>
              <a:buChar char="●"/>
            </a:pPr>
            <a:r>
              <a:rPr lang="en-US" sz="1300">
                <a:solidFill>
                  <a:srgbClr val="637586"/>
                </a:solidFill>
              </a:rPr>
              <a:t>DAS</a:t>
            </a:r>
            <a:endParaRPr sz="1300">
              <a:solidFill>
                <a:srgbClr val="637586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586"/>
              </a:buClr>
              <a:buSzPts val="1300"/>
              <a:buChar char="●"/>
            </a:pPr>
            <a:r>
              <a:rPr lang="en-US" sz="1300">
                <a:solidFill>
                  <a:srgbClr val="637586"/>
                </a:solidFill>
              </a:rPr>
              <a:t>Mockups</a:t>
            </a:r>
            <a:endParaRPr sz="1300">
              <a:solidFill>
                <a:srgbClr val="637586"/>
              </a:solidFill>
            </a:endParaRPr>
          </a:p>
        </p:txBody>
      </p:sp>
      <p:sp>
        <p:nvSpPr>
          <p:cNvPr id="436" name="Google Shape;436;g3f8c1e5d2d4_0_27"/>
          <p:cNvSpPr/>
          <p:nvPr/>
        </p:nvSpPr>
        <p:spPr>
          <a:xfrm>
            <a:off x="10217000" y="4201750"/>
            <a:ext cx="1219200" cy="324000"/>
          </a:xfrm>
          <a:prstGeom prst="roundRect">
            <a:avLst>
              <a:gd fmla="val 23529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f8c1e5d2d4_0_27"/>
          <p:cNvSpPr/>
          <p:nvPr/>
        </p:nvSpPr>
        <p:spPr>
          <a:xfrm>
            <a:off x="10312250" y="4220800"/>
            <a:ext cx="102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B1F33"/>
                </a:solidFill>
              </a:rPr>
              <a:t>PRÓXIMO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COLABORACIÓN Y EQUIPO</a:t>
            </a:r>
            <a:endParaRPr/>
          </a:p>
        </p:txBody>
      </p:sp>
      <p:sp>
        <p:nvSpPr>
          <p:cNvPr id="445" name="Google Shape;445;p14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Responsabilidades claras, calidad compartida</a:t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4"/>
          <p:cNvSpPr/>
          <p:nvPr/>
        </p:nvSpPr>
        <p:spPr>
          <a:xfrm>
            <a:off x="11158390" y="6381750"/>
            <a:ext cx="419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14</a:t>
            </a:r>
            <a:endParaRPr/>
          </a:p>
        </p:txBody>
      </p:sp>
      <p:sp>
        <p:nvSpPr>
          <p:cNvPr id="448" name="Google Shape;448;p14"/>
          <p:cNvSpPr/>
          <p:nvPr/>
        </p:nvSpPr>
        <p:spPr>
          <a:xfrm>
            <a:off x="609600" y="1752600"/>
            <a:ext cx="3219450" cy="295275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4"/>
          <p:cNvSpPr/>
          <p:nvPr/>
        </p:nvSpPr>
        <p:spPr>
          <a:xfrm>
            <a:off x="876300" y="2019300"/>
            <a:ext cx="533400" cy="5334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876300" y="2800350"/>
            <a:ext cx="2686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SEBASTIÁN VALDÉS</a:t>
            </a: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876300" y="3171825"/>
            <a:ext cx="2686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962FF"/>
                </a:solidFill>
              </a:rPr>
              <a:t>Líder de proyecto</a:t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876300" y="3600450"/>
            <a:ext cx="26860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Coordinación, alcance, plazos y validación.</a:t>
            </a: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4133850" y="1752600"/>
            <a:ext cx="3219450" cy="295275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4400550" y="2019300"/>
            <a:ext cx="533400" cy="533400"/>
          </a:xfrm>
          <a:prstGeom prst="ellipse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4400550" y="2800350"/>
            <a:ext cx="2686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JOSÉ HERRERA</a:t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4400550" y="3171825"/>
            <a:ext cx="2686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6B8D4"/>
                </a:solidFill>
              </a:rPr>
              <a:t>Desarrollador</a:t>
            </a: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4400550" y="3600450"/>
            <a:ext cx="26860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Web, app móvil, lógica e integración.</a:t>
            </a:r>
            <a:endParaRPr/>
          </a:p>
        </p:txBody>
      </p:sp>
      <p:sp>
        <p:nvSpPr>
          <p:cNvPr id="458" name="Google Shape;458;p14"/>
          <p:cNvSpPr/>
          <p:nvPr/>
        </p:nvSpPr>
        <p:spPr>
          <a:xfrm>
            <a:off x="7658100" y="1752600"/>
            <a:ext cx="3219450" cy="295275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7924800" y="2019300"/>
            <a:ext cx="533400" cy="533400"/>
          </a:xfrm>
          <a:prstGeom prst="ellipse">
            <a:avLst/>
          </a:prstGeom>
          <a:solidFill>
            <a:srgbClr val="55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4"/>
          <p:cNvSpPr/>
          <p:nvPr/>
        </p:nvSpPr>
        <p:spPr>
          <a:xfrm>
            <a:off x="7924800" y="2800350"/>
            <a:ext cx="2686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JOSÉ ESPINOZA</a:t>
            </a:r>
            <a:endParaRPr/>
          </a:p>
        </p:txBody>
      </p:sp>
      <p:sp>
        <p:nvSpPr>
          <p:cNvPr id="461" name="Google Shape;461;p14"/>
          <p:cNvSpPr/>
          <p:nvPr/>
        </p:nvSpPr>
        <p:spPr>
          <a:xfrm>
            <a:off x="7924800" y="3171825"/>
            <a:ext cx="2686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5C08A"/>
                </a:solidFill>
              </a:rPr>
              <a:t>BD y arquitectura</a:t>
            </a:r>
            <a:endParaRPr/>
          </a:p>
        </p:txBody>
      </p:sp>
      <p:sp>
        <p:nvSpPr>
          <p:cNvPr id="462" name="Google Shape;462;p14"/>
          <p:cNvSpPr/>
          <p:nvPr/>
        </p:nvSpPr>
        <p:spPr>
          <a:xfrm>
            <a:off x="7924800" y="3600450"/>
            <a:ext cx="26860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Modelo de datos, arquitectura y comunicación.</a:t>
            </a:r>
            <a:endParaRPr/>
          </a:p>
        </p:txBody>
      </p:sp>
      <p:sp>
        <p:nvSpPr>
          <p:cNvPr id="463" name="Google Shape;463;p14"/>
          <p:cNvSpPr/>
          <p:nvPr/>
        </p:nvSpPr>
        <p:spPr>
          <a:xfrm>
            <a:off x="609600" y="5219700"/>
            <a:ext cx="10267950" cy="666750"/>
          </a:xfrm>
          <a:prstGeom prst="roundRect">
            <a:avLst>
              <a:gd fmla="val 11429" name="adj"/>
            </a:avLst>
          </a:prstGeom>
          <a:solidFill>
            <a:srgbClr val="0B1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4"/>
          <p:cNvSpPr/>
          <p:nvPr/>
        </p:nvSpPr>
        <p:spPr>
          <a:xfrm>
            <a:off x="838200" y="5314950"/>
            <a:ext cx="2381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RESPONSABILIDAD CONJUNTA</a:t>
            </a: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3429000" y="5286375"/>
            <a:ext cx="7143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Análisis · revisiones · integración · pruebas · GitHub · reuniones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6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6"/>
          <p:cNvSpPr/>
          <p:nvPr/>
        </p:nvSpPr>
        <p:spPr>
          <a:xfrm>
            <a:off x="685800" y="428625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6B8D4"/>
                </a:solidFill>
              </a:rPr>
              <a:t>CONCLUSIÓN</a:t>
            </a:r>
            <a:endParaRPr/>
          </a:p>
        </p:txBody>
      </p:sp>
      <p:sp>
        <p:nvSpPr>
          <p:cNvPr id="473" name="Google Shape;473;p16"/>
          <p:cNvSpPr/>
          <p:nvPr/>
        </p:nvSpPr>
        <p:spPr>
          <a:xfrm>
            <a:off x="685800" y="866775"/>
            <a:ext cx="10191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</a:rPr>
              <a:t>Cada problema identificado recibe una respuesta concreta</a:t>
            </a:r>
            <a:endParaRPr/>
          </a:p>
        </p:txBody>
      </p:sp>
      <p:sp>
        <p:nvSpPr>
          <p:cNvPr id="474" name="Google Shape;474;p16"/>
          <p:cNvSpPr/>
          <p:nvPr/>
        </p:nvSpPr>
        <p:spPr>
          <a:xfrm>
            <a:off x="685800" y="1752600"/>
            <a:ext cx="2190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6B8D4"/>
                </a:solidFill>
              </a:rPr>
              <a:t>INFORMACIÓN DISPERSA</a:t>
            </a:r>
            <a:endParaRPr/>
          </a:p>
        </p:txBody>
      </p:sp>
      <p:sp>
        <p:nvSpPr>
          <p:cNvPr id="475" name="Google Shape;475;p16"/>
          <p:cNvSpPr/>
          <p:nvPr/>
        </p:nvSpPr>
        <p:spPr>
          <a:xfrm>
            <a:off x="2933700" y="17907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6B8D4"/>
                </a:solidFill>
              </a:rPr>
              <a:t>→</a:t>
            </a:r>
            <a:endParaRPr/>
          </a:p>
        </p:txBody>
      </p:sp>
      <p:sp>
        <p:nvSpPr>
          <p:cNvPr id="476" name="Google Shape;476;p16"/>
          <p:cNvSpPr/>
          <p:nvPr/>
        </p:nvSpPr>
        <p:spPr>
          <a:xfrm>
            <a:off x="3476625" y="1724025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Base de datos centralizada</a:t>
            </a:r>
            <a:endParaRPr/>
          </a:p>
        </p:txBody>
      </p:sp>
      <p:sp>
        <p:nvSpPr>
          <p:cNvPr id="477" name="Google Shape;477;p16"/>
          <p:cNvSpPr/>
          <p:nvPr/>
        </p:nvSpPr>
        <p:spPr>
          <a:xfrm>
            <a:off x="6191250" y="1695450"/>
            <a:ext cx="5191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ADAE6"/>
                </a:solidFill>
              </a:rPr>
              <a:t>Solicitudes, órdenes, clientes y evidencias quedan disponibles en un único sistema.</a:t>
            </a:r>
            <a:endParaRPr/>
          </a:p>
        </p:txBody>
      </p:sp>
      <p:sp>
        <p:nvSpPr>
          <p:cNvPr id="478" name="Google Shape;478;p16"/>
          <p:cNvSpPr/>
          <p:nvPr/>
        </p:nvSpPr>
        <p:spPr>
          <a:xfrm>
            <a:off x="685800" y="2533650"/>
            <a:ext cx="10696575" cy="9525"/>
          </a:xfrm>
          <a:prstGeom prst="rect">
            <a:avLst/>
          </a:prstGeom>
          <a:solidFill>
            <a:srgbClr val="2944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6"/>
          <p:cNvSpPr/>
          <p:nvPr/>
        </p:nvSpPr>
        <p:spPr>
          <a:xfrm>
            <a:off x="685800" y="3009900"/>
            <a:ext cx="2190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6B8D4"/>
                </a:solidFill>
              </a:rPr>
              <a:t>GESTIÓN MANUAL</a:t>
            </a:r>
            <a:endParaRPr/>
          </a:p>
        </p:txBody>
      </p:sp>
      <p:sp>
        <p:nvSpPr>
          <p:cNvPr id="480" name="Google Shape;480;p16"/>
          <p:cNvSpPr/>
          <p:nvPr/>
        </p:nvSpPr>
        <p:spPr>
          <a:xfrm>
            <a:off x="2933700" y="30480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6B8D4"/>
                </a:solidFill>
              </a:rPr>
              <a:t>→</a:t>
            </a:r>
            <a:endParaRPr/>
          </a:p>
        </p:txBody>
      </p:sp>
      <p:sp>
        <p:nvSpPr>
          <p:cNvPr id="481" name="Google Shape;481;p16"/>
          <p:cNvSpPr/>
          <p:nvPr/>
        </p:nvSpPr>
        <p:spPr>
          <a:xfrm>
            <a:off x="3476625" y="2981325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Flujo Web + App + API</a:t>
            </a:r>
            <a:endParaRPr/>
          </a:p>
        </p:txBody>
      </p:sp>
      <p:sp>
        <p:nvSpPr>
          <p:cNvPr id="482" name="Google Shape;482;p16"/>
          <p:cNvSpPr/>
          <p:nvPr/>
        </p:nvSpPr>
        <p:spPr>
          <a:xfrm>
            <a:off x="6191250" y="2952750"/>
            <a:ext cx="5191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ADAE6"/>
                </a:solidFill>
              </a:rPr>
              <a:t>El gestor asigna, el técnico actualiza estados y cada actor consulta la información que necesita.</a:t>
            </a:r>
            <a:endParaRPr/>
          </a:p>
        </p:txBody>
      </p:sp>
      <p:sp>
        <p:nvSpPr>
          <p:cNvPr id="483" name="Google Shape;483;p16"/>
          <p:cNvSpPr/>
          <p:nvPr/>
        </p:nvSpPr>
        <p:spPr>
          <a:xfrm>
            <a:off x="685800" y="3790950"/>
            <a:ext cx="10696575" cy="9525"/>
          </a:xfrm>
          <a:prstGeom prst="rect">
            <a:avLst/>
          </a:prstGeom>
          <a:solidFill>
            <a:srgbClr val="2944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6"/>
          <p:cNvSpPr/>
          <p:nvPr/>
        </p:nvSpPr>
        <p:spPr>
          <a:xfrm>
            <a:off x="685800" y="4267200"/>
            <a:ext cx="2190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6B8D4"/>
                </a:solidFill>
              </a:rPr>
              <a:t>BAJA TRAZABILIDAD</a:t>
            </a:r>
            <a:endParaRPr/>
          </a:p>
        </p:txBody>
      </p:sp>
      <p:sp>
        <p:nvSpPr>
          <p:cNvPr id="485" name="Google Shape;485;p16"/>
          <p:cNvSpPr/>
          <p:nvPr/>
        </p:nvSpPr>
        <p:spPr>
          <a:xfrm>
            <a:off x="2933700" y="4305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6B8D4"/>
                </a:solidFill>
              </a:rPr>
              <a:t>→</a:t>
            </a:r>
            <a:endParaRPr/>
          </a:p>
        </p:txBody>
      </p:sp>
      <p:sp>
        <p:nvSpPr>
          <p:cNvPr id="486" name="Google Shape;486;p16"/>
          <p:cNvSpPr/>
          <p:nvPr/>
        </p:nvSpPr>
        <p:spPr>
          <a:xfrm>
            <a:off x="3476625" y="4238625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Códigos, estados e historial</a:t>
            </a:r>
            <a:endParaRPr/>
          </a:p>
        </p:txBody>
      </p:sp>
      <p:sp>
        <p:nvSpPr>
          <p:cNvPr id="487" name="Google Shape;487;p16"/>
          <p:cNvSpPr/>
          <p:nvPr/>
        </p:nvSpPr>
        <p:spPr>
          <a:xfrm>
            <a:off x="6191250" y="4210050"/>
            <a:ext cx="5191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ADAE6"/>
                </a:solidFill>
              </a:rPr>
              <a:t>El inicio, ejecución y cierre quedan verificados, fechados y respaldados con observaciones y fotografías.</a:t>
            </a:r>
            <a:endParaRPr/>
          </a:p>
        </p:txBody>
      </p:sp>
      <p:sp>
        <p:nvSpPr>
          <p:cNvPr id="488" name="Google Shape;488;p16"/>
          <p:cNvSpPr/>
          <p:nvPr/>
        </p:nvSpPr>
        <p:spPr>
          <a:xfrm>
            <a:off x="685800" y="5048250"/>
            <a:ext cx="10696575" cy="9525"/>
          </a:xfrm>
          <a:prstGeom prst="rect">
            <a:avLst/>
          </a:prstGeom>
          <a:solidFill>
            <a:srgbClr val="2944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6"/>
          <p:cNvSpPr/>
          <p:nvPr/>
        </p:nvSpPr>
        <p:spPr>
          <a:xfrm>
            <a:off x="685800" y="5705475"/>
            <a:ext cx="7524750" cy="552450"/>
          </a:xfrm>
          <a:prstGeom prst="roundRect">
            <a:avLst>
              <a:gd fmla="val 13793" name="adj"/>
            </a:avLst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6"/>
          <p:cNvSpPr/>
          <p:nvPr/>
        </p:nvSpPr>
        <p:spPr>
          <a:xfrm>
            <a:off x="895350" y="5791200"/>
            <a:ext cx="71056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Resultado: una operación centralizada, coordinada y trazable.</a:t>
            </a:r>
            <a:endParaRPr/>
          </a:p>
        </p:txBody>
      </p:sp>
      <p:sp>
        <p:nvSpPr>
          <p:cNvPr id="491" name="Google Shape;491;p16"/>
          <p:cNvSpPr/>
          <p:nvPr/>
        </p:nvSpPr>
        <p:spPr>
          <a:xfrm>
            <a:off x="11144250" y="6438900"/>
            <a:ext cx="419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15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Tecnico Ya">
      <a:dk1>
        <a:srgbClr val="071521"/>
      </a:dk1>
      <a:lt1>
        <a:srgbClr val="FFFFFF"/>
      </a:lt1>
      <a:dk2>
        <a:srgbClr val="153047"/>
      </a:dk2>
      <a:lt2>
        <a:srgbClr val="DCE7EF"/>
      </a:lt2>
      <a:accent1>
        <a:srgbClr val="16B8D4"/>
      </a:accent1>
      <a:accent2>
        <a:srgbClr val="2962FF"/>
      </a:accent2>
      <a:accent3>
        <a:srgbClr val="F5B63C"/>
      </a:accent3>
      <a:accent4>
        <a:srgbClr val="55C08A"/>
      </a:accent4>
      <a:accent5>
        <a:srgbClr val="9F7AEA"/>
      </a:accent5>
      <a:accent6>
        <a:srgbClr val="FF6B6B"/>
      </a:accent6>
      <a:hlink>
        <a:srgbClr val="16B8D4"/>
      </a:hlink>
      <a:folHlink>
        <a:srgbClr val="9F7A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Tecnico Ya">
      <a:dk1>
        <a:srgbClr val="071521"/>
      </a:dk1>
      <a:lt1>
        <a:srgbClr val="FFFFFF"/>
      </a:lt1>
      <a:dk2>
        <a:srgbClr val="153047"/>
      </a:dk2>
      <a:lt2>
        <a:srgbClr val="DCE7EF"/>
      </a:lt2>
      <a:accent1>
        <a:srgbClr val="16B8D4"/>
      </a:accent1>
      <a:accent2>
        <a:srgbClr val="2962FF"/>
      </a:accent2>
      <a:accent3>
        <a:srgbClr val="F5B63C"/>
      </a:accent3>
      <a:accent4>
        <a:srgbClr val="55C08A"/>
      </a:accent4>
      <a:accent5>
        <a:srgbClr val="9F7AEA"/>
      </a:accent5>
      <a:accent6>
        <a:srgbClr val="FF6B6B"/>
      </a:accent6>
      <a:hlink>
        <a:srgbClr val="16B8D4"/>
      </a:hlink>
      <a:folHlink>
        <a:srgbClr val="9F7A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