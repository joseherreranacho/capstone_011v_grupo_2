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5" roundtripDataSignature="AMtx7mg7Krk8lhUgiUXnMQhwo7x4DikXH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customschemas.google.com/relationships/presentationmetadata" Target="metadata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fb3313f2b4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g3fb3313f2b4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95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2841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685800" y="566928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28414"/>
                </a:solidFill>
                <a:latin typeface="Arial"/>
                <a:ea typeface="Arial"/>
                <a:cs typeface="Arial"/>
                <a:sym typeface="Arial"/>
              </a:rPr>
              <a:t>JJV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685800" y="1188720"/>
            <a:ext cx="6400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TÉCNICO YA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713232" y="196596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Seguimiento de avance del proyecto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731520" y="2560320"/>
            <a:ext cx="8961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D7E1EB"/>
                </a:solidFill>
                <a:latin typeface="Arial"/>
                <a:ea typeface="Arial"/>
                <a:cs typeface="Arial"/>
                <a:sym typeface="Arial"/>
              </a:rPr>
              <a:t>Primera entrega · Inicio de Fase 2: Arquitectura de Software</a:t>
            </a:r>
            <a:endParaRPr/>
          </a:p>
        </p:txBody>
      </p:sp>
      <p:sp>
        <p:nvSpPr>
          <p:cNvPr id="90" name="Google Shape;90;p1"/>
          <p:cNvSpPr/>
          <p:nvPr/>
        </p:nvSpPr>
        <p:spPr>
          <a:xfrm>
            <a:off x="713232" y="3886200"/>
            <a:ext cx="5303520" cy="1051560"/>
          </a:xfrm>
          <a:prstGeom prst="roundRect">
            <a:avLst>
              <a:gd fmla="val 16667" name="adj"/>
            </a:avLst>
          </a:prstGeom>
          <a:solidFill>
            <a:srgbClr val="1E4B7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932688" y="4096512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B9CDDC"/>
                </a:solidFill>
                <a:latin typeface="Arial"/>
                <a:ea typeface="Arial"/>
                <a:cs typeface="Arial"/>
                <a:sym typeface="Arial"/>
              </a:rPr>
              <a:t>ESTADO DEL PROYECTO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932688" y="4361688"/>
            <a:ext cx="2194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33% de avance</a:t>
            </a:r>
            <a:endParaRPr/>
          </a:p>
        </p:txBody>
      </p:sp>
      <p:sp>
        <p:nvSpPr>
          <p:cNvPr id="93" name="Google Shape;93;p1"/>
          <p:cNvSpPr txBox="1"/>
          <p:nvPr/>
        </p:nvSpPr>
        <p:spPr>
          <a:xfrm>
            <a:off x="3090672" y="4370832"/>
            <a:ext cx="2468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28414"/>
                </a:solidFill>
                <a:latin typeface="Arial"/>
                <a:ea typeface="Arial"/>
                <a:cs typeface="Arial"/>
                <a:sym typeface="Arial"/>
              </a:rPr>
              <a:t>Real = Planificado</a:t>
            </a:r>
            <a:endParaRPr/>
          </a:p>
        </p:txBody>
      </p:sp>
      <p:sp>
        <p:nvSpPr>
          <p:cNvPr id="94" name="Google Shape;94;p1"/>
          <p:cNvSpPr txBox="1"/>
          <p:nvPr/>
        </p:nvSpPr>
        <p:spPr>
          <a:xfrm>
            <a:off x="8823960" y="608076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CDD7E1"/>
                </a:solidFill>
                <a:latin typeface="Arial"/>
                <a:ea typeface="Arial"/>
                <a:cs typeface="Arial"/>
                <a:sym typeface="Arial"/>
              </a:rPr>
              <a:t>11 septiembre 2026</a:t>
            </a:r>
            <a:endParaRPr/>
          </a:p>
        </p:txBody>
      </p:sp>
      <p:sp>
        <p:nvSpPr>
          <p:cNvPr id="95" name="Google Shape;95;p1"/>
          <p:cNvSpPr txBox="1"/>
          <p:nvPr/>
        </p:nvSpPr>
        <p:spPr>
          <a:xfrm>
            <a:off x="731520" y="608076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DD7E1"/>
                </a:solidFill>
                <a:latin typeface="Arial"/>
                <a:ea typeface="Arial"/>
                <a:cs typeface="Arial"/>
                <a:sym typeface="Arial"/>
              </a:rPr>
              <a:t>Sebastián Valdés · José Herrera · José Espinoza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594360" y="347472"/>
            <a:ext cx="10332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4395B"/>
                </a:solidFill>
                <a:latin typeface="Arial"/>
                <a:ea typeface="Arial"/>
                <a:cs typeface="Arial"/>
                <a:sym typeface="Arial"/>
              </a:rPr>
              <a:t>Resumen ejecutivo</a:t>
            </a:r>
            <a:endParaRPr/>
          </a:p>
        </p:txBody>
      </p:sp>
      <p:sp>
        <p:nvSpPr>
          <p:cNvPr id="102" name="Google Shape;102;p2"/>
          <p:cNvSpPr txBox="1"/>
          <p:nvPr/>
        </p:nvSpPr>
        <p:spPr>
          <a:xfrm>
            <a:off x="612648" y="859536"/>
            <a:ext cx="10424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646E78"/>
                </a:solidFill>
                <a:latin typeface="Arial"/>
                <a:ea typeface="Arial"/>
                <a:cs typeface="Arial"/>
                <a:sym typeface="Arial"/>
              </a:rPr>
              <a:t>Estado actual y lectura del avance</a:t>
            </a:r>
            <a:endParaRPr/>
          </a:p>
        </p:txBody>
      </p:sp>
      <p:sp>
        <p:nvSpPr>
          <p:cNvPr id="103" name="Google Shape;103;p2"/>
          <p:cNvSpPr/>
          <p:nvPr/>
        </p:nvSpPr>
        <p:spPr>
          <a:xfrm>
            <a:off x="640080" y="1325880"/>
            <a:ext cx="2514600" cy="1417320"/>
          </a:xfrm>
          <a:prstGeom prst="roundRect">
            <a:avLst>
              <a:gd fmla="val 16667" name="adj"/>
            </a:avLst>
          </a:prstGeom>
          <a:solidFill>
            <a:srgbClr val="E0F2E8"/>
          </a:solidFill>
          <a:ln cap="flat" cmpd="sng" w="9525">
            <a:solidFill>
              <a:srgbClr val="DCE1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804671" y="1463039"/>
            <a:ext cx="218541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646E78"/>
                </a:solidFill>
                <a:latin typeface="Arial"/>
                <a:ea typeface="Arial"/>
                <a:cs typeface="Arial"/>
                <a:sym typeface="Arial"/>
              </a:rPr>
              <a:t>FASE 1</a:t>
            </a:r>
            <a:endParaRPr/>
          </a:p>
        </p:txBody>
      </p:sp>
      <p:sp>
        <p:nvSpPr>
          <p:cNvPr id="105" name="Google Shape;105;p2"/>
          <p:cNvSpPr txBox="1"/>
          <p:nvPr/>
        </p:nvSpPr>
        <p:spPr>
          <a:xfrm>
            <a:off x="804671" y="1764792"/>
            <a:ext cx="218541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277D55"/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  <a:endParaRPr/>
          </a:p>
        </p:txBody>
      </p:sp>
      <p:sp>
        <p:nvSpPr>
          <p:cNvPr id="106" name="Google Shape;106;p2"/>
          <p:cNvSpPr txBox="1"/>
          <p:nvPr/>
        </p:nvSpPr>
        <p:spPr>
          <a:xfrm>
            <a:off x="804671" y="2240280"/>
            <a:ext cx="2185416" cy="3931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32D37"/>
                </a:solidFill>
                <a:latin typeface="Arial"/>
                <a:ea typeface="Arial"/>
                <a:cs typeface="Arial"/>
                <a:sym typeface="Arial"/>
              </a:rPr>
              <a:t>Análisis y definición completados.</a:t>
            </a:r>
            <a:endParaRPr/>
          </a:p>
        </p:txBody>
      </p:sp>
      <p:sp>
        <p:nvSpPr>
          <p:cNvPr id="107" name="Google Shape;107;p2"/>
          <p:cNvSpPr/>
          <p:nvPr/>
        </p:nvSpPr>
        <p:spPr>
          <a:xfrm>
            <a:off x="3337560" y="1325880"/>
            <a:ext cx="2514600" cy="1417320"/>
          </a:xfrm>
          <a:prstGeom prst="roundRect">
            <a:avLst>
              <a:gd fmla="val 16667" name="adj"/>
            </a:avLst>
          </a:prstGeom>
          <a:solidFill>
            <a:srgbClr val="F4F6F8"/>
          </a:solidFill>
          <a:ln cap="flat" cmpd="sng" w="9525">
            <a:solidFill>
              <a:srgbClr val="DCE1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3502152" y="1463039"/>
            <a:ext cx="218541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646E78"/>
                </a:solidFill>
                <a:latin typeface="Arial"/>
                <a:ea typeface="Arial"/>
                <a:cs typeface="Arial"/>
                <a:sym typeface="Arial"/>
              </a:rPr>
              <a:t>AVANCE REAL</a:t>
            </a:r>
            <a:endParaRPr/>
          </a:p>
        </p:txBody>
      </p:sp>
      <p:sp>
        <p:nvSpPr>
          <p:cNvPr id="109" name="Google Shape;109;p2"/>
          <p:cNvSpPr txBox="1"/>
          <p:nvPr/>
        </p:nvSpPr>
        <p:spPr>
          <a:xfrm>
            <a:off x="3502152" y="1764792"/>
            <a:ext cx="218541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14395B"/>
                </a:solidFill>
                <a:latin typeface="Arial"/>
                <a:ea typeface="Arial"/>
                <a:cs typeface="Arial"/>
                <a:sym typeface="Arial"/>
              </a:rPr>
              <a:t>33%</a:t>
            </a:r>
            <a:endParaRPr/>
          </a:p>
        </p:txBody>
      </p:sp>
      <p:sp>
        <p:nvSpPr>
          <p:cNvPr id="110" name="Google Shape;110;p2"/>
          <p:cNvSpPr txBox="1"/>
          <p:nvPr/>
        </p:nvSpPr>
        <p:spPr>
          <a:xfrm>
            <a:off x="3502152" y="2240280"/>
            <a:ext cx="2185416" cy="3931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32D37"/>
                </a:solidFill>
                <a:latin typeface="Arial"/>
                <a:ea typeface="Arial"/>
                <a:cs typeface="Arial"/>
                <a:sym typeface="Arial"/>
              </a:rPr>
              <a:t>Según seguimiento actual.</a:t>
            </a:r>
            <a:endParaRPr/>
          </a:p>
        </p:txBody>
      </p:sp>
      <p:sp>
        <p:nvSpPr>
          <p:cNvPr id="111" name="Google Shape;111;p2"/>
          <p:cNvSpPr/>
          <p:nvPr/>
        </p:nvSpPr>
        <p:spPr>
          <a:xfrm>
            <a:off x="6035040" y="1325880"/>
            <a:ext cx="2514600" cy="1417320"/>
          </a:xfrm>
          <a:prstGeom prst="roundRect">
            <a:avLst>
              <a:gd fmla="val 16667" name="adj"/>
            </a:avLst>
          </a:prstGeom>
          <a:solidFill>
            <a:srgbClr val="FFEFDA"/>
          </a:solidFill>
          <a:ln cap="flat" cmpd="sng" w="9525">
            <a:solidFill>
              <a:srgbClr val="DCE1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6199631" y="1463039"/>
            <a:ext cx="218541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646E78"/>
                </a:solidFill>
                <a:latin typeface="Arial"/>
                <a:ea typeface="Arial"/>
                <a:cs typeface="Arial"/>
                <a:sym typeface="Arial"/>
              </a:rPr>
              <a:t>AVANCE PLANIFICADO</a:t>
            </a:r>
            <a:endParaRPr/>
          </a:p>
        </p:txBody>
      </p:sp>
      <p:sp>
        <p:nvSpPr>
          <p:cNvPr id="113" name="Google Shape;113;p2"/>
          <p:cNvSpPr txBox="1"/>
          <p:nvPr/>
        </p:nvSpPr>
        <p:spPr>
          <a:xfrm>
            <a:off x="6199631" y="1764792"/>
            <a:ext cx="218541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28414"/>
                </a:solidFill>
                <a:latin typeface="Arial"/>
                <a:ea typeface="Arial"/>
                <a:cs typeface="Arial"/>
                <a:sym typeface="Arial"/>
              </a:rPr>
              <a:t>33%</a:t>
            </a:r>
            <a:endParaRPr/>
          </a:p>
        </p:txBody>
      </p:sp>
      <p:sp>
        <p:nvSpPr>
          <p:cNvPr id="114" name="Google Shape;114;p2"/>
          <p:cNvSpPr txBox="1"/>
          <p:nvPr/>
        </p:nvSpPr>
        <p:spPr>
          <a:xfrm>
            <a:off x="6199631" y="2240280"/>
            <a:ext cx="2185416" cy="3931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32D37"/>
                </a:solidFill>
                <a:latin typeface="Arial"/>
                <a:ea typeface="Arial"/>
                <a:cs typeface="Arial"/>
                <a:sym typeface="Arial"/>
              </a:rPr>
              <a:t>Según planificación/Gantt.</a:t>
            </a:r>
            <a:endParaRPr/>
          </a:p>
        </p:txBody>
      </p:sp>
      <p:sp>
        <p:nvSpPr>
          <p:cNvPr id="115" name="Google Shape;115;p2"/>
          <p:cNvSpPr/>
          <p:nvPr/>
        </p:nvSpPr>
        <p:spPr>
          <a:xfrm>
            <a:off x="8732520" y="1325880"/>
            <a:ext cx="2514600" cy="1417320"/>
          </a:xfrm>
          <a:prstGeom prst="roundRect">
            <a:avLst>
              <a:gd fmla="val 16667" name="adj"/>
            </a:avLst>
          </a:prstGeom>
          <a:solidFill>
            <a:srgbClr val="E0F2E8"/>
          </a:solidFill>
          <a:ln cap="flat" cmpd="sng" w="9525">
            <a:solidFill>
              <a:srgbClr val="DCE1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"/>
          <p:cNvSpPr txBox="1"/>
          <p:nvPr/>
        </p:nvSpPr>
        <p:spPr>
          <a:xfrm>
            <a:off x="8897112" y="1463039"/>
            <a:ext cx="218541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646E78"/>
                </a:solidFill>
                <a:latin typeface="Arial"/>
                <a:ea typeface="Arial"/>
                <a:cs typeface="Arial"/>
                <a:sym typeface="Arial"/>
              </a:rPr>
              <a:t>DESVIACIÓN</a:t>
            </a:r>
            <a:endParaRPr/>
          </a:p>
        </p:txBody>
      </p:sp>
      <p:sp>
        <p:nvSpPr>
          <p:cNvPr id="117" name="Google Shape;117;p2"/>
          <p:cNvSpPr txBox="1"/>
          <p:nvPr/>
        </p:nvSpPr>
        <p:spPr>
          <a:xfrm>
            <a:off x="8897112" y="1764792"/>
            <a:ext cx="218541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277D55"/>
                </a:solidFill>
                <a:latin typeface="Arial"/>
                <a:ea typeface="Arial"/>
                <a:cs typeface="Arial"/>
                <a:sym typeface="Arial"/>
              </a:rPr>
              <a:t>0%</a:t>
            </a:r>
            <a:endParaRPr/>
          </a:p>
        </p:txBody>
      </p:sp>
      <p:sp>
        <p:nvSpPr>
          <p:cNvPr id="118" name="Google Shape;118;p2"/>
          <p:cNvSpPr txBox="1"/>
          <p:nvPr/>
        </p:nvSpPr>
        <p:spPr>
          <a:xfrm>
            <a:off x="8897112" y="2240280"/>
            <a:ext cx="2185416" cy="3931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32D37"/>
                </a:solidFill>
                <a:latin typeface="Arial"/>
                <a:ea typeface="Arial"/>
                <a:cs typeface="Arial"/>
                <a:sym typeface="Arial"/>
              </a:rPr>
              <a:t>Real − planificado.</a:t>
            </a:r>
            <a:endParaRPr/>
          </a:p>
        </p:txBody>
      </p:sp>
      <p:sp>
        <p:nvSpPr>
          <p:cNvPr id="119" name="Google Shape;119;p2"/>
          <p:cNvSpPr/>
          <p:nvPr/>
        </p:nvSpPr>
        <p:spPr>
          <a:xfrm>
            <a:off x="640080" y="3063240"/>
            <a:ext cx="10607040" cy="2514600"/>
          </a:xfrm>
          <a:prstGeom prst="roundRect">
            <a:avLst>
              <a:gd fmla="val 16667" name="adj"/>
            </a:avLst>
          </a:prstGeom>
          <a:solidFill>
            <a:srgbClr val="F4F6F8"/>
          </a:solidFill>
          <a:ln cap="flat" cmpd="sng" w="9525">
            <a:solidFill>
              <a:srgbClr val="DCE1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"/>
          <p:cNvSpPr txBox="1"/>
          <p:nvPr/>
        </p:nvSpPr>
        <p:spPr>
          <a:xfrm>
            <a:off x="896112" y="333756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4395B"/>
                </a:solidFill>
                <a:latin typeface="Arial"/>
                <a:ea typeface="Arial"/>
                <a:cs typeface="Arial"/>
                <a:sym typeface="Arial"/>
              </a:rPr>
              <a:t>Lectura del estado</a:t>
            </a:r>
            <a:endParaRPr/>
          </a:p>
        </p:txBody>
      </p:sp>
      <p:sp>
        <p:nvSpPr>
          <p:cNvPr id="121" name="Google Shape;121;p2"/>
          <p:cNvSpPr txBox="1"/>
          <p:nvPr/>
        </p:nvSpPr>
        <p:spPr>
          <a:xfrm>
            <a:off x="896112" y="3703320"/>
            <a:ext cx="987552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232D37"/>
                </a:solidFill>
                <a:latin typeface="Arial"/>
                <a:ea typeface="Arial"/>
                <a:cs typeface="Arial"/>
                <a:sym typeface="Arial"/>
              </a:rPr>
              <a:t>• La Fase 1 está cerrada y dejó como base el ERS, requisitos priorizados, reglas de negocio, historias de usuario y riesgos.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232D37"/>
                </a:solidFill>
                <a:latin typeface="Arial"/>
                <a:ea typeface="Arial"/>
                <a:cs typeface="Arial"/>
                <a:sym typeface="Arial"/>
              </a:rPr>
              <a:t>• La Fase 2 está iniciando: el foco pasa desde la definición hacia arquitectura, modelo de datos, UML, mockups y DAS.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232D37"/>
                </a:solidFill>
                <a:latin typeface="Arial"/>
                <a:ea typeface="Arial"/>
                <a:cs typeface="Arial"/>
                <a:sym typeface="Arial"/>
              </a:rPr>
              <a:t>• No existe desviación respecto del avance planificado; el principal desafío es sostener el ritmo durante las próximas semanas.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232D37"/>
                </a:solidFill>
                <a:latin typeface="Arial"/>
                <a:ea typeface="Arial"/>
                <a:cs typeface="Arial"/>
                <a:sym typeface="Arial"/>
              </a:rPr>
              <a:t>• La estrategia es controlar el alcance y validar la coherencia entre requisitos, arquitectura y base de datos.</a:t>
            </a:r>
            <a:endParaRPr/>
          </a:p>
        </p:txBody>
      </p:sp>
      <p:sp>
        <p:nvSpPr>
          <p:cNvPr id="122" name="Google Shape;122;p2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46E78"/>
                </a:solidFill>
                <a:latin typeface="Arial"/>
                <a:ea typeface="Arial"/>
                <a:cs typeface="Arial"/>
                <a:sym typeface="Arial"/>
              </a:rPr>
              <a:t>JJV Técnico Ya · Seguimiento de proyecto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"/>
          <p:cNvSpPr/>
          <p:nvPr/>
        </p:nvSpPr>
        <p:spPr>
          <a:xfrm>
            <a:off x="-12" y="26975"/>
            <a:ext cx="121917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 txBox="1"/>
          <p:nvPr/>
        </p:nvSpPr>
        <p:spPr>
          <a:xfrm>
            <a:off x="594360" y="347472"/>
            <a:ext cx="10332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4395B"/>
                </a:solidFill>
                <a:latin typeface="Arial"/>
                <a:ea typeface="Arial"/>
                <a:cs typeface="Arial"/>
                <a:sym typeface="Arial"/>
              </a:rPr>
              <a:t>Plan de trabajo y tiempos</a:t>
            </a:r>
            <a:endParaRPr/>
          </a:p>
        </p:txBody>
      </p:sp>
      <p:sp>
        <p:nvSpPr>
          <p:cNvPr id="129" name="Google Shape;129;p3"/>
          <p:cNvSpPr txBox="1"/>
          <p:nvPr/>
        </p:nvSpPr>
        <p:spPr>
          <a:xfrm>
            <a:off x="612648" y="859536"/>
            <a:ext cx="10424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646E78"/>
                </a:solidFill>
                <a:latin typeface="Arial"/>
                <a:ea typeface="Arial"/>
                <a:cs typeface="Arial"/>
                <a:sym typeface="Arial"/>
              </a:rPr>
              <a:t>Calendario general del proyecto: agosto a diciembre de 2026</a:t>
            </a:r>
            <a:endParaRPr/>
          </a:p>
        </p:txBody>
      </p:sp>
      <p:sp>
        <p:nvSpPr>
          <p:cNvPr id="130" name="Google Shape;130;p3"/>
          <p:cNvSpPr/>
          <p:nvPr/>
        </p:nvSpPr>
        <p:spPr>
          <a:xfrm>
            <a:off x="914400" y="1417320"/>
            <a:ext cx="1353312" cy="438912"/>
          </a:xfrm>
          <a:prstGeom prst="rect">
            <a:avLst/>
          </a:prstGeom>
          <a:solidFill>
            <a:srgbClr val="14395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3"/>
          <p:cNvSpPr txBox="1"/>
          <p:nvPr/>
        </p:nvSpPr>
        <p:spPr>
          <a:xfrm>
            <a:off x="914400" y="1453896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AGO</a:t>
            </a:r>
            <a:endParaRPr/>
          </a:p>
        </p:txBody>
      </p:sp>
      <p:sp>
        <p:nvSpPr>
          <p:cNvPr id="132" name="Google Shape;132;p3"/>
          <p:cNvSpPr/>
          <p:nvPr/>
        </p:nvSpPr>
        <p:spPr>
          <a:xfrm>
            <a:off x="2423160" y="1417320"/>
            <a:ext cx="1353312" cy="438912"/>
          </a:xfrm>
          <a:prstGeom prst="rect">
            <a:avLst/>
          </a:prstGeom>
          <a:solidFill>
            <a:srgbClr val="14395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3"/>
          <p:cNvSpPr txBox="1"/>
          <p:nvPr/>
        </p:nvSpPr>
        <p:spPr>
          <a:xfrm>
            <a:off x="2423160" y="1453896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SEP</a:t>
            </a:r>
            <a:endParaRPr/>
          </a:p>
        </p:txBody>
      </p:sp>
      <p:sp>
        <p:nvSpPr>
          <p:cNvPr id="134" name="Google Shape;134;p3"/>
          <p:cNvSpPr/>
          <p:nvPr/>
        </p:nvSpPr>
        <p:spPr>
          <a:xfrm>
            <a:off x="3931920" y="1417320"/>
            <a:ext cx="1353312" cy="438912"/>
          </a:xfrm>
          <a:prstGeom prst="rect">
            <a:avLst/>
          </a:prstGeom>
          <a:solidFill>
            <a:srgbClr val="14395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3"/>
          <p:cNvSpPr txBox="1"/>
          <p:nvPr/>
        </p:nvSpPr>
        <p:spPr>
          <a:xfrm>
            <a:off x="3931920" y="1453896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OCT</a:t>
            </a:r>
            <a:endParaRPr/>
          </a:p>
        </p:txBody>
      </p:sp>
      <p:sp>
        <p:nvSpPr>
          <p:cNvPr id="136" name="Google Shape;136;p3"/>
          <p:cNvSpPr/>
          <p:nvPr/>
        </p:nvSpPr>
        <p:spPr>
          <a:xfrm>
            <a:off x="5440680" y="1417320"/>
            <a:ext cx="1353312" cy="438912"/>
          </a:xfrm>
          <a:prstGeom prst="rect">
            <a:avLst/>
          </a:prstGeom>
          <a:solidFill>
            <a:srgbClr val="14395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3"/>
          <p:cNvSpPr txBox="1"/>
          <p:nvPr/>
        </p:nvSpPr>
        <p:spPr>
          <a:xfrm>
            <a:off x="5440680" y="1453896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NOV</a:t>
            </a:r>
            <a:endParaRPr/>
          </a:p>
        </p:txBody>
      </p:sp>
      <p:sp>
        <p:nvSpPr>
          <p:cNvPr id="138" name="Google Shape;138;p3"/>
          <p:cNvSpPr/>
          <p:nvPr/>
        </p:nvSpPr>
        <p:spPr>
          <a:xfrm>
            <a:off x="6949440" y="1417320"/>
            <a:ext cx="1353312" cy="438912"/>
          </a:xfrm>
          <a:prstGeom prst="rect">
            <a:avLst/>
          </a:prstGeom>
          <a:solidFill>
            <a:srgbClr val="14395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3"/>
          <p:cNvSpPr txBox="1"/>
          <p:nvPr/>
        </p:nvSpPr>
        <p:spPr>
          <a:xfrm>
            <a:off x="6949440" y="1453896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DIC</a:t>
            </a:r>
            <a:endParaRPr/>
          </a:p>
        </p:txBody>
      </p:sp>
      <p:cxnSp>
        <p:nvCxnSpPr>
          <p:cNvPr id="140" name="Google Shape;140;p3"/>
          <p:cNvCxnSpPr/>
          <p:nvPr/>
        </p:nvCxnSpPr>
        <p:spPr>
          <a:xfrm>
            <a:off x="914400" y="1856231"/>
            <a:ext cx="0" cy="4133089"/>
          </a:xfrm>
          <a:prstGeom prst="straightConnector1">
            <a:avLst/>
          </a:prstGeom>
          <a:noFill/>
          <a:ln cap="flat" cmpd="sng" w="9525">
            <a:solidFill>
              <a:srgbClr val="DCE1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41" name="Google Shape;141;p3"/>
          <p:cNvCxnSpPr/>
          <p:nvPr/>
        </p:nvCxnSpPr>
        <p:spPr>
          <a:xfrm>
            <a:off x="1292047" y="1856231"/>
            <a:ext cx="0" cy="4133089"/>
          </a:xfrm>
          <a:prstGeom prst="straightConnector1">
            <a:avLst/>
          </a:prstGeom>
          <a:noFill/>
          <a:ln cap="flat" cmpd="sng" w="9525">
            <a:solidFill>
              <a:srgbClr val="DCE1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42" name="Google Shape;142;p3"/>
          <p:cNvCxnSpPr/>
          <p:nvPr/>
        </p:nvCxnSpPr>
        <p:spPr>
          <a:xfrm>
            <a:off x="1669694" y="1856231"/>
            <a:ext cx="0" cy="4133089"/>
          </a:xfrm>
          <a:prstGeom prst="straightConnector1">
            <a:avLst/>
          </a:prstGeom>
          <a:noFill/>
          <a:ln cap="flat" cmpd="sng" w="9525">
            <a:solidFill>
              <a:srgbClr val="DCE1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43" name="Google Shape;143;p3"/>
          <p:cNvCxnSpPr/>
          <p:nvPr/>
        </p:nvCxnSpPr>
        <p:spPr>
          <a:xfrm>
            <a:off x="2047341" y="1856231"/>
            <a:ext cx="0" cy="4133089"/>
          </a:xfrm>
          <a:prstGeom prst="straightConnector1">
            <a:avLst/>
          </a:prstGeom>
          <a:noFill/>
          <a:ln cap="flat" cmpd="sng" w="9525">
            <a:solidFill>
              <a:srgbClr val="DCE1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44" name="Google Shape;144;p3"/>
          <p:cNvCxnSpPr/>
          <p:nvPr/>
        </p:nvCxnSpPr>
        <p:spPr>
          <a:xfrm>
            <a:off x="2424988" y="1856231"/>
            <a:ext cx="0" cy="4133089"/>
          </a:xfrm>
          <a:prstGeom prst="straightConnector1">
            <a:avLst/>
          </a:prstGeom>
          <a:noFill/>
          <a:ln cap="flat" cmpd="sng" w="9525">
            <a:solidFill>
              <a:srgbClr val="DCE1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45" name="Google Shape;145;p3"/>
          <p:cNvCxnSpPr/>
          <p:nvPr/>
        </p:nvCxnSpPr>
        <p:spPr>
          <a:xfrm>
            <a:off x="2802636" y="1856231"/>
            <a:ext cx="0" cy="4133089"/>
          </a:xfrm>
          <a:prstGeom prst="straightConnector1">
            <a:avLst/>
          </a:prstGeom>
          <a:noFill/>
          <a:ln cap="flat" cmpd="sng" w="9525">
            <a:solidFill>
              <a:srgbClr val="DCE1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46" name="Google Shape;146;p3"/>
          <p:cNvCxnSpPr/>
          <p:nvPr/>
        </p:nvCxnSpPr>
        <p:spPr>
          <a:xfrm>
            <a:off x="3180283" y="1856231"/>
            <a:ext cx="0" cy="4133089"/>
          </a:xfrm>
          <a:prstGeom prst="straightConnector1">
            <a:avLst/>
          </a:prstGeom>
          <a:noFill/>
          <a:ln cap="flat" cmpd="sng" w="9525">
            <a:solidFill>
              <a:srgbClr val="DCE1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47" name="Google Shape;147;p3"/>
          <p:cNvCxnSpPr/>
          <p:nvPr/>
        </p:nvCxnSpPr>
        <p:spPr>
          <a:xfrm>
            <a:off x="3557930" y="1856231"/>
            <a:ext cx="0" cy="4133089"/>
          </a:xfrm>
          <a:prstGeom prst="straightConnector1">
            <a:avLst/>
          </a:prstGeom>
          <a:noFill/>
          <a:ln cap="flat" cmpd="sng" w="9525">
            <a:solidFill>
              <a:srgbClr val="DCE1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48" name="Google Shape;148;p3"/>
          <p:cNvCxnSpPr/>
          <p:nvPr/>
        </p:nvCxnSpPr>
        <p:spPr>
          <a:xfrm>
            <a:off x="3935577" y="1856231"/>
            <a:ext cx="0" cy="4133089"/>
          </a:xfrm>
          <a:prstGeom prst="straightConnector1">
            <a:avLst/>
          </a:prstGeom>
          <a:noFill/>
          <a:ln cap="flat" cmpd="sng" w="9525">
            <a:solidFill>
              <a:srgbClr val="DCE1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49" name="Google Shape;149;p3"/>
          <p:cNvCxnSpPr/>
          <p:nvPr/>
        </p:nvCxnSpPr>
        <p:spPr>
          <a:xfrm>
            <a:off x="4313224" y="1856231"/>
            <a:ext cx="0" cy="4133089"/>
          </a:xfrm>
          <a:prstGeom prst="straightConnector1">
            <a:avLst/>
          </a:prstGeom>
          <a:noFill/>
          <a:ln cap="flat" cmpd="sng" w="9525">
            <a:solidFill>
              <a:srgbClr val="DCE1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50" name="Google Shape;150;p3"/>
          <p:cNvCxnSpPr/>
          <p:nvPr/>
        </p:nvCxnSpPr>
        <p:spPr>
          <a:xfrm>
            <a:off x="4690872" y="1856231"/>
            <a:ext cx="0" cy="4133089"/>
          </a:xfrm>
          <a:prstGeom prst="straightConnector1">
            <a:avLst/>
          </a:prstGeom>
          <a:noFill/>
          <a:ln cap="flat" cmpd="sng" w="9525">
            <a:solidFill>
              <a:srgbClr val="DCE1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51" name="Google Shape;151;p3"/>
          <p:cNvCxnSpPr/>
          <p:nvPr/>
        </p:nvCxnSpPr>
        <p:spPr>
          <a:xfrm>
            <a:off x="5068519" y="1856231"/>
            <a:ext cx="0" cy="4133089"/>
          </a:xfrm>
          <a:prstGeom prst="straightConnector1">
            <a:avLst/>
          </a:prstGeom>
          <a:noFill/>
          <a:ln cap="flat" cmpd="sng" w="9525">
            <a:solidFill>
              <a:srgbClr val="DCE1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52" name="Google Shape;152;p3"/>
          <p:cNvCxnSpPr/>
          <p:nvPr/>
        </p:nvCxnSpPr>
        <p:spPr>
          <a:xfrm>
            <a:off x="5446166" y="1856231"/>
            <a:ext cx="0" cy="4133089"/>
          </a:xfrm>
          <a:prstGeom prst="straightConnector1">
            <a:avLst/>
          </a:prstGeom>
          <a:noFill/>
          <a:ln cap="flat" cmpd="sng" w="9525">
            <a:solidFill>
              <a:srgbClr val="DCE1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53" name="Google Shape;153;p3"/>
          <p:cNvCxnSpPr/>
          <p:nvPr/>
        </p:nvCxnSpPr>
        <p:spPr>
          <a:xfrm>
            <a:off x="5823813" y="1856231"/>
            <a:ext cx="0" cy="4133089"/>
          </a:xfrm>
          <a:prstGeom prst="straightConnector1">
            <a:avLst/>
          </a:prstGeom>
          <a:noFill/>
          <a:ln cap="flat" cmpd="sng" w="9525">
            <a:solidFill>
              <a:srgbClr val="DCE1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54" name="Google Shape;154;p3"/>
          <p:cNvCxnSpPr/>
          <p:nvPr/>
        </p:nvCxnSpPr>
        <p:spPr>
          <a:xfrm>
            <a:off x="6201460" y="1856231"/>
            <a:ext cx="0" cy="4133089"/>
          </a:xfrm>
          <a:prstGeom prst="straightConnector1">
            <a:avLst/>
          </a:prstGeom>
          <a:noFill/>
          <a:ln cap="flat" cmpd="sng" w="9525">
            <a:solidFill>
              <a:srgbClr val="DCE1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55" name="Google Shape;155;p3"/>
          <p:cNvCxnSpPr/>
          <p:nvPr/>
        </p:nvCxnSpPr>
        <p:spPr>
          <a:xfrm>
            <a:off x="6579107" y="1856231"/>
            <a:ext cx="0" cy="4133089"/>
          </a:xfrm>
          <a:prstGeom prst="straightConnector1">
            <a:avLst/>
          </a:prstGeom>
          <a:noFill/>
          <a:ln cap="flat" cmpd="sng" w="9525">
            <a:solidFill>
              <a:srgbClr val="DCE1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56" name="Google Shape;156;p3"/>
          <p:cNvSpPr txBox="1"/>
          <p:nvPr/>
        </p:nvSpPr>
        <p:spPr>
          <a:xfrm>
            <a:off x="-3" y="2034322"/>
            <a:ext cx="1717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232D37"/>
                </a:solidFill>
                <a:latin typeface="Arial"/>
                <a:ea typeface="Arial"/>
                <a:cs typeface="Arial"/>
                <a:sym typeface="Arial"/>
              </a:rPr>
              <a:t>Análisis y requerimientos</a:t>
            </a:r>
            <a:endParaRPr/>
          </a:p>
        </p:txBody>
      </p:sp>
      <p:sp>
        <p:nvSpPr>
          <p:cNvPr id="157" name="Google Shape;157;p3"/>
          <p:cNvSpPr/>
          <p:nvPr/>
        </p:nvSpPr>
        <p:spPr>
          <a:xfrm>
            <a:off x="993450" y="1963050"/>
            <a:ext cx="1473900" cy="301800"/>
          </a:xfrm>
          <a:prstGeom prst="roundRect">
            <a:avLst>
              <a:gd fmla="val 16667" name="adj"/>
            </a:avLst>
          </a:prstGeom>
          <a:solidFill>
            <a:srgbClr val="14395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3"/>
          <p:cNvSpPr txBox="1"/>
          <p:nvPr/>
        </p:nvSpPr>
        <p:spPr>
          <a:xfrm>
            <a:off x="156492" y="2658809"/>
            <a:ext cx="25146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232D37"/>
                </a:solidFill>
                <a:latin typeface="Arial"/>
                <a:ea typeface="Arial"/>
                <a:cs typeface="Arial"/>
                <a:sym typeface="Arial"/>
              </a:rPr>
              <a:t>Arquitectura y base de datos</a:t>
            </a:r>
            <a:endParaRPr/>
          </a:p>
        </p:txBody>
      </p:sp>
      <p:sp>
        <p:nvSpPr>
          <p:cNvPr id="159" name="Google Shape;159;p3"/>
          <p:cNvSpPr/>
          <p:nvPr/>
        </p:nvSpPr>
        <p:spPr>
          <a:xfrm>
            <a:off x="2424988" y="2624327"/>
            <a:ext cx="1474012" cy="301752"/>
          </a:xfrm>
          <a:prstGeom prst="roundRect">
            <a:avLst>
              <a:gd fmla="val 16667" name="adj"/>
            </a:avLst>
          </a:prstGeom>
          <a:solidFill>
            <a:srgbClr val="F2841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3"/>
          <p:cNvSpPr txBox="1"/>
          <p:nvPr/>
        </p:nvSpPr>
        <p:spPr>
          <a:xfrm>
            <a:off x="621792" y="3145535"/>
            <a:ext cx="2514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232D37"/>
                </a:solidFill>
                <a:latin typeface="Arial"/>
                <a:ea typeface="Arial"/>
                <a:cs typeface="Arial"/>
                <a:sym typeface="Arial"/>
              </a:rPr>
              <a:t>Backend y plataforma Web</a:t>
            </a:r>
            <a:endParaRPr/>
          </a:p>
        </p:txBody>
      </p:sp>
      <p:sp>
        <p:nvSpPr>
          <p:cNvPr id="161" name="Google Shape;161;p3"/>
          <p:cNvSpPr/>
          <p:nvPr/>
        </p:nvSpPr>
        <p:spPr>
          <a:xfrm>
            <a:off x="3047518" y="3154679"/>
            <a:ext cx="1473900" cy="301800"/>
          </a:xfrm>
          <a:prstGeom prst="roundRect">
            <a:avLst>
              <a:gd fmla="val 16667" name="adj"/>
            </a:avLst>
          </a:prstGeom>
          <a:solidFill>
            <a:srgbClr val="1E4B7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3"/>
          <p:cNvSpPr txBox="1"/>
          <p:nvPr/>
        </p:nvSpPr>
        <p:spPr>
          <a:xfrm>
            <a:off x="621792" y="3675887"/>
            <a:ext cx="2514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232D37"/>
                </a:solidFill>
                <a:latin typeface="Arial"/>
                <a:ea typeface="Arial"/>
                <a:cs typeface="Arial"/>
                <a:sym typeface="Arial"/>
              </a:rPr>
              <a:t>Aplicación móvil</a:t>
            </a:r>
            <a:endParaRPr/>
          </a:p>
        </p:txBody>
      </p:sp>
      <p:sp>
        <p:nvSpPr>
          <p:cNvPr id="163" name="Google Shape;163;p3"/>
          <p:cNvSpPr/>
          <p:nvPr/>
        </p:nvSpPr>
        <p:spPr>
          <a:xfrm>
            <a:off x="3317077" y="3675881"/>
            <a:ext cx="1473900" cy="301800"/>
          </a:xfrm>
          <a:prstGeom prst="roundRect">
            <a:avLst>
              <a:gd fmla="val 16667" name="adj"/>
            </a:avLst>
          </a:prstGeom>
          <a:solidFill>
            <a:srgbClr val="1E4B7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3"/>
          <p:cNvSpPr txBox="1"/>
          <p:nvPr/>
        </p:nvSpPr>
        <p:spPr>
          <a:xfrm>
            <a:off x="621792" y="4206240"/>
            <a:ext cx="2514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232D37"/>
                </a:solidFill>
                <a:latin typeface="Arial"/>
                <a:ea typeface="Arial"/>
                <a:cs typeface="Arial"/>
                <a:sym typeface="Arial"/>
              </a:rPr>
              <a:t>Integraciones y dashboard</a:t>
            </a:r>
            <a:endParaRPr/>
          </a:p>
        </p:txBody>
      </p:sp>
      <p:sp>
        <p:nvSpPr>
          <p:cNvPr id="165" name="Google Shape;165;p3"/>
          <p:cNvSpPr/>
          <p:nvPr/>
        </p:nvSpPr>
        <p:spPr>
          <a:xfrm>
            <a:off x="4142694" y="4197083"/>
            <a:ext cx="718800" cy="301800"/>
          </a:xfrm>
          <a:prstGeom prst="roundRect">
            <a:avLst>
              <a:gd fmla="val 16667" name="adj"/>
            </a:avLst>
          </a:prstGeom>
          <a:solidFill>
            <a:srgbClr val="F2841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3"/>
          <p:cNvSpPr txBox="1"/>
          <p:nvPr/>
        </p:nvSpPr>
        <p:spPr>
          <a:xfrm>
            <a:off x="621792" y="4736592"/>
            <a:ext cx="2514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232D37"/>
                </a:solidFill>
                <a:latin typeface="Arial"/>
                <a:ea typeface="Arial"/>
                <a:cs typeface="Arial"/>
                <a:sym typeface="Arial"/>
              </a:rPr>
              <a:t>Pruebas y documentación</a:t>
            </a:r>
            <a:endParaRPr/>
          </a:p>
        </p:txBody>
      </p:sp>
      <p:sp>
        <p:nvSpPr>
          <p:cNvPr id="167" name="Google Shape;167;p3"/>
          <p:cNvSpPr/>
          <p:nvPr/>
        </p:nvSpPr>
        <p:spPr>
          <a:xfrm>
            <a:off x="4734741" y="4750311"/>
            <a:ext cx="1473900" cy="301800"/>
          </a:xfrm>
          <a:prstGeom prst="roundRect">
            <a:avLst>
              <a:gd fmla="val 16667" name="adj"/>
            </a:avLst>
          </a:prstGeom>
          <a:solidFill>
            <a:srgbClr val="277D5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3"/>
          <p:cNvSpPr txBox="1"/>
          <p:nvPr/>
        </p:nvSpPr>
        <p:spPr>
          <a:xfrm>
            <a:off x="621792" y="5266944"/>
            <a:ext cx="2514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232D37"/>
                </a:solidFill>
                <a:latin typeface="Arial"/>
                <a:ea typeface="Arial"/>
                <a:cs typeface="Arial"/>
                <a:sym typeface="Arial"/>
              </a:rPr>
              <a:t>Entrega y defensa final</a:t>
            </a:r>
            <a:endParaRPr/>
          </a:p>
        </p:txBody>
      </p:sp>
      <p:sp>
        <p:nvSpPr>
          <p:cNvPr id="169" name="Google Shape;169;p3"/>
          <p:cNvSpPr/>
          <p:nvPr/>
        </p:nvSpPr>
        <p:spPr>
          <a:xfrm>
            <a:off x="6201482" y="5280651"/>
            <a:ext cx="384000" cy="301800"/>
          </a:xfrm>
          <a:prstGeom prst="roundRect">
            <a:avLst>
              <a:gd fmla="val 16667" name="adj"/>
            </a:avLst>
          </a:prstGeom>
          <a:solidFill>
            <a:srgbClr val="C23A3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0" name="Google Shape;170;p3"/>
          <p:cNvCxnSpPr/>
          <p:nvPr/>
        </p:nvCxnSpPr>
        <p:spPr>
          <a:xfrm>
            <a:off x="2878165" y="1353312"/>
            <a:ext cx="0" cy="4636008"/>
          </a:xfrm>
          <a:prstGeom prst="straightConnector1">
            <a:avLst/>
          </a:prstGeom>
          <a:noFill/>
          <a:ln cap="flat" cmpd="sng" w="25400">
            <a:solidFill>
              <a:srgbClr val="C23A3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71" name="Google Shape;171;p3"/>
          <p:cNvSpPr txBox="1"/>
          <p:nvPr/>
        </p:nvSpPr>
        <p:spPr>
          <a:xfrm>
            <a:off x="2439253" y="6053328"/>
            <a:ext cx="87782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C23A3A"/>
                </a:solidFill>
                <a:latin typeface="Arial"/>
                <a:ea typeface="Arial"/>
                <a:cs typeface="Arial"/>
                <a:sym typeface="Arial"/>
              </a:rPr>
              <a:t>HOY · 11 SEP</a:t>
            </a:r>
            <a:endParaRPr/>
          </a:p>
        </p:txBody>
      </p:sp>
      <p:sp>
        <p:nvSpPr>
          <p:cNvPr id="172" name="Google Shape;172;p3"/>
          <p:cNvSpPr txBox="1"/>
          <p:nvPr/>
        </p:nvSpPr>
        <p:spPr>
          <a:xfrm>
            <a:off x="8275320" y="5715000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46E78"/>
                </a:solidFill>
                <a:latin typeface="Arial"/>
                <a:ea typeface="Arial"/>
                <a:cs typeface="Arial"/>
                <a:sym typeface="Arial"/>
              </a:rPr>
              <a:t>Hito actual</a:t>
            </a:r>
            <a:endParaRPr/>
          </a:p>
        </p:txBody>
      </p:sp>
      <p:sp>
        <p:nvSpPr>
          <p:cNvPr id="173" name="Google Shape;173;p3"/>
          <p:cNvSpPr txBox="1"/>
          <p:nvPr/>
        </p:nvSpPr>
        <p:spPr>
          <a:xfrm>
            <a:off x="8275320" y="5961888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4395B"/>
                </a:solidFill>
                <a:latin typeface="Arial"/>
                <a:ea typeface="Arial"/>
                <a:cs typeface="Arial"/>
                <a:sym typeface="Arial"/>
              </a:rPr>
              <a:t>Cierre de Fase 1 → inicio del diseño arquitectónico</a:t>
            </a:r>
            <a:endParaRPr/>
          </a:p>
        </p:txBody>
      </p:sp>
      <p:sp>
        <p:nvSpPr>
          <p:cNvPr id="174" name="Google Shape;174;p3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46E78"/>
                </a:solidFill>
                <a:latin typeface="Arial"/>
                <a:ea typeface="Arial"/>
                <a:cs typeface="Arial"/>
                <a:sym typeface="Arial"/>
              </a:rPr>
              <a:t>JJV Técnico Ya · Planificación de avance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4"/>
          <p:cNvSpPr txBox="1"/>
          <p:nvPr/>
        </p:nvSpPr>
        <p:spPr>
          <a:xfrm>
            <a:off x="594360" y="347472"/>
            <a:ext cx="10332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4395B"/>
                </a:solidFill>
                <a:latin typeface="Arial"/>
                <a:ea typeface="Arial"/>
                <a:cs typeface="Arial"/>
                <a:sym typeface="Arial"/>
              </a:rPr>
              <a:t>Actividades realizadas</a:t>
            </a:r>
            <a:endParaRPr/>
          </a:p>
        </p:txBody>
      </p:sp>
      <p:sp>
        <p:nvSpPr>
          <p:cNvPr id="181" name="Google Shape;181;p4"/>
          <p:cNvSpPr txBox="1"/>
          <p:nvPr/>
        </p:nvSpPr>
        <p:spPr>
          <a:xfrm>
            <a:off x="612648" y="859536"/>
            <a:ext cx="10424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646E78"/>
                </a:solidFill>
                <a:latin typeface="Arial"/>
                <a:ea typeface="Arial"/>
                <a:cs typeface="Arial"/>
                <a:sym typeface="Arial"/>
              </a:rPr>
              <a:t>Entregables que ya constituyen evidencia del avance</a:t>
            </a:r>
            <a:endParaRPr/>
          </a:p>
        </p:txBody>
      </p:sp>
      <p:sp>
        <p:nvSpPr>
          <p:cNvPr id="182" name="Google Shape;182;p4"/>
          <p:cNvSpPr/>
          <p:nvPr/>
        </p:nvSpPr>
        <p:spPr>
          <a:xfrm>
            <a:off x="685800" y="1353312"/>
            <a:ext cx="5166360" cy="11704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1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4"/>
          <p:cNvSpPr txBox="1"/>
          <p:nvPr/>
        </p:nvSpPr>
        <p:spPr>
          <a:xfrm>
            <a:off x="850392" y="1554480"/>
            <a:ext cx="502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28414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184" name="Google Shape;184;p4"/>
          <p:cNvSpPr txBox="1"/>
          <p:nvPr/>
        </p:nvSpPr>
        <p:spPr>
          <a:xfrm>
            <a:off x="1435607" y="1499616"/>
            <a:ext cx="4160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4395B"/>
                </a:solidFill>
                <a:latin typeface="Arial"/>
                <a:ea typeface="Arial"/>
                <a:cs typeface="Arial"/>
                <a:sym typeface="Arial"/>
              </a:rPr>
              <a:t>Definición del proyecto</a:t>
            </a:r>
            <a:endParaRPr/>
          </a:p>
        </p:txBody>
      </p:sp>
      <p:sp>
        <p:nvSpPr>
          <p:cNvPr id="185" name="Google Shape;185;p4"/>
          <p:cNvSpPr txBox="1"/>
          <p:nvPr/>
        </p:nvSpPr>
        <p:spPr>
          <a:xfrm>
            <a:off x="1435607" y="1883664"/>
            <a:ext cx="41605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232D37"/>
                </a:solidFill>
                <a:latin typeface="Arial"/>
                <a:ea typeface="Arial"/>
                <a:cs typeface="Arial"/>
                <a:sym typeface="Arial"/>
              </a:rPr>
              <a:t>Problema, objetivos, alcance y exclusiones.</a:t>
            </a:r>
            <a:endParaRPr/>
          </a:p>
        </p:txBody>
      </p:sp>
      <p:sp>
        <p:nvSpPr>
          <p:cNvPr id="186" name="Google Shape;186;p4"/>
          <p:cNvSpPr/>
          <p:nvPr/>
        </p:nvSpPr>
        <p:spPr>
          <a:xfrm>
            <a:off x="6172200" y="1353312"/>
            <a:ext cx="5166360" cy="11704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1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4"/>
          <p:cNvSpPr txBox="1"/>
          <p:nvPr/>
        </p:nvSpPr>
        <p:spPr>
          <a:xfrm>
            <a:off x="6336792" y="1554480"/>
            <a:ext cx="502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28414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88" name="Google Shape;188;p4"/>
          <p:cNvSpPr txBox="1"/>
          <p:nvPr/>
        </p:nvSpPr>
        <p:spPr>
          <a:xfrm>
            <a:off x="6922008" y="1499616"/>
            <a:ext cx="4160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4395B"/>
                </a:solidFill>
                <a:latin typeface="Arial"/>
                <a:ea typeface="Arial"/>
                <a:cs typeface="Arial"/>
                <a:sym typeface="Arial"/>
              </a:rPr>
              <a:t>ERS y requisitos</a:t>
            </a:r>
            <a:endParaRPr/>
          </a:p>
        </p:txBody>
      </p:sp>
      <p:sp>
        <p:nvSpPr>
          <p:cNvPr id="189" name="Google Shape;189;p4"/>
          <p:cNvSpPr txBox="1"/>
          <p:nvPr/>
        </p:nvSpPr>
        <p:spPr>
          <a:xfrm>
            <a:off x="6922008" y="1883664"/>
            <a:ext cx="41605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232D37"/>
                </a:solidFill>
                <a:latin typeface="Arial"/>
                <a:ea typeface="Arial"/>
                <a:cs typeface="Arial"/>
                <a:sym typeface="Arial"/>
              </a:rPr>
              <a:t>Requisitos funcionales/no funcionales y reglas de negocio.</a:t>
            </a:r>
            <a:endParaRPr/>
          </a:p>
        </p:txBody>
      </p:sp>
      <p:sp>
        <p:nvSpPr>
          <p:cNvPr id="190" name="Google Shape;190;p4"/>
          <p:cNvSpPr/>
          <p:nvPr/>
        </p:nvSpPr>
        <p:spPr>
          <a:xfrm>
            <a:off x="685800" y="2843784"/>
            <a:ext cx="5166360" cy="11704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1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4"/>
          <p:cNvSpPr txBox="1"/>
          <p:nvPr/>
        </p:nvSpPr>
        <p:spPr>
          <a:xfrm>
            <a:off x="850392" y="3044952"/>
            <a:ext cx="502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28414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192" name="Google Shape;192;p4"/>
          <p:cNvSpPr txBox="1"/>
          <p:nvPr/>
        </p:nvSpPr>
        <p:spPr>
          <a:xfrm>
            <a:off x="1435607" y="2990088"/>
            <a:ext cx="4160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4395B"/>
                </a:solidFill>
                <a:latin typeface="Arial"/>
                <a:ea typeface="Arial"/>
                <a:cs typeface="Arial"/>
                <a:sym typeface="Arial"/>
              </a:rPr>
              <a:t>Priorización</a:t>
            </a:r>
            <a:endParaRPr/>
          </a:p>
        </p:txBody>
      </p:sp>
      <p:sp>
        <p:nvSpPr>
          <p:cNvPr id="193" name="Google Shape;193;p4"/>
          <p:cNvSpPr txBox="1"/>
          <p:nvPr/>
        </p:nvSpPr>
        <p:spPr>
          <a:xfrm>
            <a:off x="1435607" y="3374136"/>
            <a:ext cx="41605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232D37"/>
                </a:solidFill>
                <a:latin typeface="Arial"/>
                <a:ea typeface="Arial"/>
                <a:cs typeface="Arial"/>
                <a:sym typeface="Arial"/>
              </a:rPr>
              <a:t>Control del alcance y foco en funcionalidades críticas.</a:t>
            </a:r>
            <a:endParaRPr/>
          </a:p>
        </p:txBody>
      </p:sp>
      <p:sp>
        <p:nvSpPr>
          <p:cNvPr id="194" name="Google Shape;194;p4"/>
          <p:cNvSpPr/>
          <p:nvPr/>
        </p:nvSpPr>
        <p:spPr>
          <a:xfrm>
            <a:off x="6172200" y="2843784"/>
            <a:ext cx="5166360" cy="11704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1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4"/>
          <p:cNvSpPr txBox="1"/>
          <p:nvPr/>
        </p:nvSpPr>
        <p:spPr>
          <a:xfrm>
            <a:off x="6336792" y="3044952"/>
            <a:ext cx="502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28414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196" name="Google Shape;196;p4"/>
          <p:cNvSpPr txBox="1"/>
          <p:nvPr/>
        </p:nvSpPr>
        <p:spPr>
          <a:xfrm>
            <a:off x="6922008" y="2990088"/>
            <a:ext cx="4160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4395B"/>
                </a:solidFill>
                <a:latin typeface="Arial"/>
                <a:ea typeface="Arial"/>
                <a:cs typeface="Arial"/>
                <a:sym typeface="Arial"/>
              </a:rPr>
              <a:t>Historias de usuario</a:t>
            </a:r>
            <a:endParaRPr/>
          </a:p>
        </p:txBody>
      </p:sp>
      <p:sp>
        <p:nvSpPr>
          <p:cNvPr id="197" name="Google Shape;197;p4"/>
          <p:cNvSpPr txBox="1"/>
          <p:nvPr/>
        </p:nvSpPr>
        <p:spPr>
          <a:xfrm>
            <a:off x="6922008" y="3374136"/>
            <a:ext cx="41605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232D37"/>
                </a:solidFill>
                <a:latin typeface="Arial"/>
                <a:ea typeface="Arial"/>
                <a:cs typeface="Arial"/>
                <a:sym typeface="Arial"/>
              </a:rPr>
              <a:t>Actores, necesidades y flujos principales.</a:t>
            </a:r>
            <a:endParaRPr/>
          </a:p>
        </p:txBody>
      </p:sp>
      <p:sp>
        <p:nvSpPr>
          <p:cNvPr id="198" name="Google Shape;198;p4"/>
          <p:cNvSpPr/>
          <p:nvPr/>
        </p:nvSpPr>
        <p:spPr>
          <a:xfrm>
            <a:off x="685800" y="4334256"/>
            <a:ext cx="5166360" cy="11704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1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4"/>
          <p:cNvSpPr txBox="1"/>
          <p:nvPr/>
        </p:nvSpPr>
        <p:spPr>
          <a:xfrm>
            <a:off x="850392" y="4535424"/>
            <a:ext cx="502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28414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200" name="Google Shape;200;p4"/>
          <p:cNvSpPr txBox="1"/>
          <p:nvPr/>
        </p:nvSpPr>
        <p:spPr>
          <a:xfrm>
            <a:off x="1435607" y="4480560"/>
            <a:ext cx="4160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4395B"/>
                </a:solidFill>
                <a:latin typeface="Arial"/>
                <a:ea typeface="Arial"/>
                <a:cs typeface="Arial"/>
                <a:sym typeface="Arial"/>
              </a:rPr>
              <a:t>Riesgos</a:t>
            </a:r>
            <a:endParaRPr/>
          </a:p>
        </p:txBody>
      </p:sp>
      <p:sp>
        <p:nvSpPr>
          <p:cNvPr id="201" name="Google Shape;201;p4"/>
          <p:cNvSpPr txBox="1"/>
          <p:nvPr/>
        </p:nvSpPr>
        <p:spPr>
          <a:xfrm>
            <a:off x="1435607" y="4864608"/>
            <a:ext cx="41605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232D37"/>
                </a:solidFill>
                <a:latin typeface="Arial"/>
                <a:ea typeface="Arial"/>
                <a:cs typeface="Arial"/>
                <a:sym typeface="Arial"/>
              </a:rPr>
              <a:t>Identificación y medidas de mitigación.</a:t>
            </a:r>
            <a:endParaRPr/>
          </a:p>
        </p:txBody>
      </p:sp>
      <p:sp>
        <p:nvSpPr>
          <p:cNvPr id="202" name="Google Shape;202;p4"/>
          <p:cNvSpPr/>
          <p:nvPr/>
        </p:nvSpPr>
        <p:spPr>
          <a:xfrm>
            <a:off x="6172200" y="4334256"/>
            <a:ext cx="5166360" cy="11704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1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4"/>
          <p:cNvSpPr txBox="1"/>
          <p:nvPr/>
        </p:nvSpPr>
        <p:spPr>
          <a:xfrm>
            <a:off x="6336792" y="4535424"/>
            <a:ext cx="502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28414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  <p:sp>
        <p:nvSpPr>
          <p:cNvPr id="204" name="Google Shape;204;p4"/>
          <p:cNvSpPr txBox="1"/>
          <p:nvPr/>
        </p:nvSpPr>
        <p:spPr>
          <a:xfrm>
            <a:off x="6922008" y="4480560"/>
            <a:ext cx="4160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4395B"/>
                </a:solidFill>
                <a:latin typeface="Arial"/>
                <a:ea typeface="Arial"/>
                <a:cs typeface="Arial"/>
                <a:sym typeface="Arial"/>
              </a:rPr>
              <a:t>Plan de Fase 2</a:t>
            </a:r>
            <a:endParaRPr/>
          </a:p>
        </p:txBody>
      </p:sp>
      <p:sp>
        <p:nvSpPr>
          <p:cNvPr id="205" name="Google Shape;205;p4"/>
          <p:cNvSpPr txBox="1"/>
          <p:nvPr/>
        </p:nvSpPr>
        <p:spPr>
          <a:xfrm>
            <a:off x="6922008" y="4864608"/>
            <a:ext cx="41605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232D37"/>
                </a:solidFill>
                <a:latin typeface="Arial"/>
                <a:ea typeface="Arial"/>
                <a:cs typeface="Arial"/>
                <a:sym typeface="Arial"/>
              </a:rPr>
              <a:t>Arquitectura, BD, UML, mockups y DAS como siguiente bloque.</a:t>
            </a:r>
            <a:endParaRPr/>
          </a:p>
        </p:txBody>
      </p:sp>
      <p:sp>
        <p:nvSpPr>
          <p:cNvPr id="206" name="Google Shape;206;p4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46E78"/>
                </a:solidFill>
                <a:latin typeface="Arial"/>
                <a:ea typeface="Arial"/>
                <a:cs typeface="Arial"/>
                <a:sym typeface="Arial"/>
              </a:rPr>
              <a:t>JJV Técnico Ya · Seguimiento de proyecto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5"/>
          <p:cNvSpPr txBox="1"/>
          <p:nvPr/>
        </p:nvSpPr>
        <p:spPr>
          <a:xfrm>
            <a:off x="594360" y="347472"/>
            <a:ext cx="10332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4395B"/>
                </a:solidFill>
                <a:latin typeface="Arial"/>
                <a:ea typeface="Arial"/>
                <a:cs typeface="Arial"/>
                <a:sym typeface="Arial"/>
              </a:rPr>
              <a:t>Actividades en progreso</a:t>
            </a:r>
            <a:endParaRPr/>
          </a:p>
        </p:txBody>
      </p:sp>
      <p:sp>
        <p:nvSpPr>
          <p:cNvPr id="213" name="Google Shape;213;p5"/>
          <p:cNvSpPr txBox="1"/>
          <p:nvPr/>
        </p:nvSpPr>
        <p:spPr>
          <a:xfrm>
            <a:off x="612648" y="859536"/>
            <a:ext cx="10424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646E78"/>
                </a:solidFill>
                <a:latin typeface="Arial"/>
                <a:ea typeface="Arial"/>
                <a:cs typeface="Arial"/>
                <a:sym typeface="Arial"/>
              </a:rPr>
              <a:t>Trabajo actual de la Fase 2</a:t>
            </a:r>
            <a:endParaRPr/>
          </a:p>
        </p:txBody>
      </p:sp>
      <p:sp>
        <p:nvSpPr>
          <p:cNvPr id="214" name="Google Shape;214;p5"/>
          <p:cNvSpPr/>
          <p:nvPr/>
        </p:nvSpPr>
        <p:spPr>
          <a:xfrm>
            <a:off x="685800" y="1417320"/>
            <a:ext cx="5166360" cy="1572768"/>
          </a:xfrm>
          <a:prstGeom prst="roundRect">
            <a:avLst>
              <a:gd fmla="val 16667" name="adj"/>
            </a:avLst>
          </a:prstGeom>
          <a:solidFill>
            <a:srgbClr val="F4F6F8"/>
          </a:solidFill>
          <a:ln cap="flat" cmpd="sng" w="9525">
            <a:solidFill>
              <a:srgbClr val="DCE1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5"/>
          <p:cNvSpPr/>
          <p:nvPr/>
        </p:nvSpPr>
        <p:spPr>
          <a:xfrm>
            <a:off x="685800" y="1417320"/>
            <a:ext cx="91440" cy="1572768"/>
          </a:xfrm>
          <a:prstGeom prst="rect">
            <a:avLst/>
          </a:prstGeom>
          <a:solidFill>
            <a:srgbClr val="14395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5"/>
          <p:cNvSpPr/>
          <p:nvPr/>
        </p:nvSpPr>
        <p:spPr>
          <a:xfrm>
            <a:off x="960120" y="1618488"/>
            <a:ext cx="1143000" cy="31089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5"/>
          <p:cNvSpPr txBox="1"/>
          <p:nvPr/>
        </p:nvSpPr>
        <p:spPr>
          <a:xfrm>
            <a:off x="960120" y="1627632"/>
            <a:ext cx="1143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4395B"/>
                </a:solidFill>
                <a:latin typeface="Arial"/>
                <a:ea typeface="Arial"/>
                <a:cs typeface="Arial"/>
                <a:sym typeface="Arial"/>
              </a:rPr>
              <a:t>EN PROCESO</a:t>
            </a:r>
            <a:endParaRPr/>
          </a:p>
        </p:txBody>
      </p:sp>
      <p:sp>
        <p:nvSpPr>
          <p:cNvPr id="218" name="Google Shape;218;p5"/>
          <p:cNvSpPr txBox="1"/>
          <p:nvPr/>
        </p:nvSpPr>
        <p:spPr>
          <a:xfrm>
            <a:off x="960120" y="2029968"/>
            <a:ext cx="4526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4395B"/>
                </a:solidFill>
                <a:latin typeface="Arial"/>
                <a:ea typeface="Arial"/>
                <a:cs typeface="Arial"/>
                <a:sym typeface="Arial"/>
              </a:rPr>
              <a:t>Arquitectura general</a:t>
            </a:r>
            <a:endParaRPr/>
          </a:p>
        </p:txBody>
      </p:sp>
      <p:sp>
        <p:nvSpPr>
          <p:cNvPr id="219" name="Google Shape;219;p5"/>
          <p:cNvSpPr txBox="1"/>
          <p:nvPr/>
        </p:nvSpPr>
        <p:spPr>
          <a:xfrm>
            <a:off x="960120" y="2404872"/>
            <a:ext cx="4526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232D37"/>
                </a:solidFill>
                <a:latin typeface="Arial"/>
                <a:ea typeface="Arial"/>
                <a:cs typeface="Arial"/>
                <a:sym typeface="Arial"/>
              </a:rPr>
              <a:t>Definición de capas, componentes y comunicación.</a:t>
            </a:r>
            <a:endParaRPr/>
          </a:p>
        </p:txBody>
      </p:sp>
      <p:sp>
        <p:nvSpPr>
          <p:cNvPr id="220" name="Google Shape;220;p5"/>
          <p:cNvSpPr/>
          <p:nvPr/>
        </p:nvSpPr>
        <p:spPr>
          <a:xfrm>
            <a:off x="6172200" y="1417320"/>
            <a:ext cx="5166360" cy="1572768"/>
          </a:xfrm>
          <a:prstGeom prst="roundRect">
            <a:avLst>
              <a:gd fmla="val 16667" name="adj"/>
            </a:avLst>
          </a:prstGeom>
          <a:solidFill>
            <a:srgbClr val="F4F6F8"/>
          </a:solidFill>
          <a:ln cap="flat" cmpd="sng" w="9525">
            <a:solidFill>
              <a:srgbClr val="DCE1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5"/>
          <p:cNvSpPr/>
          <p:nvPr/>
        </p:nvSpPr>
        <p:spPr>
          <a:xfrm>
            <a:off x="6172200" y="1417320"/>
            <a:ext cx="91440" cy="1572768"/>
          </a:xfrm>
          <a:prstGeom prst="rect">
            <a:avLst/>
          </a:prstGeom>
          <a:solidFill>
            <a:srgbClr val="F2841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5"/>
          <p:cNvSpPr/>
          <p:nvPr/>
        </p:nvSpPr>
        <p:spPr>
          <a:xfrm>
            <a:off x="6446520" y="1618488"/>
            <a:ext cx="1143000" cy="31089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5"/>
          <p:cNvSpPr txBox="1"/>
          <p:nvPr/>
        </p:nvSpPr>
        <p:spPr>
          <a:xfrm>
            <a:off x="6446520" y="1627632"/>
            <a:ext cx="1143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28414"/>
                </a:solidFill>
                <a:latin typeface="Arial"/>
                <a:ea typeface="Arial"/>
                <a:cs typeface="Arial"/>
                <a:sym typeface="Arial"/>
              </a:rPr>
              <a:t>EN PROCESO</a:t>
            </a:r>
            <a:endParaRPr/>
          </a:p>
        </p:txBody>
      </p:sp>
      <p:sp>
        <p:nvSpPr>
          <p:cNvPr id="224" name="Google Shape;224;p5"/>
          <p:cNvSpPr txBox="1"/>
          <p:nvPr/>
        </p:nvSpPr>
        <p:spPr>
          <a:xfrm>
            <a:off x="6446520" y="2029968"/>
            <a:ext cx="4526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4395B"/>
                </a:solidFill>
                <a:latin typeface="Arial"/>
                <a:ea typeface="Arial"/>
                <a:cs typeface="Arial"/>
                <a:sym typeface="Arial"/>
              </a:rPr>
              <a:t>Modelo de datos</a:t>
            </a:r>
            <a:endParaRPr/>
          </a:p>
        </p:txBody>
      </p:sp>
      <p:sp>
        <p:nvSpPr>
          <p:cNvPr id="225" name="Google Shape;225;p5"/>
          <p:cNvSpPr txBox="1"/>
          <p:nvPr/>
        </p:nvSpPr>
        <p:spPr>
          <a:xfrm>
            <a:off x="6446520" y="2404872"/>
            <a:ext cx="4526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232D37"/>
                </a:solidFill>
                <a:latin typeface="Arial"/>
                <a:ea typeface="Arial"/>
                <a:cs typeface="Arial"/>
                <a:sym typeface="Arial"/>
              </a:rPr>
              <a:t>Diseño inicial de entidades, relaciones y persistencia.</a:t>
            </a:r>
            <a:endParaRPr/>
          </a:p>
        </p:txBody>
      </p:sp>
      <p:sp>
        <p:nvSpPr>
          <p:cNvPr id="226" name="Google Shape;226;p5"/>
          <p:cNvSpPr/>
          <p:nvPr/>
        </p:nvSpPr>
        <p:spPr>
          <a:xfrm>
            <a:off x="685800" y="3291839"/>
            <a:ext cx="5166360" cy="1572768"/>
          </a:xfrm>
          <a:prstGeom prst="roundRect">
            <a:avLst>
              <a:gd fmla="val 16667" name="adj"/>
            </a:avLst>
          </a:prstGeom>
          <a:solidFill>
            <a:srgbClr val="F4F6F8"/>
          </a:solidFill>
          <a:ln cap="flat" cmpd="sng" w="9525">
            <a:solidFill>
              <a:srgbClr val="DCE1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5"/>
          <p:cNvSpPr/>
          <p:nvPr/>
        </p:nvSpPr>
        <p:spPr>
          <a:xfrm>
            <a:off x="685800" y="3291839"/>
            <a:ext cx="91440" cy="1572768"/>
          </a:xfrm>
          <a:prstGeom prst="rect">
            <a:avLst/>
          </a:prstGeom>
          <a:solidFill>
            <a:srgbClr val="1E4B7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5"/>
          <p:cNvSpPr/>
          <p:nvPr/>
        </p:nvSpPr>
        <p:spPr>
          <a:xfrm>
            <a:off x="960120" y="3493008"/>
            <a:ext cx="1143000" cy="31089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5"/>
          <p:cNvSpPr txBox="1"/>
          <p:nvPr/>
        </p:nvSpPr>
        <p:spPr>
          <a:xfrm>
            <a:off x="960120" y="3502151"/>
            <a:ext cx="1143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E4B71"/>
                </a:solidFill>
                <a:latin typeface="Arial"/>
                <a:ea typeface="Arial"/>
                <a:cs typeface="Arial"/>
                <a:sym typeface="Arial"/>
              </a:rPr>
              <a:t>EN PROCESO</a:t>
            </a:r>
            <a:endParaRPr/>
          </a:p>
        </p:txBody>
      </p:sp>
      <p:sp>
        <p:nvSpPr>
          <p:cNvPr id="230" name="Google Shape;230;p5"/>
          <p:cNvSpPr txBox="1"/>
          <p:nvPr/>
        </p:nvSpPr>
        <p:spPr>
          <a:xfrm>
            <a:off x="960120" y="3904487"/>
            <a:ext cx="4526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4395B"/>
                </a:solidFill>
                <a:latin typeface="Arial"/>
                <a:ea typeface="Arial"/>
                <a:cs typeface="Arial"/>
                <a:sym typeface="Arial"/>
              </a:rPr>
              <a:t>Tecnologías e integración</a:t>
            </a:r>
            <a:endParaRPr/>
          </a:p>
        </p:txBody>
      </p:sp>
      <p:sp>
        <p:nvSpPr>
          <p:cNvPr id="231" name="Google Shape;231;p5"/>
          <p:cNvSpPr txBox="1"/>
          <p:nvPr/>
        </p:nvSpPr>
        <p:spPr>
          <a:xfrm>
            <a:off x="960120" y="4279392"/>
            <a:ext cx="4526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232D37"/>
                </a:solidFill>
                <a:latin typeface="Arial"/>
                <a:ea typeface="Arial"/>
                <a:cs typeface="Arial"/>
                <a:sym typeface="Arial"/>
              </a:rPr>
              <a:t>Definición de tecnologías y comunicación entre Web, App, API y BD.</a:t>
            </a:r>
            <a:endParaRPr/>
          </a:p>
        </p:txBody>
      </p:sp>
      <p:sp>
        <p:nvSpPr>
          <p:cNvPr id="232" name="Google Shape;232;p5"/>
          <p:cNvSpPr/>
          <p:nvPr/>
        </p:nvSpPr>
        <p:spPr>
          <a:xfrm>
            <a:off x="6172200" y="3291839"/>
            <a:ext cx="5166360" cy="1572768"/>
          </a:xfrm>
          <a:prstGeom prst="roundRect">
            <a:avLst>
              <a:gd fmla="val 16667" name="adj"/>
            </a:avLst>
          </a:prstGeom>
          <a:solidFill>
            <a:srgbClr val="F4F6F8"/>
          </a:solidFill>
          <a:ln cap="flat" cmpd="sng" w="9525">
            <a:solidFill>
              <a:srgbClr val="DCE1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5"/>
          <p:cNvSpPr/>
          <p:nvPr/>
        </p:nvSpPr>
        <p:spPr>
          <a:xfrm>
            <a:off x="6172200" y="3291839"/>
            <a:ext cx="91440" cy="1572768"/>
          </a:xfrm>
          <a:prstGeom prst="rect">
            <a:avLst/>
          </a:prstGeom>
          <a:solidFill>
            <a:srgbClr val="F2841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5"/>
          <p:cNvSpPr/>
          <p:nvPr/>
        </p:nvSpPr>
        <p:spPr>
          <a:xfrm>
            <a:off x="6446520" y="3493008"/>
            <a:ext cx="1143000" cy="31089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5"/>
          <p:cNvSpPr txBox="1"/>
          <p:nvPr/>
        </p:nvSpPr>
        <p:spPr>
          <a:xfrm>
            <a:off x="6446520" y="3502151"/>
            <a:ext cx="1143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28414"/>
                </a:solidFill>
                <a:latin typeface="Arial"/>
                <a:ea typeface="Arial"/>
                <a:cs typeface="Arial"/>
                <a:sym typeface="Arial"/>
              </a:rPr>
              <a:t>EN PROCESO</a:t>
            </a:r>
            <a:endParaRPr/>
          </a:p>
        </p:txBody>
      </p:sp>
      <p:sp>
        <p:nvSpPr>
          <p:cNvPr id="236" name="Google Shape;236;p5"/>
          <p:cNvSpPr txBox="1"/>
          <p:nvPr/>
        </p:nvSpPr>
        <p:spPr>
          <a:xfrm>
            <a:off x="6446520" y="3904487"/>
            <a:ext cx="4526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4395B"/>
                </a:solidFill>
                <a:latin typeface="Arial"/>
                <a:ea typeface="Arial"/>
                <a:cs typeface="Arial"/>
                <a:sym typeface="Arial"/>
              </a:rPr>
              <a:t>Mockups</a:t>
            </a:r>
            <a:endParaRPr/>
          </a:p>
        </p:txBody>
      </p:sp>
      <p:sp>
        <p:nvSpPr>
          <p:cNvPr id="237" name="Google Shape;237;p5"/>
          <p:cNvSpPr txBox="1"/>
          <p:nvPr/>
        </p:nvSpPr>
        <p:spPr>
          <a:xfrm>
            <a:off x="6446520" y="4279392"/>
            <a:ext cx="4526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232D37"/>
                </a:solidFill>
                <a:latin typeface="Arial"/>
                <a:ea typeface="Arial"/>
                <a:cs typeface="Arial"/>
                <a:sym typeface="Arial"/>
              </a:rPr>
              <a:t>Diseño de las pantallas asociadas al flujo principal.</a:t>
            </a:r>
            <a:endParaRPr/>
          </a:p>
        </p:txBody>
      </p:sp>
      <p:sp>
        <p:nvSpPr>
          <p:cNvPr id="238" name="Google Shape;238;p5"/>
          <p:cNvSpPr txBox="1"/>
          <p:nvPr/>
        </p:nvSpPr>
        <p:spPr>
          <a:xfrm>
            <a:off x="685800" y="5303520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646E78"/>
                </a:solidFill>
                <a:latin typeface="Arial"/>
                <a:ea typeface="Arial"/>
                <a:cs typeface="Arial"/>
                <a:sym typeface="Arial"/>
              </a:rPr>
              <a:t>Objetivo inmediato</a:t>
            </a:r>
            <a:endParaRPr/>
          </a:p>
        </p:txBody>
      </p:sp>
      <p:sp>
        <p:nvSpPr>
          <p:cNvPr id="239" name="Google Shape;239;p5"/>
          <p:cNvSpPr txBox="1"/>
          <p:nvPr/>
        </p:nvSpPr>
        <p:spPr>
          <a:xfrm>
            <a:off x="1874519" y="5230368"/>
            <a:ext cx="8961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4395B"/>
                </a:solidFill>
                <a:latin typeface="Arial"/>
                <a:ea typeface="Arial"/>
                <a:cs typeface="Arial"/>
                <a:sym typeface="Arial"/>
              </a:rPr>
              <a:t>Cerrar el diseño base de arquitectura y BD para habilitar los diagramas UML y el DAS.</a:t>
            </a:r>
            <a:endParaRPr/>
          </a:p>
        </p:txBody>
      </p:sp>
      <p:sp>
        <p:nvSpPr>
          <p:cNvPr id="240" name="Google Shape;240;p5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46E78"/>
                </a:solidFill>
                <a:latin typeface="Arial"/>
                <a:ea typeface="Arial"/>
                <a:cs typeface="Arial"/>
                <a:sym typeface="Arial"/>
              </a:rPr>
              <a:t>JJV Técnico Ya · Seguimiento de proyecto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7"/>
          <p:cNvSpPr txBox="1"/>
          <p:nvPr/>
        </p:nvSpPr>
        <p:spPr>
          <a:xfrm>
            <a:off x="594360" y="347472"/>
            <a:ext cx="10332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4395B"/>
                </a:solidFill>
                <a:latin typeface="Arial"/>
                <a:ea typeface="Arial"/>
                <a:cs typeface="Arial"/>
                <a:sym typeface="Arial"/>
              </a:rPr>
              <a:t>Riesgos principales y mitigación</a:t>
            </a:r>
            <a:endParaRPr/>
          </a:p>
        </p:txBody>
      </p:sp>
      <p:sp>
        <p:nvSpPr>
          <p:cNvPr id="247" name="Google Shape;247;p7"/>
          <p:cNvSpPr txBox="1"/>
          <p:nvPr/>
        </p:nvSpPr>
        <p:spPr>
          <a:xfrm>
            <a:off x="612648" y="859536"/>
            <a:ext cx="10424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646E78"/>
                </a:solidFill>
                <a:latin typeface="Arial"/>
                <a:ea typeface="Arial"/>
                <a:cs typeface="Arial"/>
                <a:sym typeface="Arial"/>
              </a:rPr>
              <a:t>Riesgos enfocados en el avance de la Fase 2</a:t>
            </a:r>
            <a:endParaRPr/>
          </a:p>
        </p:txBody>
      </p:sp>
      <p:sp>
        <p:nvSpPr>
          <p:cNvPr id="248" name="Google Shape;248;p7"/>
          <p:cNvSpPr/>
          <p:nvPr/>
        </p:nvSpPr>
        <p:spPr>
          <a:xfrm>
            <a:off x="594360" y="1280160"/>
            <a:ext cx="502920" cy="438912"/>
          </a:xfrm>
          <a:prstGeom prst="rect">
            <a:avLst/>
          </a:prstGeom>
          <a:solidFill>
            <a:srgbClr val="14395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7"/>
          <p:cNvSpPr txBox="1"/>
          <p:nvPr/>
        </p:nvSpPr>
        <p:spPr>
          <a:xfrm>
            <a:off x="640080" y="1344168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ID</a:t>
            </a:r>
            <a:endParaRPr/>
          </a:p>
        </p:txBody>
      </p:sp>
      <p:sp>
        <p:nvSpPr>
          <p:cNvPr id="250" name="Google Shape;250;p7"/>
          <p:cNvSpPr/>
          <p:nvPr/>
        </p:nvSpPr>
        <p:spPr>
          <a:xfrm>
            <a:off x="1143000" y="1280160"/>
            <a:ext cx="3977639" cy="438912"/>
          </a:xfrm>
          <a:prstGeom prst="rect">
            <a:avLst/>
          </a:prstGeom>
          <a:solidFill>
            <a:srgbClr val="14395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7"/>
          <p:cNvSpPr txBox="1"/>
          <p:nvPr/>
        </p:nvSpPr>
        <p:spPr>
          <a:xfrm>
            <a:off x="1188720" y="1344168"/>
            <a:ext cx="3886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RIESGO</a:t>
            </a:r>
            <a:endParaRPr/>
          </a:p>
        </p:txBody>
      </p:sp>
      <p:sp>
        <p:nvSpPr>
          <p:cNvPr id="252" name="Google Shape;252;p7"/>
          <p:cNvSpPr/>
          <p:nvPr/>
        </p:nvSpPr>
        <p:spPr>
          <a:xfrm>
            <a:off x="5230368" y="1280160"/>
            <a:ext cx="914400" cy="438912"/>
          </a:xfrm>
          <a:prstGeom prst="rect">
            <a:avLst/>
          </a:prstGeom>
          <a:solidFill>
            <a:srgbClr val="14395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7"/>
          <p:cNvSpPr txBox="1"/>
          <p:nvPr/>
        </p:nvSpPr>
        <p:spPr>
          <a:xfrm>
            <a:off x="5276088" y="1344168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NIVEL</a:t>
            </a:r>
            <a:endParaRPr/>
          </a:p>
        </p:txBody>
      </p:sp>
      <p:sp>
        <p:nvSpPr>
          <p:cNvPr id="254" name="Google Shape;254;p7"/>
          <p:cNvSpPr/>
          <p:nvPr/>
        </p:nvSpPr>
        <p:spPr>
          <a:xfrm>
            <a:off x="6199632" y="1280160"/>
            <a:ext cx="5349240" cy="438912"/>
          </a:xfrm>
          <a:prstGeom prst="rect">
            <a:avLst/>
          </a:prstGeom>
          <a:solidFill>
            <a:srgbClr val="14395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7"/>
          <p:cNvSpPr txBox="1"/>
          <p:nvPr/>
        </p:nvSpPr>
        <p:spPr>
          <a:xfrm>
            <a:off x="6245352" y="1344168"/>
            <a:ext cx="5257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MITIGACIÓN</a:t>
            </a:r>
            <a:endParaRPr/>
          </a:p>
        </p:txBody>
      </p:sp>
      <p:sp>
        <p:nvSpPr>
          <p:cNvPr id="256" name="Google Shape;256;p7"/>
          <p:cNvSpPr/>
          <p:nvPr/>
        </p:nvSpPr>
        <p:spPr>
          <a:xfrm>
            <a:off x="594360" y="1755648"/>
            <a:ext cx="502920" cy="6583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1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7"/>
          <p:cNvSpPr/>
          <p:nvPr/>
        </p:nvSpPr>
        <p:spPr>
          <a:xfrm>
            <a:off x="1143000" y="1755648"/>
            <a:ext cx="3977639" cy="6583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1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7"/>
          <p:cNvSpPr/>
          <p:nvPr/>
        </p:nvSpPr>
        <p:spPr>
          <a:xfrm>
            <a:off x="5230368" y="1755648"/>
            <a:ext cx="914400" cy="6583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1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7"/>
          <p:cNvSpPr/>
          <p:nvPr/>
        </p:nvSpPr>
        <p:spPr>
          <a:xfrm>
            <a:off x="6199632" y="1755648"/>
            <a:ext cx="5349240" cy="6583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1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7"/>
          <p:cNvSpPr txBox="1"/>
          <p:nvPr/>
        </p:nvSpPr>
        <p:spPr>
          <a:xfrm>
            <a:off x="621792" y="1901952"/>
            <a:ext cx="4480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4395B"/>
                </a:solidFill>
                <a:latin typeface="Arial"/>
                <a:ea typeface="Arial"/>
                <a:cs typeface="Arial"/>
                <a:sym typeface="Arial"/>
              </a:rPr>
              <a:t>R-01</a:t>
            </a:r>
            <a:endParaRPr/>
          </a:p>
        </p:txBody>
      </p:sp>
      <p:sp>
        <p:nvSpPr>
          <p:cNvPr id="261" name="Google Shape;261;p7"/>
          <p:cNvSpPr txBox="1"/>
          <p:nvPr/>
        </p:nvSpPr>
        <p:spPr>
          <a:xfrm>
            <a:off x="1261872" y="1847088"/>
            <a:ext cx="37033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32D37"/>
                </a:solidFill>
                <a:latin typeface="Arial"/>
                <a:ea typeface="Arial"/>
                <a:cs typeface="Arial"/>
                <a:sym typeface="Arial"/>
              </a:rPr>
              <a:t>Retraso en mockups</a:t>
            </a:r>
            <a:endParaRPr/>
          </a:p>
        </p:txBody>
      </p:sp>
      <p:sp>
        <p:nvSpPr>
          <p:cNvPr id="262" name="Google Shape;262;p7"/>
          <p:cNvSpPr txBox="1"/>
          <p:nvPr/>
        </p:nvSpPr>
        <p:spPr>
          <a:xfrm>
            <a:off x="5276088" y="1911095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C23A3A"/>
                </a:solidFill>
                <a:latin typeface="Arial"/>
                <a:ea typeface="Arial"/>
                <a:cs typeface="Arial"/>
                <a:sym typeface="Arial"/>
              </a:rPr>
              <a:t>ALTO</a:t>
            </a:r>
            <a:endParaRPr/>
          </a:p>
        </p:txBody>
      </p:sp>
      <p:sp>
        <p:nvSpPr>
          <p:cNvPr id="263" name="Google Shape;263;p7"/>
          <p:cNvSpPr txBox="1"/>
          <p:nvPr/>
        </p:nvSpPr>
        <p:spPr>
          <a:xfrm>
            <a:off x="6336792" y="1847088"/>
            <a:ext cx="50749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30" u="none" cap="none" strike="noStrike">
                <a:solidFill>
                  <a:srgbClr val="232D37"/>
                </a:solidFill>
                <a:latin typeface="Arial"/>
                <a:ea typeface="Arial"/>
                <a:cs typeface="Arial"/>
                <a:sym typeface="Arial"/>
              </a:rPr>
              <a:t>Priorizar pantallas del flujo principal y fijar fechas internas.</a:t>
            </a:r>
            <a:endParaRPr/>
          </a:p>
        </p:txBody>
      </p:sp>
      <p:sp>
        <p:nvSpPr>
          <p:cNvPr id="264" name="Google Shape;264;p7"/>
          <p:cNvSpPr/>
          <p:nvPr/>
        </p:nvSpPr>
        <p:spPr>
          <a:xfrm>
            <a:off x="594360" y="2423160"/>
            <a:ext cx="502920" cy="658368"/>
          </a:xfrm>
          <a:prstGeom prst="rect">
            <a:avLst/>
          </a:prstGeom>
          <a:solidFill>
            <a:srgbClr val="F4F6F8"/>
          </a:solidFill>
          <a:ln cap="flat" cmpd="sng" w="9525">
            <a:solidFill>
              <a:srgbClr val="DCE1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7"/>
          <p:cNvSpPr/>
          <p:nvPr/>
        </p:nvSpPr>
        <p:spPr>
          <a:xfrm>
            <a:off x="1143000" y="2423160"/>
            <a:ext cx="3977639" cy="658368"/>
          </a:xfrm>
          <a:prstGeom prst="rect">
            <a:avLst/>
          </a:prstGeom>
          <a:solidFill>
            <a:srgbClr val="F4F6F8"/>
          </a:solidFill>
          <a:ln cap="flat" cmpd="sng" w="9525">
            <a:solidFill>
              <a:srgbClr val="DCE1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7"/>
          <p:cNvSpPr/>
          <p:nvPr/>
        </p:nvSpPr>
        <p:spPr>
          <a:xfrm>
            <a:off x="5230368" y="2423160"/>
            <a:ext cx="914400" cy="658368"/>
          </a:xfrm>
          <a:prstGeom prst="rect">
            <a:avLst/>
          </a:prstGeom>
          <a:solidFill>
            <a:srgbClr val="F4F6F8"/>
          </a:solidFill>
          <a:ln cap="flat" cmpd="sng" w="9525">
            <a:solidFill>
              <a:srgbClr val="DCE1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7"/>
          <p:cNvSpPr/>
          <p:nvPr/>
        </p:nvSpPr>
        <p:spPr>
          <a:xfrm>
            <a:off x="6199632" y="2423160"/>
            <a:ext cx="5349240" cy="658368"/>
          </a:xfrm>
          <a:prstGeom prst="rect">
            <a:avLst/>
          </a:prstGeom>
          <a:solidFill>
            <a:srgbClr val="F4F6F8"/>
          </a:solidFill>
          <a:ln cap="flat" cmpd="sng" w="9525">
            <a:solidFill>
              <a:srgbClr val="DCE1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7"/>
          <p:cNvSpPr txBox="1"/>
          <p:nvPr/>
        </p:nvSpPr>
        <p:spPr>
          <a:xfrm>
            <a:off x="621792" y="2569464"/>
            <a:ext cx="4480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4395B"/>
                </a:solidFill>
                <a:latin typeface="Arial"/>
                <a:ea typeface="Arial"/>
                <a:cs typeface="Arial"/>
                <a:sym typeface="Arial"/>
              </a:rPr>
              <a:t>R-02</a:t>
            </a:r>
            <a:endParaRPr/>
          </a:p>
        </p:txBody>
      </p:sp>
      <p:sp>
        <p:nvSpPr>
          <p:cNvPr id="269" name="Google Shape;269;p7"/>
          <p:cNvSpPr txBox="1"/>
          <p:nvPr/>
        </p:nvSpPr>
        <p:spPr>
          <a:xfrm>
            <a:off x="1261872" y="2514600"/>
            <a:ext cx="37033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32D37"/>
                </a:solidFill>
                <a:latin typeface="Arial"/>
                <a:ea typeface="Arial"/>
                <a:cs typeface="Arial"/>
                <a:sym typeface="Arial"/>
              </a:rPr>
              <a:t>Retraso en modelo BD</a:t>
            </a:r>
            <a:endParaRPr/>
          </a:p>
        </p:txBody>
      </p:sp>
      <p:sp>
        <p:nvSpPr>
          <p:cNvPr id="270" name="Google Shape;270;p7"/>
          <p:cNvSpPr txBox="1"/>
          <p:nvPr/>
        </p:nvSpPr>
        <p:spPr>
          <a:xfrm>
            <a:off x="5276088" y="2578608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C23A3A"/>
                </a:solidFill>
                <a:latin typeface="Arial"/>
                <a:ea typeface="Arial"/>
                <a:cs typeface="Arial"/>
                <a:sym typeface="Arial"/>
              </a:rPr>
              <a:t>ALTO</a:t>
            </a:r>
            <a:endParaRPr/>
          </a:p>
        </p:txBody>
      </p:sp>
      <p:sp>
        <p:nvSpPr>
          <p:cNvPr id="271" name="Google Shape;271;p7"/>
          <p:cNvSpPr txBox="1"/>
          <p:nvPr/>
        </p:nvSpPr>
        <p:spPr>
          <a:xfrm>
            <a:off x="6336792" y="2514600"/>
            <a:ext cx="50749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30" u="none" cap="none" strike="noStrike">
                <a:solidFill>
                  <a:srgbClr val="232D37"/>
                </a:solidFill>
                <a:latin typeface="Arial"/>
                <a:ea typeface="Arial"/>
                <a:cs typeface="Arial"/>
                <a:sym typeface="Arial"/>
              </a:rPr>
              <a:t>Validar entidades y relaciones antes de avanzar con UML.</a:t>
            </a:r>
            <a:endParaRPr/>
          </a:p>
        </p:txBody>
      </p:sp>
      <p:sp>
        <p:nvSpPr>
          <p:cNvPr id="272" name="Google Shape;272;p7"/>
          <p:cNvSpPr/>
          <p:nvPr/>
        </p:nvSpPr>
        <p:spPr>
          <a:xfrm>
            <a:off x="594360" y="3090672"/>
            <a:ext cx="502920" cy="6583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1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7"/>
          <p:cNvSpPr/>
          <p:nvPr/>
        </p:nvSpPr>
        <p:spPr>
          <a:xfrm>
            <a:off x="1143000" y="3090672"/>
            <a:ext cx="3977639" cy="6583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1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7"/>
          <p:cNvSpPr/>
          <p:nvPr/>
        </p:nvSpPr>
        <p:spPr>
          <a:xfrm>
            <a:off x="5230368" y="3090672"/>
            <a:ext cx="914400" cy="6583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1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7"/>
          <p:cNvSpPr/>
          <p:nvPr/>
        </p:nvSpPr>
        <p:spPr>
          <a:xfrm>
            <a:off x="6199632" y="3090672"/>
            <a:ext cx="5349240" cy="6583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1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7"/>
          <p:cNvSpPr txBox="1"/>
          <p:nvPr/>
        </p:nvSpPr>
        <p:spPr>
          <a:xfrm>
            <a:off x="621792" y="3236976"/>
            <a:ext cx="4480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4395B"/>
                </a:solidFill>
                <a:latin typeface="Arial"/>
                <a:ea typeface="Arial"/>
                <a:cs typeface="Arial"/>
                <a:sym typeface="Arial"/>
              </a:rPr>
              <a:t>R-03</a:t>
            </a:r>
            <a:endParaRPr/>
          </a:p>
        </p:txBody>
      </p:sp>
      <p:sp>
        <p:nvSpPr>
          <p:cNvPr id="277" name="Google Shape;277;p7"/>
          <p:cNvSpPr txBox="1"/>
          <p:nvPr/>
        </p:nvSpPr>
        <p:spPr>
          <a:xfrm>
            <a:off x="1261872" y="3182112"/>
            <a:ext cx="37033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32D37"/>
                </a:solidFill>
                <a:latin typeface="Arial"/>
                <a:ea typeface="Arial"/>
                <a:cs typeface="Arial"/>
                <a:sym typeface="Arial"/>
              </a:rPr>
              <a:t>Inconsistencias entre requisitos, BD y diagramas</a:t>
            </a:r>
            <a:endParaRPr/>
          </a:p>
        </p:txBody>
      </p:sp>
      <p:sp>
        <p:nvSpPr>
          <p:cNvPr id="278" name="Google Shape;278;p7"/>
          <p:cNvSpPr txBox="1"/>
          <p:nvPr/>
        </p:nvSpPr>
        <p:spPr>
          <a:xfrm>
            <a:off x="5276088" y="3246120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C23A3A"/>
                </a:solidFill>
                <a:latin typeface="Arial"/>
                <a:ea typeface="Arial"/>
                <a:cs typeface="Arial"/>
                <a:sym typeface="Arial"/>
              </a:rPr>
              <a:t>ALTO</a:t>
            </a:r>
            <a:endParaRPr/>
          </a:p>
        </p:txBody>
      </p:sp>
      <p:sp>
        <p:nvSpPr>
          <p:cNvPr id="279" name="Google Shape;279;p7"/>
          <p:cNvSpPr txBox="1"/>
          <p:nvPr/>
        </p:nvSpPr>
        <p:spPr>
          <a:xfrm>
            <a:off x="6336792" y="3182112"/>
            <a:ext cx="50749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30" u="none" cap="none" strike="noStrike">
                <a:solidFill>
                  <a:srgbClr val="232D37"/>
                </a:solidFill>
                <a:latin typeface="Arial"/>
                <a:ea typeface="Arial"/>
                <a:cs typeface="Arial"/>
                <a:sym typeface="Arial"/>
              </a:rPr>
              <a:t>Realizar revisiones cruzadas y mantener trazabilidad.</a:t>
            </a:r>
            <a:endParaRPr/>
          </a:p>
        </p:txBody>
      </p:sp>
      <p:sp>
        <p:nvSpPr>
          <p:cNvPr id="280" name="Google Shape;280;p7"/>
          <p:cNvSpPr/>
          <p:nvPr/>
        </p:nvSpPr>
        <p:spPr>
          <a:xfrm>
            <a:off x="594360" y="3758183"/>
            <a:ext cx="502920" cy="658368"/>
          </a:xfrm>
          <a:prstGeom prst="rect">
            <a:avLst/>
          </a:prstGeom>
          <a:solidFill>
            <a:srgbClr val="F4F6F8"/>
          </a:solidFill>
          <a:ln cap="flat" cmpd="sng" w="9525">
            <a:solidFill>
              <a:srgbClr val="DCE1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7"/>
          <p:cNvSpPr/>
          <p:nvPr/>
        </p:nvSpPr>
        <p:spPr>
          <a:xfrm>
            <a:off x="1143000" y="3758183"/>
            <a:ext cx="3977639" cy="658368"/>
          </a:xfrm>
          <a:prstGeom prst="rect">
            <a:avLst/>
          </a:prstGeom>
          <a:solidFill>
            <a:srgbClr val="F4F6F8"/>
          </a:solidFill>
          <a:ln cap="flat" cmpd="sng" w="9525">
            <a:solidFill>
              <a:srgbClr val="DCE1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7"/>
          <p:cNvSpPr/>
          <p:nvPr/>
        </p:nvSpPr>
        <p:spPr>
          <a:xfrm>
            <a:off x="5230368" y="3758183"/>
            <a:ext cx="914400" cy="658368"/>
          </a:xfrm>
          <a:prstGeom prst="rect">
            <a:avLst/>
          </a:prstGeom>
          <a:solidFill>
            <a:srgbClr val="F4F6F8"/>
          </a:solidFill>
          <a:ln cap="flat" cmpd="sng" w="9525">
            <a:solidFill>
              <a:srgbClr val="DCE1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7"/>
          <p:cNvSpPr/>
          <p:nvPr/>
        </p:nvSpPr>
        <p:spPr>
          <a:xfrm>
            <a:off x="6199632" y="3758183"/>
            <a:ext cx="5349240" cy="658368"/>
          </a:xfrm>
          <a:prstGeom prst="rect">
            <a:avLst/>
          </a:prstGeom>
          <a:solidFill>
            <a:srgbClr val="F4F6F8"/>
          </a:solidFill>
          <a:ln cap="flat" cmpd="sng" w="9525">
            <a:solidFill>
              <a:srgbClr val="DCE1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7"/>
          <p:cNvSpPr txBox="1"/>
          <p:nvPr/>
        </p:nvSpPr>
        <p:spPr>
          <a:xfrm>
            <a:off x="621792" y="3904487"/>
            <a:ext cx="4480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4395B"/>
                </a:solidFill>
                <a:latin typeface="Arial"/>
                <a:ea typeface="Arial"/>
                <a:cs typeface="Arial"/>
                <a:sym typeface="Arial"/>
              </a:rPr>
              <a:t>R-04</a:t>
            </a:r>
            <a:endParaRPr/>
          </a:p>
        </p:txBody>
      </p:sp>
      <p:sp>
        <p:nvSpPr>
          <p:cNvPr id="285" name="Google Shape;285;p7"/>
          <p:cNvSpPr txBox="1"/>
          <p:nvPr/>
        </p:nvSpPr>
        <p:spPr>
          <a:xfrm>
            <a:off x="1261872" y="3849623"/>
            <a:ext cx="37033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32D37"/>
                </a:solidFill>
                <a:latin typeface="Arial"/>
                <a:ea typeface="Arial"/>
                <a:cs typeface="Arial"/>
                <a:sym typeface="Arial"/>
              </a:rPr>
              <a:t>Retraso en diagramas UML</a:t>
            </a:r>
            <a:endParaRPr/>
          </a:p>
        </p:txBody>
      </p:sp>
      <p:sp>
        <p:nvSpPr>
          <p:cNvPr id="286" name="Google Shape;286;p7"/>
          <p:cNvSpPr txBox="1"/>
          <p:nvPr/>
        </p:nvSpPr>
        <p:spPr>
          <a:xfrm>
            <a:off x="5276088" y="3913631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BB120"/>
                </a:solidFill>
                <a:latin typeface="Arial"/>
                <a:ea typeface="Arial"/>
                <a:cs typeface="Arial"/>
                <a:sym typeface="Arial"/>
              </a:rPr>
              <a:t>MEDIO</a:t>
            </a:r>
            <a:endParaRPr/>
          </a:p>
        </p:txBody>
      </p:sp>
      <p:sp>
        <p:nvSpPr>
          <p:cNvPr id="287" name="Google Shape;287;p7"/>
          <p:cNvSpPr txBox="1"/>
          <p:nvPr/>
        </p:nvSpPr>
        <p:spPr>
          <a:xfrm>
            <a:off x="6336792" y="3849623"/>
            <a:ext cx="50749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30" u="none" cap="none" strike="noStrike">
                <a:solidFill>
                  <a:srgbClr val="232D37"/>
                </a:solidFill>
                <a:latin typeface="Arial"/>
                <a:ea typeface="Arial"/>
                <a:cs typeface="Arial"/>
                <a:sym typeface="Arial"/>
              </a:rPr>
              <a:t>Priorizar flujos principales y distribuir tareas.</a:t>
            </a:r>
            <a:endParaRPr/>
          </a:p>
        </p:txBody>
      </p:sp>
      <p:sp>
        <p:nvSpPr>
          <p:cNvPr id="288" name="Google Shape;288;p7"/>
          <p:cNvSpPr/>
          <p:nvPr/>
        </p:nvSpPr>
        <p:spPr>
          <a:xfrm>
            <a:off x="594360" y="4425696"/>
            <a:ext cx="502920" cy="6583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1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7"/>
          <p:cNvSpPr/>
          <p:nvPr/>
        </p:nvSpPr>
        <p:spPr>
          <a:xfrm>
            <a:off x="1143000" y="4425696"/>
            <a:ext cx="3977639" cy="6583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1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7"/>
          <p:cNvSpPr/>
          <p:nvPr/>
        </p:nvSpPr>
        <p:spPr>
          <a:xfrm>
            <a:off x="5230368" y="4425696"/>
            <a:ext cx="914400" cy="6583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1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7"/>
          <p:cNvSpPr/>
          <p:nvPr/>
        </p:nvSpPr>
        <p:spPr>
          <a:xfrm>
            <a:off x="6199632" y="4425696"/>
            <a:ext cx="5349240" cy="6583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1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7"/>
          <p:cNvSpPr txBox="1"/>
          <p:nvPr/>
        </p:nvSpPr>
        <p:spPr>
          <a:xfrm>
            <a:off x="621792" y="4572000"/>
            <a:ext cx="4480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4395B"/>
                </a:solidFill>
                <a:latin typeface="Arial"/>
                <a:ea typeface="Arial"/>
                <a:cs typeface="Arial"/>
                <a:sym typeface="Arial"/>
              </a:rPr>
              <a:t>R-05</a:t>
            </a:r>
            <a:endParaRPr/>
          </a:p>
        </p:txBody>
      </p:sp>
      <p:sp>
        <p:nvSpPr>
          <p:cNvPr id="293" name="Google Shape;293;p7"/>
          <p:cNvSpPr txBox="1"/>
          <p:nvPr/>
        </p:nvSpPr>
        <p:spPr>
          <a:xfrm>
            <a:off x="1261872" y="4517136"/>
            <a:ext cx="37033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32D37"/>
                </a:solidFill>
                <a:latin typeface="Arial"/>
                <a:ea typeface="Arial"/>
                <a:cs typeface="Arial"/>
                <a:sym typeface="Arial"/>
              </a:rPr>
              <a:t>Dificultad en definición de arquitectura</a:t>
            </a:r>
            <a:endParaRPr/>
          </a:p>
        </p:txBody>
      </p:sp>
      <p:sp>
        <p:nvSpPr>
          <p:cNvPr id="294" name="Google Shape;294;p7"/>
          <p:cNvSpPr txBox="1"/>
          <p:nvPr/>
        </p:nvSpPr>
        <p:spPr>
          <a:xfrm>
            <a:off x="5276088" y="4581144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C23A3A"/>
                </a:solidFill>
                <a:latin typeface="Arial"/>
                <a:ea typeface="Arial"/>
                <a:cs typeface="Arial"/>
                <a:sym typeface="Arial"/>
              </a:rPr>
              <a:t>ALTO</a:t>
            </a:r>
            <a:endParaRPr/>
          </a:p>
        </p:txBody>
      </p:sp>
      <p:sp>
        <p:nvSpPr>
          <p:cNvPr id="295" name="Google Shape;295;p7"/>
          <p:cNvSpPr txBox="1"/>
          <p:nvPr/>
        </p:nvSpPr>
        <p:spPr>
          <a:xfrm>
            <a:off x="6336792" y="4517136"/>
            <a:ext cx="50749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30" u="none" cap="none" strike="noStrike">
                <a:solidFill>
                  <a:srgbClr val="232D37"/>
                </a:solidFill>
                <a:latin typeface="Arial"/>
                <a:ea typeface="Arial"/>
                <a:cs typeface="Arial"/>
                <a:sym typeface="Arial"/>
              </a:rPr>
              <a:t>Definir comunicación Web–App–API–BD antes de implementar.</a:t>
            </a:r>
            <a:endParaRPr/>
          </a:p>
        </p:txBody>
      </p:sp>
      <p:sp>
        <p:nvSpPr>
          <p:cNvPr id="296" name="Google Shape;296;p7"/>
          <p:cNvSpPr/>
          <p:nvPr/>
        </p:nvSpPr>
        <p:spPr>
          <a:xfrm>
            <a:off x="594360" y="5093208"/>
            <a:ext cx="502920" cy="658368"/>
          </a:xfrm>
          <a:prstGeom prst="rect">
            <a:avLst/>
          </a:prstGeom>
          <a:solidFill>
            <a:srgbClr val="F4F6F8"/>
          </a:solidFill>
          <a:ln cap="flat" cmpd="sng" w="9525">
            <a:solidFill>
              <a:srgbClr val="DCE1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7"/>
          <p:cNvSpPr/>
          <p:nvPr/>
        </p:nvSpPr>
        <p:spPr>
          <a:xfrm>
            <a:off x="1143000" y="5093208"/>
            <a:ext cx="3977639" cy="658368"/>
          </a:xfrm>
          <a:prstGeom prst="rect">
            <a:avLst/>
          </a:prstGeom>
          <a:solidFill>
            <a:srgbClr val="F4F6F8"/>
          </a:solidFill>
          <a:ln cap="flat" cmpd="sng" w="9525">
            <a:solidFill>
              <a:srgbClr val="DCE1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7"/>
          <p:cNvSpPr/>
          <p:nvPr/>
        </p:nvSpPr>
        <p:spPr>
          <a:xfrm>
            <a:off x="5230368" y="5093208"/>
            <a:ext cx="914400" cy="658368"/>
          </a:xfrm>
          <a:prstGeom prst="rect">
            <a:avLst/>
          </a:prstGeom>
          <a:solidFill>
            <a:srgbClr val="F4F6F8"/>
          </a:solidFill>
          <a:ln cap="flat" cmpd="sng" w="9525">
            <a:solidFill>
              <a:srgbClr val="DCE1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7"/>
          <p:cNvSpPr/>
          <p:nvPr/>
        </p:nvSpPr>
        <p:spPr>
          <a:xfrm>
            <a:off x="6199632" y="5093208"/>
            <a:ext cx="5349240" cy="658368"/>
          </a:xfrm>
          <a:prstGeom prst="rect">
            <a:avLst/>
          </a:prstGeom>
          <a:solidFill>
            <a:srgbClr val="F4F6F8"/>
          </a:solidFill>
          <a:ln cap="flat" cmpd="sng" w="9525">
            <a:solidFill>
              <a:srgbClr val="DCE1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7"/>
          <p:cNvSpPr txBox="1"/>
          <p:nvPr/>
        </p:nvSpPr>
        <p:spPr>
          <a:xfrm>
            <a:off x="621792" y="5239512"/>
            <a:ext cx="4480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4395B"/>
                </a:solidFill>
                <a:latin typeface="Arial"/>
                <a:ea typeface="Arial"/>
                <a:cs typeface="Arial"/>
                <a:sym typeface="Arial"/>
              </a:rPr>
              <a:t>R-06</a:t>
            </a:r>
            <a:endParaRPr/>
          </a:p>
        </p:txBody>
      </p:sp>
      <p:sp>
        <p:nvSpPr>
          <p:cNvPr id="301" name="Google Shape;301;p7"/>
          <p:cNvSpPr txBox="1"/>
          <p:nvPr/>
        </p:nvSpPr>
        <p:spPr>
          <a:xfrm>
            <a:off x="1261872" y="5184648"/>
            <a:ext cx="37033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32D37"/>
                </a:solidFill>
                <a:latin typeface="Arial"/>
                <a:ea typeface="Arial"/>
                <a:cs typeface="Arial"/>
                <a:sym typeface="Arial"/>
              </a:rPr>
              <a:t>Falta de tiempo para completar DAS</a:t>
            </a:r>
            <a:endParaRPr/>
          </a:p>
        </p:txBody>
      </p:sp>
      <p:sp>
        <p:nvSpPr>
          <p:cNvPr id="302" name="Google Shape;302;p7"/>
          <p:cNvSpPr txBox="1"/>
          <p:nvPr/>
        </p:nvSpPr>
        <p:spPr>
          <a:xfrm>
            <a:off x="5276088" y="5248656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C23A3A"/>
                </a:solidFill>
                <a:latin typeface="Arial"/>
                <a:ea typeface="Arial"/>
                <a:cs typeface="Arial"/>
                <a:sym typeface="Arial"/>
              </a:rPr>
              <a:t>ALTO</a:t>
            </a:r>
            <a:endParaRPr/>
          </a:p>
        </p:txBody>
      </p:sp>
      <p:sp>
        <p:nvSpPr>
          <p:cNvPr id="303" name="Google Shape;303;p7"/>
          <p:cNvSpPr txBox="1"/>
          <p:nvPr/>
        </p:nvSpPr>
        <p:spPr>
          <a:xfrm>
            <a:off x="6336792" y="5184648"/>
            <a:ext cx="50749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30" u="none" cap="none" strike="noStrike">
                <a:solidFill>
                  <a:srgbClr val="232D37"/>
                </a:solidFill>
                <a:latin typeface="Arial"/>
                <a:ea typeface="Arial"/>
                <a:cs typeface="Arial"/>
                <a:sym typeface="Arial"/>
              </a:rPr>
              <a:t>Construir el documento progresivamente con decisiones validadas.</a:t>
            </a:r>
            <a:endParaRPr/>
          </a:p>
        </p:txBody>
      </p:sp>
      <p:sp>
        <p:nvSpPr>
          <p:cNvPr id="304" name="Google Shape;304;p7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46E78"/>
                </a:solidFill>
                <a:latin typeface="Arial"/>
                <a:ea typeface="Arial"/>
                <a:cs typeface="Arial"/>
                <a:sym typeface="Arial"/>
              </a:rPr>
              <a:t>JJV Técnico Ya · Seguimiento de proyecto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8"/>
          <p:cNvSpPr/>
          <p:nvPr/>
        </p:nvSpPr>
        <p:spPr>
          <a:xfrm>
            <a:off x="-12" y="33725"/>
            <a:ext cx="121917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8"/>
          <p:cNvSpPr txBox="1"/>
          <p:nvPr/>
        </p:nvSpPr>
        <p:spPr>
          <a:xfrm>
            <a:off x="594360" y="347472"/>
            <a:ext cx="10332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4395B"/>
                </a:solidFill>
                <a:latin typeface="Arial"/>
                <a:ea typeface="Arial"/>
                <a:cs typeface="Arial"/>
                <a:sym typeface="Arial"/>
              </a:rPr>
              <a:t>Evidencias y control del avance</a:t>
            </a:r>
            <a:endParaRPr/>
          </a:p>
        </p:txBody>
      </p:sp>
      <p:sp>
        <p:nvSpPr>
          <p:cNvPr id="311" name="Google Shape;311;p8"/>
          <p:cNvSpPr txBox="1"/>
          <p:nvPr/>
        </p:nvSpPr>
        <p:spPr>
          <a:xfrm>
            <a:off x="612648" y="859536"/>
            <a:ext cx="10424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646E78"/>
                </a:solidFill>
                <a:latin typeface="Arial"/>
                <a:ea typeface="Arial"/>
                <a:cs typeface="Arial"/>
                <a:sym typeface="Arial"/>
              </a:rPr>
              <a:t>La entrega debe demostrar no solo resultado, sino trazabilidad</a:t>
            </a:r>
            <a:endParaRPr/>
          </a:p>
        </p:txBody>
      </p:sp>
      <p:sp>
        <p:nvSpPr>
          <p:cNvPr id="312" name="Google Shape;312;p8"/>
          <p:cNvSpPr/>
          <p:nvPr/>
        </p:nvSpPr>
        <p:spPr>
          <a:xfrm>
            <a:off x="502920" y="1828800"/>
            <a:ext cx="1993392" cy="1417320"/>
          </a:xfrm>
          <a:prstGeom prst="roundRect">
            <a:avLst>
              <a:gd fmla="val 16667" name="adj"/>
            </a:avLst>
          </a:prstGeom>
          <a:solidFill>
            <a:srgbClr val="F4F6F8"/>
          </a:solidFill>
          <a:ln cap="flat" cmpd="sng" w="9525">
            <a:solidFill>
              <a:srgbClr val="DCE1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8"/>
          <p:cNvSpPr txBox="1"/>
          <p:nvPr/>
        </p:nvSpPr>
        <p:spPr>
          <a:xfrm>
            <a:off x="612648" y="2057400"/>
            <a:ext cx="177393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28414"/>
                </a:solidFill>
                <a:latin typeface="Arial"/>
                <a:ea typeface="Arial"/>
                <a:cs typeface="Arial"/>
                <a:sym typeface="Arial"/>
              </a:rPr>
              <a:t>REQUISITO</a:t>
            </a:r>
            <a:endParaRPr/>
          </a:p>
        </p:txBody>
      </p:sp>
      <p:sp>
        <p:nvSpPr>
          <p:cNvPr id="314" name="Google Shape;314;p8"/>
          <p:cNvSpPr txBox="1"/>
          <p:nvPr/>
        </p:nvSpPr>
        <p:spPr>
          <a:xfrm>
            <a:off x="667512" y="2487168"/>
            <a:ext cx="166420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4395B"/>
                </a:solidFill>
                <a:latin typeface="Arial"/>
                <a:ea typeface="Arial"/>
                <a:cs typeface="Arial"/>
                <a:sym typeface="Arial"/>
              </a:rPr>
              <a:t>ERS + requisitos priorizados</a:t>
            </a:r>
            <a:endParaRPr/>
          </a:p>
        </p:txBody>
      </p:sp>
      <p:sp>
        <p:nvSpPr>
          <p:cNvPr id="315" name="Google Shape;315;p8"/>
          <p:cNvSpPr txBox="1"/>
          <p:nvPr/>
        </p:nvSpPr>
        <p:spPr>
          <a:xfrm>
            <a:off x="2496312" y="2286000"/>
            <a:ext cx="32918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46E7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316" name="Google Shape;316;p8"/>
          <p:cNvSpPr/>
          <p:nvPr/>
        </p:nvSpPr>
        <p:spPr>
          <a:xfrm>
            <a:off x="2834639" y="1828800"/>
            <a:ext cx="1993392" cy="1417320"/>
          </a:xfrm>
          <a:prstGeom prst="roundRect">
            <a:avLst>
              <a:gd fmla="val 16667" name="adj"/>
            </a:avLst>
          </a:prstGeom>
          <a:solidFill>
            <a:srgbClr val="F4F6F8"/>
          </a:solidFill>
          <a:ln cap="flat" cmpd="sng" w="9525">
            <a:solidFill>
              <a:srgbClr val="DCE1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8"/>
          <p:cNvSpPr txBox="1"/>
          <p:nvPr/>
        </p:nvSpPr>
        <p:spPr>
          <a:xfrm>
            <a:off x="2944368" y="2057400"/>
            <a:ext cx="177393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28414"/>
                </a:solidFill>
                <a:latin typeface="Arial"/>
                <a:ea typeface="Arial"/>
                <a:cs typeface="Arial"/>
                <a:sym typeface="Arial"/>
              </a:rPr>
              <a:t>DISEÑO</a:t>
            </a:r>
            <a:endParaRPr/>
          </a:p>
        </p:txBody>
      </p:sp>
      <p:sp>
        <p:nvSpPr>
          <p:cNvPr id="318" name="Google Shape;318;p8"/>
          <p:cNvSpPr txBox="1"/>
          <p:nvPr/>
        </p:nvSpPr>
        <p:spPr>
          <a:xfrm>
            <a:off x="2999232" y="2487168"/>
            <a:ext cx="166420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4395B"/>
                </a:solidFill>
                <a:latin typeface="Arial"/>
                <a:ea typeface="Arial"/>
                <a:cs typeface="Arial"/>
                <a:sym typeface="Arial"/>
              </a:rPr>
              <a:t>Arquitectura + BD + UML + mockups</a:t>
            </a:r>
            <a:endParaRPr/>
          </a:p>
        </p:txBody>
      </p:sp>
      <p:sp>
        <p:nvSpPr>
          <p:cNvPr id="319" name="Google Shape;319;p8"/>
          <p:cNvSpPr txBox="1"/>
          <p:nvPr/>
        </p:nvSpPr>
        <p:spPr>
          <a:xfrm>
            <a:off x="4828031" y="2286000"/>
            <a:ext cx="32918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46E7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320" name="Google Shape;320;p8"/>
          <p:cNvSpPr/>
          <p:nvPr/>
        </p:nvSpPr>
        <p:spPr>
          <a:xfrm>
            <a:off x="5166359" y="1828800"/>
            <a:ext cx="1993392" cy="1417320"/>
          </a:xfrm>
          <a:prstGeom prst="roundRect">
            <a:avLst>
              <a:gd fmla="val 16667" name="adj"/>
            </a:avLst>
          </a:prstGeom>
          <a:solidFill>
            <a:srgbClr val="F4F6F8"/>
          </a:solidFill>
          <a:ln cap="flat" cmpd="sng" w="9525">
            <a:solidFill>
              <a:srgbClr val="DCE1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8"/>
          <p:cNvSpPr txBox="1"/>
          <p:nvPr/>
        </p:nvSpPr>
        <p:spPr>
          <a:xfrm>
            <a:off x="5276088" y="2057400"/>
            <a:ext cx="177393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28414"/>
                </a:solidFill>
                <a:latin typeface="Arial"/>
                <a:ea typeface="Arial"/>
                <a:cs typeface="Arial"/>
                <a:sym typeface="Arial"/>
              </a:rPr>
              <a:t>IMPLEMENTACIÓN</a:t>
            </a:r>
            <a:endParaRPr/>
          </a:p>
        </p:txBody>
      </p:sp>
      <p:sp>
        <p:nvSpPr>
          <p:cNvPr id="322" name="Google Shape;322;p8"/>
          <p:cNvSpPr txBox="1"/>
          <p:nvPr/>
        </p:nvSpPr>
        <p:spPr>
          <a:xfrm>
            <a:off x="5330951" y="2487168"/>
            <a:ext cx="166420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4395B"/>
                </a:solidFill>
                <a:latin typeface="Arial"/>
                <a:ea typeface="Arial"/>
                <a:cs typeface="Arial"/>
                <a:sym typeface="Arial"/>
              </a:rPr>
              <a:t>Web + App + Backend</a:t>
            </a:r>
            <a:endParaRPr/>
          </a:p>
        </p:txBody>
      </p:sp>
      <p:sp>
        <p:nvSpPr>
          <p:cNvPr id="323" name="Google Shape;323;p8"/>
          <p:cNvSpPr txBox="1"/>
          <p:nvPr/>
        </p:nvSpPr>
        <p:spPr>
          <a:xfrm>
            <a:off x="7159752" y="2286000"/>
            <a:ext cx="32918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46E7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324" name="Google Shape;324;p8"/>
          <p:cNvSpPr/>
          <p:nvPr/>
        </p:nvSpPr>
        <p:spPr>
          <a:xfrm>
            <a:off x="7498079" y="1828800"/>
            <a:ext cx="1993392" cy="1417320"/>
          </a:xfrm>
          <a:prstGeom prst="roundRect">
            <a:avLst>
              <a:gd fmla="val 16667" name="adj"/>
            </a:avLst>
          </a:prstGeom>
          <a:solidFill>
            <a:srgbClr val="F4F6F8"/>
          </a:solidFill>
          <a:ln cap="flat" cmpd="sng" w="9525">
            <a:solidFill>
              <a:srgbClr val="DCE1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8"/>
          <p:cNvSpPr txBox="1"/>
          <p:nvPr/>
        </p:nvSpPr>
        <p:spPr>
          <a:xfrm>
            <a:off x="7607807" y="2057400"/>
            <a:ext cx="177393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28414"/>
                </a:solidFill>
                <a:latin typeface="Arial"/>
                <a:ea typeface="Arial"/>
                <a:cs typeface="Arial"/>
                <a:sym typeface="Arial"/>
              </a:rPr>
              <a:t>VALIDACIÓN</a:t>
            </a:r>
            <a:endParaRPr/>
          </a:p>
        </p:txBody>
      </p:sp>
      <p:sp>
        <p:nvSpPr>
          <p:cNvPr id="326" name="Google Shape;326;p8"/>
          <p:cNvSpPr txBox="1"/>
          <p:nvPr/>
        </p:nvSpPr>
        <p:spPr>
          <a:xfrm>
            <a:off x="7662671" y="2487168"/>
            <a:ext cx="166420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4395B"/>
                </a:solidFill>
                <a:latin typeface="Arial"/>
                <a:ea typeface="Arial"/>
                <a:cs typeface="Arial"/>
                <a:sym typeface="Arial"/>
              </a:rPr>
              <a:t>Pruebas + correcciones</a:t>
            </a:r>
            <a:endParaRPr/>
          </a:p>
        </p:txBody>
      </p:sp>
      <p:sp>
        <p:nvSpPr>
          <p:cNvPr id="327" name="Google Shape;327;p8"/>
          <p:cNvSpPr txBox="1"/>
          <p:nvPr/>
        </p:nvSpPr>
        <p:spPr>
          <a:xfrm>
            <a:off x="9491472" y="2286000"/>
            <a:ext cx="32918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46E7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328" name="Google Shape;328;p8"/>
          <p:cNvSpPr/>
          <p:nvPr/>
        </p:nvSpPr>
        <p:spPr>
          <a:xfrm>
            <a:off x="9829800" y="1828800"/>
            <a:ext cx="1993392" cy="1417320"/>
          </a:xfrm>
          <a:prstGeom prst="roundRect">
            <a:avLst>
              <a:gd fmla="val 16667" name="adj"/>
            </a:avLst>
          </a:prstGeom>
          <a:solidFill>
            <a:srgbClr val="F4F6F8"/>
          </a:solidFill>
          <a:ln cap="flat" cmpd="sng" w="9525">
            <a:solidFill>
              <a:srgbClr val="DCE1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8"/>
          <p:cNvSpPr txBox="1"/>
          <p:nvPr/>
        </p:nvSpPr>
        <p:spPr>
          <a:xfrm>
            <a:off x="9939528" y="2057400"/>
            <a:ext cx="177393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28414"/>
                </a:solidFill>
                <a:latin typeface="Arial"/>
                <a:ea typeface="Arial"/>
                <a:cs typeface="Arial"/>
                <a:sym typeface="Arial"/>
              </a:rPr>
              <a:t>EVIDENCIA</a:t>
            </a:r>
            <a:endParaRPr/>
          </a:p>
        </p:txBody>
      </p:sp>
      <p:sp>
        <p:nvSpPr>
          <p:cNvPr id="330" name="Google Shape;330;p8"/>
          <p:cNvSpPr txBox="1"/>
          <p:nvPr/>
        </p:nvSpPr>
        <p:spPr>
          <a:xfrm>
            <a:off x="9994392" y="2487168"/>
            <a:ext cx="166420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4395B"/>
                </a:solidFill>
                <a:latin typeface="Arial"/>
                <a:ea typeface="Arial"/>
                <a:cs typeface="Arial"/>
                <a:sym typeface="Arial"/>
              </a:rPr>
              <a:t>Git + documentación</a:t>
            </a:r>
            <a:endParaRPr/>
          </a:p>
        </p:txBody>
      </p:sp>
      <p:sp>
        <p:nvSpPr>
          <p:cNvPr id="331" name="Google Shape;331;p8"/>
          <p:cNvSpPr/>
          <p:nvPr/>
        </p:nvSpPr>
        <p:spPr>
          <a:xfrm>
            <a:off x="612650" y="3706525"/>
            <a:ext cx="10607100" cy="1508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1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8"/>
          <p:cNvSpPr txBox="1"/>
          <p:nvPr/>
        </p:nvSpPr>
        <p:spPr>
          <a:xfrm>
            <a:off x="914400" y="4160520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4395B"/>
                </a:solidFill>
                <a:latin typeface="Arial"/>
                <a:ea typeface="Arial"/>
                <a:cs typeface="Arial"/>
                <a:sym typeface="Arial"/>
              </a:rPr>
              <a:t>Control semanal</a:t>
            </a:r>
            <a:endParaRPr/>
          </a:p>
        </p:txBody>
      </p:sp>
      <p:sp>
        <p:nvSpPr>
          <p:cNvPr id="333" name="Google Shape;333;p8"/>
          <p:cNvSpPr txBox="1"/>
          <p:nvPr/>
        </p:nvSpPr>
        <p:spPr>
          <a:xfrm>
            <a:off x="2331720" y="4050791"/>
            <a:ext cx="84582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06070" lvl="0" marL="457200" marR="0" rtl="0" algn="l">
              <a:spcBef>
                <a:spcPts val="800"/>
              </a:spcBef>
              <a:spcAft>
                <a:spcPts val="0"/>
              </a:spcAft>
              <a:buClr>
                <a:srgbClr val="232D37"/>
              </a:buClr>
              <a:buSzPts val="1220"/>
              <a:buFont typeface="Arial"/>
              <a:buChar char="●"/>
            </a:pPr>
            <a:r>
              <a:rPr b="0" i="0" lang="en-US" sz="1220" u="none" cap="none" strike="noStrike">
                <a:solidFill>
                  <a:srgbClr val="232D37"/>
                </a:solidFill>
                <a:latin typeface="Arial"/>
                <a:ea typeface="Arial"/>
                <a:cs typeface="Arial"/>
                <a:sym typeface="Arial"/>
              </a:rPr>
              <a:t>Mantener evidencia del aporte individual de cada integrante.</a:t>
            </a:r>
            <a:endParaRPr/>
          </a:p>
          <a:p>
            <a:pPr indent="-30607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1220"/>
              <a:buFont typeface="Arial"/>
              <a:buChar char="●"/>
            </a:pPr>
            <a:r>
              <a:rPr b="0" i="0" lang="en-US" sz="1220" u="none" cap="none" strike="noStrike">
                <a:solidFill>
                  <a:srgbClr val="232D37"/>
                </a:solidFill>
                <a:latin typeface="Arial"/>
                <a:ea typeface="Arial"/>
                <a:cs typeface="Arial"/>
                <a:sym typeface="Arial"/>
              </a:rPr>
              <a:t>Revisar semanalmente alcance, riesgos y desviaciones.</a:t>
            </a:r>
            <a:endParaRPr/>
          </a:p>
          <a:p>
            <a:pPr indent="-30607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1220"/>
              <a:buFont typeface="Arial"/>
              <a:buChar char="●"/>
            </a:pPr>
            <a:r>
              <a:rPr b="0" i="0" lang="en-US" sz="1220" u="none" cap="none" strike="noStrike">
                <a:solidFill>
                  <a:srgbClr val="232D37"/>
                </a:solidFill>
                <a:latin typeface="Arial"/>
                <a:ea typeface="Arial"/>
                <a:cs typeface="Arial"/>
                <a:sym typeface="Arial"/>
              </a:rPr>
              <a:t>Conservar relación entre requisito → diseño → implementación → evidencia.</a:t>
            </a:r>
            <a:endParaRPr/>
          </a:p>
        </p:txBody>
      </p:sp>
      <p:sp>
        <p:nvSpPr>
          <p:cNvPr id="334" name="Google Shape;334;p8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46E78"/>
                </a:solidFill>
                <a:latin typeface="Arial"/>
                <a:ea typeface="Arial"/>
                <a:cs typeface="Arial"/>
                <a:sym typeface="Arial"/>
              </a:rPr>
              <a:t>JJV Técnico Ya · Seguimiento de proyecto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fb3313f2b4_0_3"/>
          <p:cNvSpPr/>
          <p:nvPr/>
        </p:nvSpPr>
        <p:spPr>
          <a:xfrm>
            <a:off x="-60675" y="0"/>
            <a:ext cx="121917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g3fb3313f2b4_0_3"/>
          <p:cNvSpPr txBox="1"/>
          <p:nvPr/>
        </p:nvSpPr>
        <p:spPr>
          <a:xfrm>
            <a:off x="594360" y="384048"/>
            <a:ext cx="5943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28414"/>
                </a:solidFill>
                <a:latin typeface="Arial"/>
                <a:ea typeface="Arial"/>
                <a:cs typeface="Arial"/>
                <a:sym typeface="Arial"/>
              </a:rPr>
              <a:t>COMPROMISO DE LA PRÓXIMA SEMANA</a:t>
            </a:r>
            <a:endParaRPr/>
          </a:p>
        </p:txBody>
      </p:sp>
      <p:sp>
        <p:nvSpPr>
          <p:cNvPr id="341" name="Google Shape;341;g3fb3313f2b4_0_3"/>
          <p:cNvSpPr txBox="1"/>
          <p:nvPr/>
        </p:nvSpPr>
        <p:spPr>
          <a:xfrm>
            <a:off x="594360" y="749808"/>
            <a:ext cx="9601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4395B"/>
                </a:solidFill>
                <a:latin typeface="Arial"/>
                <a:ea typeface="Arial"/>
                <a:cs typeface="Arial"/>
                <a:sym typeface="Arial"/>
              </a:rPr>
              <a:t>Avanzar en los entregables de la Fase 2</a:t>
            </a:r>
            <a:endParaRPr/>
          </a:p>
        </p:txBody>
      </p:sp>
      <p:sp>
        <p:nvSpPr>
          <p:cNvPr id="342" name="Google Shape;342;g3fb3313f2b4_0_3"/>
          <p:cNvSpPr txBox="1"/>
          <p:nvPr/>
        </p:nvSpPr>
        <p:spPr>
          <a:xfrm>
            <a:off x="612648" y="1307592"/>
            <a:ext cx="5486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6E78"/>
                </a:solidFill>
                <a:latin typeface="Arial"/>
                <a:ea typeface="Arial"/>
                <a:cs typeface="Arial"/>
                <a:sym typeface="Arial"/>
              </a:rPr>
              <a:t>Semana del 15 al 18 de septiembre</a:t>
            </a:r>
            <a:endParaRPr/>
          </a:p>
        </p:txBody>
      </p:sp>
      <p:sp>
        <p:nvSpPr>
          <p:cNvPr id="343" name="Google Shape;343;g3fb3313f2b4_0_3"/>
          <p:cNvSpPr/>
          <p:nvPr/>
        </p:nvSpPr>
        <p:spPr>
          <a:xfrm>
            <a:off x="658368" y="1783080"/>
            <a:ext cx="10835700" cy="841200"/>
          </a:xfrm>
          <a:prstGeom prst="roundRect">
            <a:avLst>
              <a:gd fmla="val 16667" name="adj"/>
            </a:avLst>
          </a:prstGeom>
          <a:solidFill>
            <a:srgbClr val="14395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g3fb3313f2b4_0_3"/>
          <p:cNvSpPr txBox="1"/>
          <p:nvPr/>
        </p:nvSpPr>
        <p:spPr>
          <a:xfrm>
            <a:off x="914400" y="1920240"/>
            <a:ext cx="103326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Objetivo: dejar terminados los mockups y el modelo de BD, e iniciar formalmente el trabajo UML.</a:t>
            </a:r>
            <a:endParaRPr/>
          </a:p>
        </p:txBody>
      </p:sp>
      <p:sp>
        <p:nvSpPr>
          <p:cNvPr id="345" name="Google Shape;345;g3fb3313f2b4_0_3"/>
          <p:cNvSpPr/>
          <p:nvPr/>
        </p:nvSpPr>
        <p:spPr>
          <a:xfrm>
            <a:off x="658368" y="2971800"/>
            <a:ext cx="2487300" cy="2212800"/>
          </a:xfrm>
          <a:prstGeom prst="roundRect">
            <a:avLst>
              <a:gd fmla="val 16667" name="adj"/>
            </a:avLst>
          </a:prstGeom>
          <a:solidFill>
            <a:srgbClr val="F4F7F9"/>
          </a:solidFill>
          <a:ln cap="flat" cmpd="sng" w="9525">
            <a:solidFill>
              <a:srgbClr val="DCE2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g3fb3313f2b4_0_3"/>
          <p:cNvSpPr txBox="1"/>
          <p:nvPr/>
        </p:nvSpPr>
        <p:spPr>
          <a:xfrm>
            <a:off x="822959" y="3182112"/>
            <a:ext cx="438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F28414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347" name="Google Shape;347;g3fb3313f2b4_0_3"/>
          <p:cNvSpPr txBox="1"/>
          <p:nvPr/>
        </p:nvSpPr>
        <p:spPr>
          <a:xfrm>
            <a:off x="822959" y="3547872"/>
            <a:ext cx="2148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4395B"/>
                </a:solidFill>
                <a:latin typeface="Arial"/>
                <a:ea typeface="Arial"/>
                <a:cs typeface="Arial"/>
                <a:sym typeface="Arial"/>
              </a:rPr>
              <a:t>TERMINAR MOCKUPS</a:t>
            </a:r>
            <a:endParaRPr/>
          </a:p>
        </p:txBody>
      </p:sp>
      <p:sp>
        <p:nvSpPr>
          <p:cNvPr id="348" name="Google Shape;348;g3fb3313f2b4_0_3"/>
          <p:cNvSpPr txBox="1"/>
          <p:nvPr/>
        </p:nvSpPr>
        <p:spPr>
          <a:xfrm>
            <a:off x="822959" y="4096512"/>
            <a:ext cx="21396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0" u="none" cap="none" strike="noStrike">
                <a:solidFill>
                  <a:srgbClr val="232D37"/>
                </a:solidFill>
                <a:latin typeface="Arial"/>
                <a:ea typeface="Arial"/>
                <a:cs typeface="Arial"/>
                <a:sym typeface="Arial"/>
              </a:rPr>
              <a:t>Completar las principales pantallas y flujos definidos para el sistema.</a:t>
            </a:r>
            <a:endParaRPr/>
          </a:p>
        </p:txBody>
      </p:sp>
      <p:sp>
        <p:nvSpPr>
          <p:cNvPr id="349" name="Google Shape;349;g3fb3313f2b4_0_3"/>
          <p:cNvSpPr/>
          <p:nvPr/>
        </p:nvSpPr>
        <p:spPr>
          <a:xfrm>
            <a:off x="3419856" y="2971800"/>
            <a:ext cx="2487300" cy="2212800"/>
          </a:xfrm>
          <a:prstGeom prst="roundRect">
            <a:avLst>
              <a:gd fmla="val 16667" name="adj"/>
            </a:avLst>
          </a:prstGeom>
          <a:solidFill>
            <a:srgbClr val="F4F7F9"/>
          </a:solidFill>
          <a:ln cap="flat" cmpd="sng" w="9525">
            <a:solidFill>
              <a:srgbClr val="DCE2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g3fb3313f2b4_0_3"/>
          <p:cNvSpPr txBox="1"/>
          <p:nvPr/>
        </p:nvSpPr>
        <p:spPr>
          <a:xfrm>
            <a:off x="3584448" y="3182112"/>
            <a:ext cx="438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4395B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351" name="Google Shape;351;g3fb3313f2b4_0_3"/>
          <p:cNvSpPr txBox="1"/>
          <p:nvPr/>
        </p:nvSpPr>
        <p:spPr>
          <a:xfrm>
            <a:off x="3584448" y="3547872"/>
            <a:ext cx="21489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4395B"/>
                </a:solidFill>
                <a:latin typeface="Arial"/>
                <a:ea typeface="Arial"/>
                <a:cs typeface="Arial"/>
                <a:sym typeface="Arial"/>
              </a:rPr>
              <a:t>TERMINAR MODELO DE BD</a:t>
            </a:r>
            <a:endParaRPr/>
          </a:p>
        </p:txBody>
      </p:sp>
      <p:sp>
        <p:nvSpPr>
          <p:cNvPr id="352" name="Google Shape;352;g3fb3313f2b4_0_3"/>
          <p:cNvSpPr txBox="1"/>
          <p:nvPr/>
        </p:nvSpPr>
        <p:spPr>
          <a:xfrm>
            <a:off x="3584448" y="4096512"/>
            <a:ext cx="21396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0" u="none" cap="none" strike="noStrike">
                <a:solidFill>
                  <a:srgbClr val="232D37"/>
                </a:solidFill>
                <a:latin typeface="Arial"/>
                <a:ea typeface="Arial"/>
                <a:cs typeface="Arial"/>
                <a:sym typeface="Arial"/>
              </a:rPr>
              <a:t>Finalizar y validar las entidades, atributos y relaciones de la base de datos.</a:t>
            </a:r>
            <a:endParaRPr/>
          </a:p>
        </p:txBody>
      </p:sp>
      <p:sp>
        <p:nvSpPr>
          <p:cNvPr id="353" name="Google Shape;353;g3fb3313f2b4_0_3"/>
          <p:cNvSpPr/>
          <p:nvPr/>
        </p:nvSpPr>
        <p:spPr>
          <a:xfrm>
            <a:off x="6181344" y="2971800"/>
            <a:ext cx="2487300" cy="2212800"/>
          </a:xfrm>
          <a:prstGeom prst="roundRect">
            <a:avLst>
              <a:gd fmla="val 16667" name="adj"/>
            </a:avLst>
          </a:prstGeom>
          <a:solidFill>
            <a:srgbClr val="F4F7F9"/>
          </a:solidFill>
          <a:ln cap="flat" cmpd="sng" w="9525">
            <a:solidFill>
              <a:srgbClr val="DCE2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g3fb3313f2b4_0_3"/>
          <p:cNvSpPr txBox="1"/>
          <p:nvPr/>
        </p:nvSpPr>
        <p:spPr>
          <a:xfrm>
            <a:off x="6345936" y="3182112"/>
            <a:ext cx="438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E4B7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355" name="Google Shape;355;g3fb3313f2b4_0_3"/>
          <p:cNvSpPr txBox="1"/>
          <p:nvPr/>
        </p:nvSpPr>
        <p:spPr>
          <a:xfrm>
            <a:off x="6345936" y="3547872"/>
            <a:ext cx="2148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4395B"/>
                </a:solidFill>
                <a:latin typeface="Arial"/>
                <a:ea typeface="Arial"/>
                <a:cs typeface="Arial"/>
                <a:sym typeface="Arial"/>
              </a:rPr>
              <a:t>EMPEZAR UML</a:t>
            </a:r>
            <a:endParaRPr/>
          </a:p>
        </p:txBody>
      </p:sp>
      <p:sp>
        <p:nvSpPr>
          <p:cNvPr id="356" name="Google Shape;356;g3fb3313f2b4_0_3"/>
          <p:cNvSpPr txBox="1"/>
          <p:nvPr/>
        </p:nvSpPr>
        <p:spPr>
          <a:xfrm>
            <a:off x="6345936" y="4096512"/>
            <a:ext cx="21396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0" u="none" cap="none" strike="noStrike">
                <a:solidFill>
                  <a:srgbClr val="232D37"/>
                </a:solidFill>
                <a:latin typeface="Arial"/>
                <a:ea typeface="Arial"/>
                <a:cs typeface="Arial"/>
                <a:sym typeface="Arial"/>
              </a:rPr>
              <a:t>Iniciar los primeros diagramas, comenzando por Casos de Uso y Diagrama de Clases.</a:t>
            </a:r>
            <a:endParaRPr/>
          </a:p>
        </p:txBody>
      </p:sp>
      <p:sp>
        <p:nvSpPr>
          <p:cNvPr id="357" name="Google Shape;357;g3fb3313f2b4_0_3"/>
          <p:cNvSpPr/>
          <p:nvPr/>
        </p:nvSpPr>
        <p:spPr>
          <a:xfrm>
            <a:off x="8942832" y="2971800"/>
            <a:ext cx="2487300" cy="2212800"/>
          </a:xfrm>
          <a:prstGeom prst="roundRect">
            <a:avLst>
              <a:gd fmla="val 16667" name="adj"/>
            </a:avLst>
          </a:prstGeom>
          <a:solidFill>
            <a:srgbClr val="F4F7F9"/>
          </a:solidFill>
          <a:ln cap="flat" cmpd="sng" w="9525">
            <a:solidFill>
              <a:srgbClr val="DCE2E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g3fb3313f2b4_0_3"/>
          <p:cNvSpPr txBox="1"/>
          <p:nvPr/>
        </p:nvSpPr>
        <p:spPr>
          <a:xfrm>
            <a:off x="9107424" y="3182112"/>
            <a:ext cx="438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32875A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359" name="Google Shape;359;g3fb3313f2b4_0_3"/>
          <p:cNvSpPr txBox="1"/>
          <p:nvPr/>
        </p:nvSpPr>
        <p:spPr>
          <a:xfrm>
            <a:off x="9107399" y="3451722"/>
            <a:ext cx="21489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14395B"/>
                </a:solidFill>
              </a:rPr>
              <a:t>COMENZAR PROGRAMACIÓN </a:t>
            </a:r>
            <a:endParaRPr/>
          </a:p>
        </p:txBody>
      </p:sp>
      <p:sp>
        <p:nvSpPr>
          <p:cNvPr id="360" name="Google Shape;360;g3fb3313f2b4_0_3"/>
          <p:cNvSpPr txBox="1"/>
          <p:nvPr/>
        </p:nvSpPr>
        <p:spPr>
          <a:xfrm>
            <a:off x="9107399" y="4062787"/>
            <a:ext cx="2139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0">
                <a:solidFill>
                  <a:srgbClr val="232D37"/>
                </a:solidFill>
              </a:rPr>
              <a:t>Iniciar la implementación de las primeras funcionalidades del sistema, utilizando la arquitectura y modelo de datos definidos. </a:t>
            </a:r>
            <a:endParaRPr/>
          </a:p>
        </p:txBody>
      </p:sp>
      <p:sp>
        <p:nvSpPr>
          <p:cNvPr id="361" name="Google Shape;361;g3fb3313f2b4_0_3"/>
          <p:cNvSpPr txBox="1"/>
          <p:nvPr/>
        </p:nvSpPr>
        <p:spPr>
          <a:xfrm>
            <a:off x="685800" y="5532120"/>
            <a:ext cx="16458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646E78"/>
                </a:solidFill>
                <a:latin typeface="Arial"/>
                <a:ea typeface="Arial"/>
                <a:cs typeface="Arial"/>
                <a:sym typeface="Arial"/>
              </a:rPr>
              <a:t>RESULTADO ESPERADO</a:t>
            </a:r>
            <a:endParaRPr/>
          </a:p>
        </p:txBody>
      </p:sp>
      <p:sp>
        <p:nvSpPr>
          <p:cNvPr id="362" name="Google Shape;362;g3fb3313f2b4_0_3"/>
          <p:cNvSpPr txBox="1"/>
          <p:nvPr/>
        </p:nvSpPr>
        <p:spPr>
          <a:xfrm>
            <a:off x="2331720" y="5449824"/>
            <a:ext cx="81381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14395B"/>
                </a:solidFill>
                <a:latin typeface="Arial"/>
                <a:ea typeface="Arial"/>
                <a:cs typeface="Arial"/>
                <a:sym typeface="Arial"/>
              </a:rPr>
              <a:t>Mockups + BD terminados y </a:t>
            </a:r>
            <a:r>
              <a:rPr b="1" lang="en-US" sz="1450">
                <a:solidFill>
                  <a:srgbClr val="14395B"/>
                </a:solidFill>
              </a:rPr>
              <a:t>comenzar con el desarrollo</a:t>
            </a:r>
            <a:endParaRPr/>
          </a:p>
        </p:txBody>
      </p:sp>
      <p:sp>
        <p:nvSpPr>
          <p:cNvPr id="363" name="Google Shape;363;g3fb3313f2b4_0_3"/>
          <p:cNvSpPr txBox="1"/>
          <p:nvPr/>
        </p:nvSpPr>
        <p:spPr>
          <a:xfrm>
            <a:off x="658368" y="6446520"/>
            <a:ext cx="4114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46E78"/>
                </a:solidFill>
                <a:latin typeface="Arial"/>
                <a:ea typeface="Arial"/>
                <a:cs typeface="Arial"/>
                <a:sym typeface="Arial"/>
              </a:rPr>
              <a:t>JJV Técnico Ya · Seguimiento de proyecto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95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1"/>
          <p:cNvSpPr txBox="1"/>
          <p:nvPr/>
        </p:nvSpPr>
        <p:spPr>
          <a:xfrm>
            <a:off x="731520" y="658368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28414"/>
                </a:solidFill>
                <a:latin typeface="Arial"/>
                <a:ea typeface="Arial"/>
                <a:cs typeface="Arial"/>
                <a:sym typeface="Arial"/>
              </a:rPr>
              <a:t>Estado del proyecto</a:t>
            </a:r>
            <a:endParaRPr/>
          </a:p>
        </p:txBody>
      </p:sp>
      <p:sp>
        <p:nvSpPr>
          <p:cNvPr id="370" name="Google Shape;370;p11"/>
          <p:cNvSpPr txBox="1"/>
          <p:nvPr/>
        </p:nvSpPr>
        <p:spPr>
          <a:xfrm>
            <a:off x="731520" y="1234440"/>
            <a:ext cx="8686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 plazo y con foco definido</a:t>
            </a:r>
            <a:endParaRPr/>
          </a:p>
        </p:txBody>
      </p:sp>
      <p:sp>
        <p:nvSpPr>
          <p:cNvPr id="371" name="Google Shape;371;p11"/>
          <p:cNvSpPr txBox="1"/>
          <p:nvPr/>
        </p:nvSpPr>
        <p:spPr>
          <a:xfrm>
            <a:off x="749808" y="2084831"/>
            <a:ext cx="9875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CE6EE"/>
                </a:solidFill>
                <a:latin typeface="Arial"/>
                <a:ea typeface="Arial"/>
                <a:cs typeface="Arial"/>
                <a:sym typeface="Arial"/>
              </a:rPr>
              <a:t>La prioridad de esta etapa es transformar los requisitos en una arquitectura coherente, documentada y lista para desarrollo.</a:t>
            </a:r>
            <a:endParaRPr/>
          </a:p>
        </p:txBody>
      </p:sp>
      <p:sp>
        <p:nvSpPr>
          <p:cNvPr id="372" name="Google Shape;372;p11"/>
          <p:cNvSpPr/>
          <p:nvPr/>
        </p:nvSpPr>
        <p:spPr>
          <a:xfrm>
            <a:off x="749808" y="3337560"/>
            <a:ext cx="3337560" cy="1508760"/>
          </a:xfrm>
          <a:prstGeom prst="roundRect">
            <a:avLst>
              <a:gd fmla="val 16667" name="adj"/>
            </a:avLst>
          </a:prstGeom>
          <a:solidFill>
            <a:srgbClr val="1E4B7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1"/>
          <p:cNvSpPr txBox="1"/>
          <p:nvPr/>
        </p:nvSpPr>
        <p:spPr>
          <a:xfrm>
            <a:off x="932688" y="3547872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28414"/>
                </a:solidFill>
                <a:latin typeface="Arial"/>
                <a:ea typeface="Arial"/>
                <a:cs typeface="Arial"/>
                <a:sym typeface="Arial"/>
              </a:rPr>
              <a:t>33%</a:t>
            </a:r>
            <a:endParaRPr/>
          </a:p>
        </p:txBody>
      </p:sp>
      <p:sp>
        <p:nvSpPr>
          <p:cNvPr id="374" name="Google Shape;374;p11"/>
          <p:cNvSpPr txBox="1"/>
          <p:nvPr/>
        </p:nvSpPr>
        <p:spPr>
          <a:xfrm>
            <a:off x="932688" y="3959352"/>
            <a:ext cx="2971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BED2E1"/>
                </a:solidFill>
                <a:latin typeface="Arial"/>
                <a:ea typeface="Arial"/>
                <a:cs typeface="Arial"/>
                <a:sym typeface="Arial"/>
              </a:rPr>
              <a:t>AVANCE ACTUAL</a:t>
            </a:r>
            <a:endParaRPr/>
          </a:p>
        </p:txBody>
      </p:sp>
      <p:sp>
        <p:nvSpPr>
          <p:cNvPr id="375" name="Google Shape;375;p11"/>
          <p:cNvSpPr txBox="1"/>
          <p:nvPr/>
        </p:nvSpPr>
        <p:spPr>
          <a:xfrm>
            <a:off x="978407" y="4297680"/>
            <a:ext cx="2880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Real y planificado están alineados.</a:t>
            </a:r>
            <a:endParaRPr/>
          </a:p>
        </p:txBody>
      </p:sp>
      <p:sp>
        <p:nvSpPr>
          <p:cNvPr id="376" name="Google Shape;376;p11"/>
          <p:cNvSpPr/>
          <p:nvPr/>
        </p:nvSpPr>
        <p:spPr>
          <a:xfrm>
            <a:off x="4453128" y="3337560"/>
            <a:ext cx="3337560" cy="1508760"/>
          </a:xfrm>
          <a:prstGeom prst="roundRect">
            <a:avLst>
              <a:gd fmla="val 16667" name="adj"/>
            </a:avLst>
          </a:prstGeom>
          <a:solidFill>
            <a:srgbClr val="1E4B7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1"/>
          <p:cNvSpPr txBox="1"/>
          <p:nvPr/>
        </p:nvSpPr>
        <p:spPr>
          <a:xfrm>
            <a:off x="4636008" y="3547872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28414"/>
                </a:solidFill>
                <a:latin typeface="Arial"/>
                <a:ea typeface="Arial"/>
                <a:cs typeface="Arial"/>
                <a:sym typeface="Arial"/>
              </a:rPr>
              <a:t>FASE 2</a:t>
            </a:r>
            <a:endParaRPr/>
          </a:p>
        </p:txBody>
      </p:sp>
      <p:sp>
        <p:nvSpPr>
          <p:cNvPr id="378" name="Google Shape;378;p11"/>
          <p:cNvSpPr txBox="1"/>
          <p:nvPr/>
        </p:nvSpPr>
        <p:spPr>
          <a:xfrm>
            <a:off x="4636008" y="3959352"/>
            <a:ext cx="2971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BED2E1"/>
                </a:solidFill>
                <a:latin typeface="Arial"/>
                <a:ea typeface="Arial"/>
                <a:cs typeface="Arial"/>
                <a:sym typeface="Arial"/>
              </a:rPr>
              <a:t>FOCO INMEDIATO</a:t>
            </a:r>
            <a:endParaRPr/>
          </a:p>
        </p:txBody>
      </p:sp>
      <p:sp>
        <p:nvSpPr>
          <p:cNvPr id="379" name="Google Shape;379;p11"/>
          <p:cNvSpPr txBox="1"/>
          <p:nvPr/>
        </p:nvSpPr>
        <p:spPr>
          <a:xfrm>
            <a:off x="4681728" y="4297680"/>
            <a:ext cx="2880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Arquitectura · BD · UML · mockups · DAS.</a:t>
            </a:r>
            <a:endParaRPr/>
          </a:p>
        </p:txBody>
      </p:sp>
      <p:sp>
        <p:nvSpPr>
          <p:cNvPr id="380" name="Google Shape;380;p11"/>
          <p:cNvSpPr/>
          <p:nvPr/>
        </p:nvSpPr>
        <p:spPr>
          <a:xfrm>
            <a:off x="8156448" y="3337560"/>
            <a:ext cx="3337560" cy="1508760"/>
          </a:xfrm>
          <a:prstGeom prst="roundRect">
            <a:avLst>
              <a:gd fmla="val 16667" name="adj"/>
            </a:avLst>
          </a:prstGeom>
          <a:solidFill>
            <a:srgbClr val="1E4B7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1"/>
          <p:cNvSpPr txBox="1"/>
          <p:nvPr/>
        </p:nvSpPr>
        <p:spPr>
          <a:xfrm>
            <a:off x="8339327" y="3547872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28414"/>
                </a:solidFill>
                <a:latin typeface="Arial"/>
                <a:ea typeface="Arial"/>
                <a:cs typeface="Arial"/>
                <a:sym typeface="Arial"/>
              </a:rPr>
              <a:t>0%</a:t>
            </a:r>
            <a:endParaRPr/>
          </a:p>
        </p:txBody>
      </p:sp>
      <p:sp>
        <p:nvSpPr>
          <p:cNvPr id="382" name="Google Shape;382;p11"/>
          <p:cNvSpPr txBox="1"/>
          <p:nvPr/>
        </p:nvSpPr>
        <p:spPr>
          <a:xfrm>
            <a:off x="8339327" y="3959352"/>
            <a:ext cx="2971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BED2E1"/>
                </a:solidFill>
                <a:latin typeface="Arial"/>
                <a:ea typeface="Arial"/>
                <a:cs typeface="Arial"/>
                <a:sym typeface="Arial"/>
              </a:rPr>
              <a:t>DESVIACIÓN</a:t>
            </a:r>
            <a:endParaRPr/>
          </a:p>
        </p:txBody>
      </p:sp>
      <p:sp>
        <p:nvSpPr>
          <p:cNvPr id="383" name="Google Shape;383;p11"/>
          <p:cNvSpPr txBox="1"/>
          <p:nvPr/>
        </p:nvSpPr>
        <p:spPr>
          <a:xfrm>
            <a:off x="8385048" y="4297680"/>
            <a:ext cx="2880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El objetivo es mantener el ritmo y controlar el alcance.</a:t>
            </a:r>
            <a:endParaRPr/>
          </a:p>
        </p:txBody>
      </p:sp>
      <p:sp>
        <p:nvSpPr>
          <p:cNvPr id="384" name="Google Shape;384;p11"/>
          <p:cNvSpPr txBox="1"/>
          <p:nvPr/>
        </p:nvSpPr>
        <p:spPr>
          <a:xfrm>
            <a:off x="749808" y="6053328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8D7E1"/>
                </a:solidFill>
                <a:latin typeface="Arial"/>
                <a:ea typeface="Arial"/>
                <a:cs typeface="Arial"/>
                <a:sym typeface="Arial"/>
              </a:rPr>
              <a:t>JJV Técnico Ya · Sebastián Valdés · José Herrera · José Espinoza</a:t>
            </a:r>
            <a:endParaRPr/>
          </a:p>
        </p:txBody>
      </p:sp>
      <p:sp>
        <p:nvSpPr>
          <p:cNvPr id="385" name="Google Shape;385;p11"/>
          <p:cNvSpPr txBox="1"/>
          <p:nvPr/>
        </p:nvSpPr>
        <p:spPr>
          <a:xfrm>
            <a:off x="8458200" y="6053328"/>
            <a:ext cx="2880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C8D7E1"/>
                </a:solidFill>
                <a:latin typeface="Arial"/>
                <a:ea typeface="Arial"/>
                <a:cs typeface="Arial"/>
                <a:sym typeface="Arial"/>
              </a:rPr>
              <a:t>Seguimiento de proyecto · septiembre 2026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