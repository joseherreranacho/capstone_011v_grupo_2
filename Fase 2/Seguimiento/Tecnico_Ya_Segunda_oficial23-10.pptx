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uXuyNL0aTphi97ltTfR/9060B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h41c3936baf91cf09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h41c3936baf91cf0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h41c3936baf91cf09_3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h41c3936baf91cf09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3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8823960" y="-640080"/>
            <a:ext cx="3931920" cy="3931920"/>
          </a:xfrm>
          <a:prstGeom prst="ellipse">
            <a:avLst/>
          </a:prstGeom>
          <a:solidFill>
            <a:srgbClr val="1734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0012680" y="-502920"/>
            <a:ext cx="1783080" cy="1783080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9808" y="658368"/>
            <a:ext cx="45720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PROYECTO APT · CAPSTONE</a:t>
            </a:r>
            <a:endParaRPr>
              <a:solidFill>
                <a:srgbClr val="19BBD0"/>
              </a:solidFill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13232" y="1600200"/>
            <a:ext cx="78639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JJV - Técnico Ya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68096" y="2651760"/>
            <a:ext cx="676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8D7E4"/>
                </a:solidFill>
                <a:latin typeface="Arial"/>
                <a:ea typeface="Arial"/>
                <a:cs typeface="Arial"/>
                <a:sym typeface="Arial"/>
              </a:rPr>
              <a:t>Segunda entrega del proyecto de título</a:t>
            </a:r>
            <a:endParaRPr>
              <a:solidFill>
                <a:srgbClr val="C8D7E4"/>
              </a:solidFill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68096" y="3364992"/>
            <a:ext cx="1143000" cy="50292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68096" y="3703320"/>
            <a:ext cx="795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Plataforma web  ·  Aplicación móvil  ·  API  ·  Base de datos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68096" y="5806440"/>
            <a:ext cx="7772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AE4EE"/>
                </a:solidFill>
                <a:latin typeface="Arial"/>
                <a:ea typeface="Arial"/>
                <a:cs typeface="Arial"/>
                <a:sym typeface="Arial"/>
              </a:rPr>
              <a:t>José Espinoza  ·  José Herrera  ·  Sebastián Valdés</a:t>
            </a:r>
            <a:endParaRPr>
              <a:solidFill>
                <a:srgbClr val="DAE4EE"/>
              </a:solidFill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68096" y="61996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Equipo desarrollador JJV · Octubre de 2026</a:t>
            </a:r>
            <a:endParaRPr>
              <a:solidFill>
                <a:srgbClr val="19BBD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594360" y="2560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>
              <a:solidFill>
                <a:srgbClr val="19BBD0"/>
              </a:solidFill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94360" y="566928"/>
            <a:ext cx="1097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problema enfrenta la empresa?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12648" y="1161288"/>
            <a:ext cx="685800" cy="41148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658368" y="1353312"/>
            <a:ext cx="2286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PROBLEMA PRINCIPAL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58368" y="1664208"/>
            <a:ext cx="107898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La empresa no cuenta con un sistema centralizado para gestionar sus servicios técnicos a domicilio.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58368" y="2423160"/>
            <a:ext cx="3492900" cy="18288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58368" y="2423160"/>
            <a:ext cx="59436" cy="1828800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859536" y="2606040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859536" y="261518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408176" y="2596896"/>
            <a:ext cx="256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</a:rPr>
              <a:t>Información dispersa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77824" y="3182112"/>
            <a:ext cx="3054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Los datos de clientes y solicitudes pueden quedar distribuidos en distintos canales y registros.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352544" y="2423160"/>
            <a:ext cx="3492900" cy="18288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352544" y="2423160"/>
            <a:ext cx="59436" cy="1828800"/>
          </a:xfrm>
          <a:prstGeom prst="rect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553712" y="2606040"/>
            <a:ext cx="438912" cy="438912"/>
          </a:xfrm>
          <a:prstGeom prst="ellipse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4553712" y="261518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5102352" y="2596896"/>
            <a:ext cx="256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D"/>
                </a:solidFill>
                <a:latin typeface="Arial"/>
                <a:ea typeface="Arial"/>
                <a:cs typeface="Arial"/>
                <a:sym typeface="Arial"/>
              </a:rPr>
              <a:t>Coordinación de técnicos</a:t>
            </a:r>
            <a:endParaRPr>
              <a:solidFill>
                <a:srgbClr val="F8FAFD"/>
              </a:solidFill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4572000" y="3182112"/>
            <a:ext cx="3054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La asignación requiere considerar el tipo de servicio, la especialidad y la disponibilidad.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046720" y="2423160"/>
            <a:ext cx="3493008" cy="18288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8046720" y="2423160"/>
            <a:ext cx="59436" cy="1828800"/>
          </a:xfrm>
          <a:prstGeom prst="rect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247888" y="2606040"/>
            <a:ext cx="438912" cy="438912"/>
          </a:xfrm>
          <a:prstGeom prst="ellipse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8247888" y="261518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8796528" y="2596896"/>
            <a:ext cx="256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8FAFD"/>
                </a:solidFill>
              </a:rPr>
              <a:t>Seguimiento limitado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8266176" y="3182112"/>
            <a:ext cx="3054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Es necesario mantener actualizado el estado y el historial de cada servicio.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658375" y="4709153"/>
            <a:ext cx="10881300" cy="753900"/>
          </a:xfrm>
          <a:prstGeom prst="roundRect">
            <a:avLst>
              <a:gd fmla="val 16667" name="adj"/>
            </a:avLst>
          </a:prstGeom>
          <a:solidFill>
            <a:srgbClr val="0B2033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896112" y="4919472"/>
            <a:ext cx="1600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9BBD0"/>
                </a:solidFill>
              </a:rPr>
              <a:t>LA SOLUCIÓN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2487168" y="4882896"/>
            <a:ext cx="85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Técnico Ya centraliza la gestión desde la solicitud hasta el cierre del servicio.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658375" y="3428996"/>
            <a:ext cx="10881300" cy="2034000"/>
          </a:xfrm>
          <a:prstGeom prst="roundRect">
            <a:avLst>
              <a:gd fmla="val 16667" name="adj"/>
            </a:avLst>
          </a:prstGeom>
          <a:solidFill>
            <a:srgbClr val="0B2033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94360" y="2560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9BBD0"/>
                </a:solidFill>
              </a:rPr>
              <a:t>PROBLEMÁTICA Y RELEVANCIA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594360" y="566928"/>
            <a:ext cx="1097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</a:rPr>
              <a:t>¿Qué busca resolver Técnico Ya?</a:t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12648" y="1161288"/>
            <a:ext cx="685800" cy="41148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658368" y="1554480"/>
            <a:ext cx="5321808" cy="150876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658368" y="1554480"/>
            <a:ext cx="59436" cy="1508760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859536" y="1737360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59536" y="174650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1408176" y="1728216"/>
            <a:ext cx="438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Problema central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877824" y="2313432"/>
            <a:ext cx="4882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9D9D9"/>
                </a:solidFill>
              </a:rPr>
              <a:t>Falta una solución integrada para administrar solicitudes, asignaciones, ejecución y cierre de los servicios.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6199632" y="1554480"/>
            <a:ext cx="5321808" cy="150876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199632" y="1554480"/>
            <a:ext cx="59436" cy="1508760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6400800" y="1737360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6400800" y="174650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6949440" y="1728216"/>
            <a:ext cx="438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Necesidad identificada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6419088" y="2313432"/>
            <a:ext cx="4882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9D9D9"/>
                </a:solidFill>
              </a:rPr>
              <a:t>Mantener la información organizada, actualizada y disponible para los usuarios autorizados.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859532" y="3624105"/>
            <a:ext cx="2834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9BBD0"/>
                </a:solidFill>
              </a:rPr>
              <a:t>OBJETIVO DEL PROYECTO</a:t>
            </a:r>
            <a:endParaRPr b="1" sz="1000">
              <a:solidFill>
                <a:srgbClr val="19BBD0"/>
              </a:solidFill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713225" y="4005075"/>
            <a:ext cx="101337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</a:rPr>
              <a:t>Desarrollar una plataforma web y una aplicación móvil conectadas a una base de datos centralizada para gestionar y dar trazabilidad a los servicios técnicos a domicilio.</a:t>
            </a:r>
            <a:endParaRPr sz="1800"/>
          </a:p>
        </p:txBody>
      </p:sp>
      <p:sp>
        <p:nvSpPr>
          <p:cNvPr id="147" name="Google Shape;147;p3"/>
          <p:cNvSpPr txBox="1"/>
          <p:nvPr/>
        </p:nvSpPr>
        <p:spPr>
          <a:xfrm>
            <a:off x="859532" y="4926805"/>
            <a:ext cx="10607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9D9D9"/>
                </a:solidFill>
              </a:rPr>
              <a:t>La asignación de técnicos será gestionada por personal autorizado, considerando los criterios definidos para cada servicio.</a:t>
            </a:r>
            <a:endParaRPr sz="12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/>
          <p:nvPr/>
        </p:nvSpPr>
        <p:spPr>
          <a:xfrm>
            <a:off x="594350" y="4279374"/>
            <a:ext cx="10881300" cy="1551000"/>
          </a:xfrm>
          <a:prstGeom prst="roundRect">
            <a:avLst>
              <a:gd fmla="val 16667" name="adj"/>
            </a:avLst>
          </a:prstGeom>
          <a:solidFill>
            <a:srgbClr val="0B2033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594360" y="2560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9BBD0"/>
                </a:solidFill>
              </a:rPr>
              <a:t>METODOLOGÍA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594360" y="566928"/>
            <a:ext cx="1097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</a:rPr>
              <a:t>Modelo de desarrollo: Waterfall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612648" y="1161288"/>
            <a:ext cx="685800" cy="41148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502920" y="1920240"/>
            <a:ext cx="2148840" cy="20574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02920" y="1920240"/>
            <a:ext cx="59436" cy="2057400"/>
          </a:xfrm>
          <a:prstGeom prst="rect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704088" y="2103120"/>
            <a:ext cx="438912" cy="438912"/>
          </a:xfrm>
          <a:prstGeom prst="ellipse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704088" y="211226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1252728" y="2093976"/>
            <a:ext cx="121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722376" y="2679192"/>
            <a:ext cx="1710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Levantar necesidades y reglas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2642615" y="2670048"/>
            <a:ext cx="274320" cy="411480"/>
          </a:xfrm>
          <a:prstGeom prst="chevron">
            <a:avLst>
              <a:gd fmla="val 50000" name="adj"/>
            </a:avLst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2862072" y="1920240"/>
            <a:ext cx="2148840" cy="20574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2862072" y="1920240"/>
            <a:ext cx="59436" cy="2057400"/>
          </a:xfrm>
          <a:prstGeom prst="rect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3063240" y="2103120"/>
            <a:ext cx="438912" cy="438912"/>
          </a:xfrm>
          <a:prstGeom prst="ellipse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3063240" y="211226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3611879" y="2093976"/>
            <a:ext cx="12162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Análisis y diseño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3081528" y="2679192"/>
            <a:ext cx="1710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Definir arquitectura y modelos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001768" y="2670048"/>
            <a:ext cx="274320" cy="411480"/>
          </a:xfrm>
          <a:prstGeom prst="chevron">
            <a:avLst>
              <a:gd fmla="val 50000" name="adj"/>
            </a:avLst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5221224" y="1920240"/>
            <a:ext cx="2148840" cy="20574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5221224" y="1920240"/>
            <a:ext cx="59436" cy="2057400"/>
          </a:xfrm>
          <a:prstGeom prst="rect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5422392" y="2103120"/>
            <a:ext cx="438912" cy="438912"/>
          </a:xfrm>
          <a:prstGeom prst="ellipse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5422392" y="211226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5971032" y="2093976"/>
            <a:ext cx="121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Desarrollo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5440680" y="2679192"/>
            <a:ext cx="1710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Construir web, app y backend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7360920" y="2670048"/>
            <a:ext cx="274320" cy="411480"/>
          </a:xfrm>
          <a:prstGeom prst="chevron">
            <a:avLst>
              <a:gd fmla="val 50000" name="adj"/>
            </a:avLst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7580376" y="1920240"/>
            <a:ext cx="2148840" cy="20574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7580376" y="1920240"/>
            <a:ext cx="59436" cy="20574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7781544" y="2103120"/>
            <a:ext cx="438912" cy="438912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7781544" y="211226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8330184" y="2093976"/>
            <a:ext cx="121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Pruebas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7799832" y="2679192"/>
            <a:ext cx="1710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Validar requisitos y procesos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9720072" y="2670048"/>
            <a:ext cx="274320" cy="411480"/>
          </a:xfrm>
          <a:prstGeom prst="chevron">
            <a:avLst>
              <a:gd fmla="val 50000" name="adj"/>
            </a:avLst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9939528" y="1920240"/>
            <a:ext cx="2148840" cy="20574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9939528" y="1920240"/>
            <a:ext cx="59436" cy="2057400"/>
          </a:xfrm>
          <a:prstGeom prst="rect">
            <a:avLst/>
          </a:prstGeom>
          <a:solidFill>
            <a:srgbClr val="3D85C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10140696" y="2103120"/>
            <a:ext cx="438912" cy="438912"/>
          </a:xfrm>
          <a:prstGeom prst="ellipse">
            <a:avLst/>
          </a:prstGeom>
          <a:solidFill>
            <a:srgbClr val="3D85C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10140696" y="211226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10689336" y="2093976"/>
            <a:ext cx="121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Entrega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10158984" y="2679192"/>
            <a:ext cx="1710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Documentar y presentar la solución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768493" y="4446755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¿Por qué esta metodología?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768493" y="4925448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Permite organizar el trabajo por etapas, definir entregables y mantener documentación clara para el equipo.</a:t>
            </a:r>
            <a:endParaRPr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 txBox="1"/>
          <p:nvPr/>
        </p:nvSpPr>
        <p:spPr>
          <a:xfrm>
            <a:off x="594360" y="2560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DISEÑO DE LA SOLUCIÓN</a:t>
            </a:r>
            <a:endParaRPr>
              <a:solidFill>
                <a:srgbClr val="19BBD0"/>
              </a:solidFill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594360" y="566928"/>
            <a:ext cx="1097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propuesta en tres capas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12648" y="1161288"/>
            <a:ext cx="685800" cy="41148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658368" y="150876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58368" y="1508760"/>
            <a:ext cx="59436" cy="1828800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859536" y="1691639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859536" y="170078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WEB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1408176" y="1682495"/>
            <a:ext cx="249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Presentación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877824" y="2267712"/>
            <a:ext cx="2990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Plataforma web para clientes y gestión; aplicación móvil para técnicos.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389120" y="150876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389120" y="1508760"/>
            <a:ext cx="59436" cy="1828800"/>
          </a:xfrm>
          <a:prstGeom prst="rect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590288" y="1691639"/>
            <a:ext cx="438912" cy="438912"/>
          </a:xfrm>
          <a:prstGeom prst="ellipse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4590288" y="170078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API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5138928" y="1682495"/>
            <a:ext cx="249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2. Negocio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4608576" y="2267712"/>
            <a:ext cx="29901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Backend / API REST: autenticación, validaciones, reglas de negocio y órdenes.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8119872" y="150876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8119872" y="1508760"/>
            <a:ext cx="59436" cy="1828800"/>
          </a:xfrm>
          <a:prstGeom prst="rect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8321040" y="1691639"/>
            <a:ext cx="438912" cy="438912"/>
          </a:xfrm>
          <a:prstGeom prst="ellipse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8321040" y="170078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DB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8869680" y="1682495"/>
            <a:ext cx="249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3. Datos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8339328" y="2267712"/>
            <a:ext cx="29901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Base de datos centralizada para usuarios, solicitudes, órdenes, estados y evidencias.</a:t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4041648" y="2148840"/>
            <a:ext cx="274320" cy="411480"/>
          </a:xfrm>
          <a:prstGeom prst="chevron">
            <a:avLst>
              <a:gd fmla="val 50000" name="adj"/>
            </a:avLst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7772400" y="2148840"/>
            <a:ext cx="274320" cy="411480"/>
          </a:xfrm>
          <a:prstGeom prst="chevron">
            <a:avLst>
              <a:gd fmla="val 50000" name="adj"/>
            </a:avLst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914400" y="4069080"/>
            <a:ext cx="4892040" cy="132588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914400" y="4069080"/>
            <a:ext cx="59436" cy="1325880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1115568" y="4251960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1115568" y="426110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API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1664207" y="4242816"/>
            <a:ext cx="3959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Integración externa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1133856" y="4828032"/>
            <a:ext cx="44532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El backend podrá consumir una API de mapas/geolocalización, si se confirma dentro del alcance.</a:t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6263640" y="4069080"/>
            <a:ext cx="4892040" cy="132588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6263640" y="4069080"/>
            <a:ext cx="59436" cy="1325880"/>
          </a:xfrm>
          <a:prstGeom prst="rect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6464807" y="4251960"/>
            <a:ext cx="438912" cy="438912"/>
          </a:xfrm>
          <a:prstGeom prst="ellipse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6464807" y="426110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OK</a:t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7013448" y="4242816"/>
            <a:ext cx="3959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Principio de diseño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6483096" y="4828032"/>
            <a:ext cx="44532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La lógica y las validaciones se centralizan en el backend para mantener un comportamiento coherente.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"/>
          <p:cNvSpPr/>
          <p:nvPr/>
        </p:nvSpPr>
        <p:spPr>
          <a:xfrm>
            <a:off x="594350" y="1266375"/>
            <a:ext cx="9531600" cy="5475300"/>
          </a:xfrm>
          <a:prstGeom prst="roundRect">
            <a:avLst>
              <a:gd fmla="val 3775" name="adj"/>
            </a:avLst>
          </a:prstGeom>
          <a:solidFill>
            <a:srgbClr val="0B2033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594360" y="2560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DISEÑO DE LA SOLUCIÓN</a:t>
            </a:r>
            <a:endParaRPr>
              <a:solidFill>
                <a:srgbClr val="19BBD0"/>
              </a:solidFill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594360" y="566928"/>
            <a:ext cx="1097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Diagrama de arquitectura general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612648" y="1161288"/>
            <a:ext cx="685800" cy="41148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658368" y="1298448"/>
            <a:ext cx="107898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La web y la app consumen la misma API; el backend aplica las reglas y accede a la base de datos.</a:t>
            </a:r>
            <a:endParaRPr>
              <a:solidFill>
                <a:srgbClr val="D9D9D9"/>
              </a:solidFill>
            </a:endParaRPr>
          </a:p>
        </p:txBody>
      </p:sp>
      <p:pic>
        <p:nvPicPr>
          <p:cNvPr descr="slide6_img1.png" id="243" name="Google Shape;2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9050" y="1633349"/>
            <a:ext cx="6390963" cy="49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/>
          <p:nvPr/>
        </p:nvSpPr>
        <p:spPr>
          <a:xfrm>
            <a:off x="567025" y="1252583"/>
            <a:ext cx="8940000" cy="5526000"/>
          </a:xfrm>
          <a:prstGeom prst="roundRect">
            <a:avLst>
              <a:gd fmla="val 5017" name="adj"/>
            </a:avLst>
          </a:prstGeom>
          <a:solidFill>
            <a:srgbClr val="0B2033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594360" y="2560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PROCESO DE NEGOCIO</a:t>
            </a:r>
            <a:endParaRPr>
              <a:solidFill>
                <a:srgbClr val="19BBD0"/>
              </a:solidFill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594360" y="566928"/>
            <a:ext cx="1097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Flujo de atención de un servicio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12648" y="1161288"/>
            <a:ext cx="685800" cy="41148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658368" y="1298448"/>
            <a:ext cx="10698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Desde el registro de la solicitud hasta el cierre de la orden de trabajo.</a:t>
            </a:r>
            <a:endParaRPr>
              <a:solidFill>
                <a:srgbClr val="D9D9D9"/>
              </a:solidFill>
            </a:endParaRPr>
          </a:p>
        </p:txBody>
      </p:sp>
      <p:pic>
        <p:nvPicPr>
          <p:cNvPr descr="slide7_img1.png" id="254" name="Google Shape;2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5351" y="1587949"/>
            <a:ext cx="5282350" cy="511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"/>
          <p:cNvSpPr/>
          <p:nvPr/>
        </p:nvSpPr>
        <p:spPr>
          <a:xfrm>
            <a:off x="567025" y="1252575"/>
            <a:ext cx="9068400" cy="5221500"/>
          </a:xfrm>
          <a:prstGeom prst="roundRect">
            <a:avLst>
              <a:gd fmla="val 5017" name="adj"/>
            </a:avLst>
          </a:prstGeom>
          <a:solidFill>
            <a:srgbClr val="0B2033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594360" y="2560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ANÁLISIS FUNCIONAL</a:t>
            </a:r>
            <a:endParaRPr>
              <a:solidFill>
                <a:srgbClr val="19BBD0"/>
              </a:solidFill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594360" y="566928"/>
            <a:ext cx="1097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 por tipo de usuario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12648" y="1161288"/>
            <a:ext cx="685800" cy="41148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64" name="Google Shape;264;p9"/>
          <p:cNvSpPr txBox="1"/>
          <p:nvPr/>
        </p:nvSpPr>
        <p:spPr>
          <a:xfrm>
            <a:off x="658368" y="1298448"/>
            <a:ext cx="10698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El diagrama resume las acciones principales disponibles para cada actor.</a:t>
            </a:r>
            <a:endParaRPr>
              <a:solidFill>
                <a:srgbClr val="D9D9D9"/>
              </a:solidFill>
            </a:endParaRPr>
          </a:p>
        </p:txBody>
      </p:sp>
      <p:pic>
        <p:nvPicPr>
          <p:cNvPr descr="slide9_img1.png" id="265" name="Google Shape;2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0743" y="1645920"/>
            <a:ext cx="6840033" cy="4526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"/>
          <p:cNvSpPr/>
          <p:nvPr/>
        </p:nvSpPr>
        <p:spPr>
          <a:xfrm>
            <a:off x="594350" y="1246450"/>
            <a:ext cx="9915900" cy="5501400"/>
          </a:xfrm>
          <a:prstGeom prst="roundRect">
            <a:avLst>
              <a:gd fmla="val 5017" name="adj"/>
            </a:avLst>
          </a:prstGeom>
          <a:solidFill>
            <a:srgbClr val="0B2033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594360" y="2560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>
              <a:solidFill>
                <a:srgbClr val="19BBD0"/>
              </a:solidFill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594360" y="566928"/>
            <a:ext cx="1097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 entidad-relación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12648" y="1161288"/>
            <a:ext cx="685800" cy="41148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658368" y="1298448"/>
            <a:ext cx="10698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Representa las principales entidades y sus relaciones para centralizar la información del servicio.</a:t>
            </a:r>
            <a:endParaRPr>
              <a:solidFill>
                <a:srgbClr val="D9D9D9"/>
              </a:solidFill>
            </a:endParaRPr>
          </a:p>
        </p:txBody>
      </p:sp>
      <p:pic>
        <p:nvPicPr>
          <p:cNvPr descr="slide8_img1.png" id="276" name="Google Shape;2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399" y="1618500"/>
            <a:ext cx="8940551" cy="494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/>
          <p:nvPr/>
        </p:nvSpPr>
        <p:spPr>
          <a:xfrm>
            <a:off x="548250" y="2686015"/>
            <a:ext cx="8376300" cy="3719100"/>
          </a:xfrm>
          <a:prstGeom prst="roundRect">
            <a:avLst>
              <a:gd fmla="val 16667" name="adj"/>
            </a:avLst>
          </a:prstGeom>
          <a:solidFill>
            <a:srgbClr val="0B2033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594360" y="2560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ANÁLISIS FUNCIONAL</a:t>
            </a:r>
            <a:endParaRPr>
              <a:solidFill>
                <a:srgbClr val="19BBD0"/>
              </a:solidFill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594360" y="566928"/>
            <a:ext cx="1097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de caso de uso: iniciar servicio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12648" y="1161288"/>
            <a:ext cx="685800" cy="41148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58368" y="1417320"/>
            <a:ext cx="3337560" cy="109728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58368" y="1417320"/>
            <a:ext cx="59436" cy="1097280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859536" y="1532905"/>
            <a:ext cx="438900" cy="438900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861902" y="1637281"/>
            <a:ext cx="43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90" name="Google Shape;290;p10"/>
          <p:cNvSpPr txBox="1"/>
          <p:nvPr/>
        </p:nvSpPr>
        <p:spPr>
          <a:xfrm>
            <a:off x="1408176" y="1591056"/>
            <a:ext cx="24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Actor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1" name="Google Shape;291;p10"/>
          <p:cNvSpPr txBox="1"/>
          <p:nvPr/>
        </p:nvSpPr>
        <p:spPr>
          <a:xfrm>
            <a:off x="1353299" y="2123675"/>
            <a:ext cx="8232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Técnico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416552" y="1417320"/>
            <a:ext cx="3337560" cy="109728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416552" y="1417320"/>
            <a:ext cx="59436" cy="1097280"/>
          </a:xfrm>
          <a:prstGeom prst="rect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4601720" y="1488475"/>
            <a:ext cx="438900" cy="438900"/>
          </a:xfrm>
          <a:prstGeom prst="ellipse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4601720" y="1607869"/>
            <a:ext cx="43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96" name="Google Shape;296;p10"/>
          <p:cNvSpPr txBox="1"/>
          <p:nvPr/>
        </p:nvSpPr>
        <p:spPr>
          <a:xfrm>
            <a:off x="5166360" y="1591056"/>
            <a:ext cx="24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Precondiciones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4636033" y="2016819"/>
            <a:ext cx="28986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D9D9D9"/>
                </a:solidFill>
              </a:rPr>
              <a:t>Sesión iniciada; orden asignada y habilitada para comenzar.</a:t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8174736" y="1417320"/>
            <a:ext cx="3337560" cy="109728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8174736" y="1417320"/>
            <a:ext cx="59436" cy="1097280"/>
          </a:xfrm>
          <a:prstGeom prst="rect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8375904" y="1526787"/>
            <a:ext cx="438900" cy="438900"/>
          </a:xfrm>
          <a:prstGeom prst="ellipse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8382022" y="1633815"/>
            <a:ext cx="43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03,</a:t>
            </a:r>
            <a:endParaRPr/>
          </a:p>
        </p:txBody>
      </p:sp>
      <p:sp>
        <p:nvSpPr>
          <p:cNvPr id="302" name="Google Shape;302;p10"/>
          <p:cNvSpPr txBox="1"/>
          <p:nvPr/>
        </p:nvSpPr>
        <p:spPr>
          <a:xfrm>
            <a:off x="8924544" y="1591056"/>
            <a:ext cx="24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Resultado esperado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8394167" y="2046073"/>
            <a:ext cx="28986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D9D9D9"/>
                </a:solidFill>
              </a:rPr>
              <a:t>Estado actualizado y fecha/hora de inicio registrada.</a:t>
            </a:r>
            <a:endParaRPr/>
          </a:p>
        </p:txBody>
      </p:sp>
      <p:sp>
        <p:nvSpPr>
          <p:cNvPr id="304" name="Google Shape;304;p10"/>
          <p:cNvSpPr txBox="1"/>
          <p:nvPr/>
        </p:nvSpPr>
        <p:spPr>
          <a:xfrm>
            <a:off x="713232" y="2880360"/>
            <a:ext cx="2743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FLUJO PRINCIPAL</a:t>
            </a:r>
            <a:endParaRPr>
              <a:solidFill>
                <a:srgbClr val="19BBD0"/>
              </a:solidFill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768096" y="3273552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 txBox="1"/>
          <p:nvPr/>
        </p:nvSpPr>
        <p:spPr>
          <a:xfrm>
            <a:off x="768096" y="3282696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07" name="Google Shape;307;p10"/>
          <p:cNvSpPr txBox="1"/>
          <p:nvPr/>
        </p:nvSpPr>
        <p:spPr>
          <a:xfrm>
            <a:off x="1353312" y="3300996"/>
            <a:ext cx="96927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Selecciona una orden asignada.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768096" y="3749039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768096" y="3758183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10" name="Google Shape;310;p10"/>
          <p:cNvSpPr txBox="1"/>
          <p:nvPr/>
        </p:nvSpPr>
        <p:spPr>
          <a:xfrm>
            <a:off x="1353312" y="3776472"/>
            <a:ext cx="96927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9D9D9"/>
                </a:solidFill>
              </a:rPr>
              <a:t>Consulta los antecedentes del servicio.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768096" y="4224528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768096" y="4233672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13" name="Google Shape;313;p10"/>
          <p:cNvSpPr txBox="1"/>
          <p:nvPr/>
        </p:nvSpPr>
        <p:spPr>
          <a:xfrm>
            <a:off x="1353312" y="4251960"/>
            <a:ext cx="96927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9D9D9"/>
                </a:solidFill>
              </a:rPr>
              <a:t>Ingresa el código, si se confirma su uso.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768096" y="4700016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768096" y="4709160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16" name="Google Shape;316;p10"/>
          <p:cNvSpPr txBox="1"/>
          <p:nvPr/>
        </p:nvSpPr>
        <p:spPr>
          <a:xfrm>
            <a:off x="1353312" y="4727448"/>
            <a:ext cx="96927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9D9D9"/>
                </a:solidFill>
              </a:rPr>
              <a:t>El sistema valida las condiciones de inicio.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768096" y="5175504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768096" y="5184648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>
            <a:off x="1353312" y="5202936"/>
            <a:ext cx="96927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9D9D9"/>
                </a:solidFill>
              </a:rPr>
              <a:t>El sistema actualiza el estado y registra la hora.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749808" y="5870448"/>
            <a:ext cx="10789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Si la orden no cumple las condiciones o el código no es válido, el sistema impide iniciar el servicio.</a:t>
            </a:r>
            <a:endParaRPr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"/>
          <p:cNvSpPr/>
          <p:nvPr/>
        </p:nvSpPr>
        <p:spPr>
          <a:xfrm>
            <a:off x="3640050" y="1553900"/>
            <a:ext cx="6870300" cy="4826700"/>
          </a:xfrm>
          <a:prstGeom prst="roundRect">
            <a:avLst>
              <a:gd fmla="val 5017" name="adj"/>
            </a:avLst>
          </a:prstGeom>
          <a:solidFill>
            <a:srgbClr val="0B2033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594360" y="2560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PLAN DE TRABAJO</a:t>
            </a:r>
            <a:endParaRPr>
              <a:solidFill>
                <a:srgbClr val="19BBD0"/>
              </a:solidFill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594360" y="566928"/>
            <a:ext cx="1097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Matriz de riesgos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612648" y="1161288"/>
            <a:ext cx="685800" cy="41148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30" name="Google Shape;330;p11"/>
          <p:cNvSpPr txBox="1"/>
          <p:nvPr/>
        </p:nvSpPr>
        <p:spPr>
          <a:xfrm>
            <a:off x="658368" y="1298448"/>
            <a:ext cx="107898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Priorización de riesgos según probabilidad e impacto.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658368" y="1920240"/>
            <a:ext cx="2331720" cy="13716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658368" y="1920240"/>
            <a:ext cx="59436" cy="1371600"/>
          </a:xfrm>
          <a:prstGeom prst="rect">
            <a:avLst/>
          </a:prstGeom>
          <a:solidFill>
            <a:srgbClr val="D94B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859536" y="2103120"/>
            <a:ext cx="438912" cy="438912"/>
          </a:xfrm>
          <a:prstGeom prst="ellipse">
            <a:avLst/>
          </a:prstGeom>
          <a:solidFill>
            <a:srgbClr val="D94B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859536" y="211226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335" name="Google Shape;335;p11"/>
          <p:cNvSpPr txBox="1"/>
          <p:nvPr/>
        </p:nvSpPr>
        <p:spPr>
          <a:xfrm>
            <a:off x="1408176" y="2093976"/>
            <a:ext cx="1398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Riesgo alto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6" name="Google Shape;336;p11"/>
          <p:cNvSpPr txBox="1"/>
          <p:nvPr/>
        </p:nvSpPr>
        <p:spPr>
          <a:xfrm>
            <a:off x="877824" y="2679192"/>
            <a:ext cx="1892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Problemas que podrían comprometer funciones críticas del sistema.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658368" y="3657600"/>
            <a:ext cx="2331720" cy="13716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658368" y="3657600"/>
            <a:ext cx="59436" cy="1371600"/>
          </a:xfrm>
          <a:prstGeom prst="rect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859536" y="3840480"/>
            <a:ext cx="438912" cy="438912"/>
          </a:xfrm>
          <a:prstGeom prst="ellipse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859536" y="384962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41" name="Google Shape;341;p11"/>
          <p:cNvSpPr txBox="1"/>
          <p:nvPr/>
        </p:nvSpPr>
        <p:spPr>
          <a:xfrm>
            <a:off x="1408176" y="3831336"/>
            <a:ext cx="1398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Mitigación</a:t>
            </a:r>
            <a:endParaRPr/>
          </a:p>
        </p:txBody>
      </p:sp>
      <p:sp>
        <p:nvSpPr>
          <p:cNvPr id="342" name="Google Shape;342;p11"/>
          <p:cNvSpPr txBox="1"/>
          <p:nvPr/>
        </p:nvSpPr>
        <p:spPr>
          <a:xfrm>
            <a:off x="877824" y="4416552"/>
            <a:ext cx="1892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D9D9D9"/>
                </a:solidFill>
              </a:rPr>
              <a:t>Prevenir, probar y definir procedimientos de recuperación.</a:t>
            </a:r>
            <a:endParaRPr/>
          </a:p>
        </p:txBody>
      </p:sp>
      <p:pic>
        <p:nvPicPr>
          <p:cNvPr descr="slide11_img1.png" id="343" name="Google Shape;3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273" y="1691640"/>
            <a:ext cx="6402093" cy="4526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 txBox="1"/>
          <p:nvPr/>
        </p:nvSpPr>
        <p:spPr>
          <a:xfrm>
            <a:off x="594360" y="2560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SEGUIMIENTO</a:t>
            </a:r>
            <a:endParaRPr>
              <a:solidFill>
                <a:srgbClr val="19BBD0"/>
              </a:solidFill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594360" y="566928"/>
            <a:ext cx="1097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Riesgos y planes de mitigación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612648" y="1161288"/>
            <a:ext cx="685800" cy="41148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658368" y="1508760"/>
            <a:ext cx="5349240" cy="34290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658368" y="1508760"/>
            <a:ext cx="59436" cy="3429000"/>
          </a:xfrm>
          <a:prstGeom prst="rect">
            <a:avLst/>
          </a:prstGeom>
          <a:solidFill>
            <a:srgbClr val="D94B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859536" y="1691639"/>
            <a:ext cx="438912" cy="438912"/>
          </a:xfrm>
          <a:prstGeom prst="ellipse">
            <a:avLst/>
          </a:prstGeom>
          <a:solidFill>
            <a:srgbClr val="D94B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 txBox="1"/>
          <p:nvPr/>
        </p:nvSpPr>
        <p:spPr>
          <a:xfrm>
            <a:off x="859536" y="170078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356" name="Google Shape;356;p12"/>
          <p:cNvSpPr txBox="1"/>
          <p:nvPr/>
        </p:nvSpPr>
        <p:spPr>
          <a:xfrm>
            <a:off x="1408176" y="1682495"/>
            <a:ext cx="441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Falla de backend o base de datos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7" name="Google Shape;357;p12"/>
          <p:cNvSpPr txBox="1"/>
          <p:nvPr/>
        </p:nvSpPr>
        <p:spPr>
          <a:xfrm>
            <a:off x="877824" y="2267712"/>
            <a:ext cx="49104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Riesgo: indisponibilidad temporal o pérdida de acceso a información.</a:t>
            </a:r>
            <a:b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Mitigación:</a:t>
            </a:r>
            <a:b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• Manejo de errores de conexión.</a:t>
            </a:r>
            <a:b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• Copias de seguridad.</a:t>
            </a:r>
            <a:b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• Pruebas de recuperación.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6199632" y="1508760"/>
            <a:ext cx="5349240" cy="34290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199632" y="1508760"/>
            <a:ext cx="59436" cy="3429000"/>
          </a:xfrm>
          <a:prstGeom prst="rect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6400800" y="1691639"/>
            <a:ext cx="438912" cy="438912"/>
          </a:xfrm>
          <a:prstGeom prst="ellipse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6400800" y="170078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362" name="Google Shape;362;p12"/>
          <p:cNvSpPr txBox="1"/>
          <p:nvPr/>
        </p:nvSpPr>
        <p:spPr>
          <a:xfrm>
            <a:off x="6949440" y="1682495"/>
            <a:ext cx="441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Incompatibilidad entre web, app y backend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363" name="Google Shape;363;p12"/>
          <p:cNvSpPr txBox="1"/>
          <p:nvPr/>
        </p:nvSpPr>
        <p:spPr>
          <a:xfrm>
            <a:off x="6419088" y="2267712"/>
            <a:ext cx="49104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9D9D9"/>
                </a:solidFill>
              </a:rPr>
              <a:t>Riesgo: intercambio de datos incorrectos o estados inconsistentes.</a:t>
            </a:r>
            <a:br>
              <a:rPr lang="en-US" sz="1200">
                <a:solidFill>
                  <a:srgbClr val="D9D9D9"/>
                </a:solidFill>
              </a:rPr>
            </a:br>
            <a:br>
              <a:rPr lang="en-US" sz="1200">
                <a:solidFill>
                  <a:srgbClr val="D9D9D9"/>
                </a:solidFill>
              </a:rPr>
            </a:br>
            <a:r>
              <a:rPr lang="en-US" sz="1200">
                <a:solidFill>
                  <a:srgbClr val="D9D9D9"/>
                </a:solidFill>
              </a:rPr>
              <a:t>Mitigación:</a:t>
            </a:r>
            <a:br>
              <a:rPr lang="en-US" sz="1200">
                <a:solidFill>
                  <a:srgbClr val="D9D9D9"/>
                </a:solidFill>
              </a:rPr>
            </a:br>
            <a:r>
              <a:rPr lang="en-US" sz="1200">
                <a:solidFill>
                  <a:srgbClr val="D9D9D9"/>
                </a:solidFill>
              </a:rPr>
              <a:t>• Definir contratos de API y JSON.</a:t>
            </a:r>
            <a:br>
              <a:rPr lang="en-US" sz="1200">
                <a:solidFill>
                  <a:srgbClr val="D9D9D9"/>
                </a:solidFill>
              </a:rPr>
            </a:br>
            <a:r>
              <a:rPr lang="en-US" sz="1200">
                <a:solidFill>
                  <a:srgbClr val="D9D9D9"/>
                </a:solidFill>
              </a:rPr>
              <a:t>• Centralizar reglas en el backend.</a:t>
            </a:r>
            <a:br>
              <a:rPr lang="en-US" sz="1200">
                <a:solidFill>
                  <a:srgbClr val="D9D9D9"/>
                </a:solidFill>
              </a:rPr>
            </a:br>
            <a:r>
              <a:rPr lang="en-US" sz="1200">
                <a:solidFill>
                  <a:srgbClr val="D9D9D9"/>
                </a:solidFill>
              </a:rPr>
              <a:t>• Ejecutar pruebas de integración.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"/>
          <p:cNvSpPr txBox="1"/>
          <p:nvPr/>
        </p:nvSpPr>
        <p:spPr>
          <a:xfrm>
            <a:off x="594360" y="256032"/>
            <a:ext cx="5943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9BBD0"/>
                </a:solidFill>
              </a:rPr>
              <a:t>PERFIL DE EGRESO</a:t>
            </a:r>
            <a:endParaRPr b="1" sz="1000">
              <a:solidFill>
                <a:srgbClr val="19BBD0"/>
              </a:solidFill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594360" y="566928"/>
            <a:ext cx="1097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Competencias aplicadas en el proyecto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612648" y="1161288"/>
            <a:ext cx="685800" cy="41148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658368" y="1554480"/>
            <a:ext cx="3456432" cy="150876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658368" y="1554480"/>
            <a:ext cx="59436" cy="1508760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859536" y="1737360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 txBox="1"/>
          <p:nvPr/>
        </p:nvSpPr>
        <p:spPr>
          <a:xfrm>
            <a:off x="859536" y="174650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76" name="Google Shape;376;p14"/>
          <p:cNvSpPr txBox="1"/>
          <p:nvPr/>
        </p:nvSpPr>
        <p:spPr>
          <a:xfrm>
            <a:off x="1408176" y="1728216"/>
            <a:ext cx="252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ANALIZAR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7" name="Google Shape;377;p14"/>
          <p:cNvSpPr txBox="1"/>
          <p:nvPr/>
        </p:nvSpPr>
        <p:spPr>
          <a:xfrm>
            <a:off x="877824" y="2313432"/>
            <a:ext cx="3017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Requerimientos, actores, procesos y reglas.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4389120" y="1554480"/>
            <a:ext cx="3456432" cy="150876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4389120" y="1554480"/>
            <a:ext cx="59436" cy="1508760"/>
          </a:xfrm>
          <a:prstGeom prst="rect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4590288" y="1737360"/>
            <a:ext cx="438912" cy="438912"/>
          </a:xfrm>
          <a:prstGeom prst="ellipse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 txBox="1"/>
          <p:nvPr/>
        </p:nvSpPr>
        <p:spPr>
          <a:xfrm>
            <a:off x="4590288" y="174650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82" name="Google Shape;382;p14"/>
          <p:cNvSpPr txBox="1"/>
          <p:nvPr/>
        </p:nvSpPr>
        <p:spPr>
          <a:xfrm>
            <a:off x="5138928" y="1728216"/>
            <a:ext cx="252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DISEÑAR</a:t>
            </a:r>
            <a:endParaRPr/>
          </a:p>
        </p:txBody>
      </p:sp>
      <p:sp>
        <p:nvSpPr>
          <p:cNvPr id="383" name="Google Shape;383;p14"/>
          <p:cNvSpPr txBox="1"/>
          <p:nvPr/>
        </p:nvSpPr>
        <p:spPr>
          <a:xfrm>
            <a:off x="4608576" y="2313432"/>
            <a:ext cx="3017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Arquitectura, API, base de datos e interfaces.</a:t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8119872" y="1554480"/>
            <a:ext cx="3456432" cy="150876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8119872" y="1554480"/>
            <a:ext cx="59436" cy="1508760"/>
          </a:xfrm>
          <a:prstGeom prst="rect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8321040" y="1737360"/>
            <a:ext cx="438912" cy="438912"/>
          </a:xfrm>
          <a:prstGeom prst="ellipse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 txBox="1"/>
          <p:nvPr/>
        </p:nvSpPr>
        <p:spPr>
          <a:xfrm>
            <a:off x="8321040" y="174650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88" name="Google Shape;388;p14"/>
          <p:cNvSpPr txBox="1"/>
          <p:nvPr/>
        </p:nvSpPr>
        <p:spPr>
          <a:xfrm>
            <a:off x="8869680" y="1728216"/>
            <a:ext cx="252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DESARROLLAR</a:t>
            </a:r>
            <a:endParaRPr/>
          </a:p>
        </p:txBody>
      </p:sp>
      <p:sp>
        <p:nvSpPr>
          <p:cNvPr id="389" name="Google Shape;389;p14"/>
          <p:cNvSpPr txBox="1"/>
          <p:nvPr/>
        </p:nvSpPr>
        <p:spPr>
          <a:xfrm>
            <a:off x="8339328" y="2313432"/>
            <a:ext cx="3017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Plataforma web, aplicación móvil y backend.</a:t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658368" y="3474720"/>
            <a:ext cx="3456432" cy="150876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658368" y="3474720"/>
            <a:ext cx="59436" cy="1508760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859536" y="3657600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859536" y="366674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94" name="Google Shape;394;p14"/>
          <p:cNvSpPr txBox="1"/>
          <p:nvPr/>
        </p:nvSpPr>
        <p:spPr>
          <a:xfrm>
            <a:off x="1408176" y="3648456"/>
            <a:ext cx="252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INTEGRAR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877824" y="4233672"/>
            <a:ext cx="3017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Servicios externos y fuente de datos común.</a:t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4389120" y="3474720"/>
            <a:ext cx="3456432" cy="150876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4389120" y="3474720"/>
            <a:ext cx="59436" cy="1508760"/>
          </a:xfrm>
          <a:prstGeom prst="rect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4590288" y="3657600"/>
            <a:ext cx="438912" cy="438912"/>
          </a:xfrm>
          <a:prstGeom prst="ellipse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4590288" y="366674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400" name="Google Shape;400;p14"/>
          <p:cNvSpPr txBox="1"/>
          <p:nvPr/>
        </p:nvSpPr>
        <p:spPr>
          <a:xfrm>
            <a:off x="5138928" y="3648456"/>
            <a:ext cx="252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VALIDAR</a:t>
            </a:r>
            <a:endParaRPr/>
          </a:p>
        </p:txBody>
      </p:sp>
      <p:sp>
        <p:nvSpPr>
          <p:cNvPr id="401" name="Google Shape;401;p14"/>
          <p:cNvSpPr txBox="1"/>
          <p:nvPr/>
        </p:nvSpPr>
        <p:spPr>
          <a:xfrm>
            <a:off x="4608576" y="4233672"/>
            <a:ext cx="3017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Pruebas, seguridad, calidad y trazabilidad.</a:t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8119872" y="3474720"/>
            <a:ext cx="3456432" cy="150876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8119872" y="3474720"/>
            <a:ext cx="59436" cy="1508760"/>
          </a:xfrm>
          <a:prstGeom prst="rect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8321040" y="3657600"/>
            <a:ext cx="438912" cy="438912"/>
          </a:xfrm>
          <a:prstGeom prst="ellipse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 txBox="1"/>
          <p:nvPr/>
        </p:nvSpPr>
        <p:spPr>
          <a:xfrm>
            <a:off x="8321040" y="366674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406" name="Google Shape;406;p14"/>
          <p:cNvSpPr txBox="1"/>
          <p:nvPr/>
        </p:nvSpPr>
        <p:spPr>
          <a:xfrm>
            <a:off x="8869680" y="3648456"/>
            <a:ext cx="252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GESTIONAR</a:t>
            </a:r>
            <a:endParaRPr/>
          </a:p>
        </p:txBody>
      </p:sp>
      <p:sp>
        <p:nvSpPr>
          <p:cNvPr id="407" name="Google Shape;407;p14"/>
          <p:cNvSpPr txBox="1"/>
          <p:nvPr/>
        </p:nvSpPr>
        <p:spPr>
          <a:xfrm>
            <a:off x="8339328" y="4233672"/>
            <a:ext cx="3017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D9D9D9"/>
                </a:solidFill>
              </a:rPr>
              <a:t>Alcance, plazos, riesgos y colaboración.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h41c3936baf91cf09_3_0"/>
          <p:cNvSpPr/>
          <p:nvPr/>
        </p:nvSpPr>
        <p:spPr>
          <a:xfrm>
            <a:off x="630200" y="2229150"/>
            <a:ext cx="3378900" cy="15087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h41c3936baf91cf09_3_0"/>
          <p:cNvSpPr/>
          <p:nvPr/>
        </p:nvSpPr>
        <p:spPr>
          <a:xfrm>
            <a:off x="4367675" y="1675948"/>
            <a:ext cx="3456300" cy="20619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rgbClr val="FFFFFF"/>
                </a:solidFill>
              </a:rPr>
              <a:t>BACKEND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FFFFFF"/>
                </a:solidFill>
              </a:rPr>
              <a:t>Python · Flask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FFFFFF"/>
                </a:solidFill>
              </a:rPr>
              <a:t>Rutas, autenticación, formularios y lógica de solicitudes.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414" name="Google Shape;414;h41c3936baf91cf09_3_0"/>
          <p:cNvSpPr/>
          <p:nvPr/>
        </p:nvSpPr>
        <p:spPr>
          <a:xfrm>
            <a:off x="8105150" y="1675948"/>
            <a:ext cx="3456300" cy="20619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rgbClr val="FFFFFF"/>
                </a:solidFill>
              </a:rPr>
              <a:t>BASE DE DATOS 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FFFFFF"/>
                </a:solidFill>
              </a:rPr>
              <a:t>MySQL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FFFFFF"/>
                </a:solidFill>
              </a:rPr>
              <a:t>Estructura centralizada y adaptación de conexión para el prototipo.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415" name="Google Shape;415;h41c3936baf91cf09_3_0"/>
          <p:cNvSpPr txBox="1"/>
          <p:nvPr/>
        </p:nvSpPr>
        <p:spPr>
          <a:xfrm>
            <a:off x="237250" y="704350"/>
            <a:ext cx="7716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</a:rPr>
              <a:t>Prototipo web y tecnologías utilizadas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6" name="Google Shape;416;h41c3936baf91cf09_3_0"/>
          <p:cNvSpPr/>
          <p:nvPr/>
        </p:nvSpPr>
        <p:spPr>
          <a:xfrm>
            <a:off x="630200" y="1676000"/>
            <a:ext cx="3456300" cy="20619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rgbClr val="FFFFFF"/>
                </a:solidFill>
              </a:rPr>
              <a:t>FRONTEND WEB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FFFFFF"/>
                </a:solidFill>
              </a:rPr>
              <a:t>HTML · CSS · JavaScript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FFFFFF"/>
                </a:solidFill>
              </a:rPr>
              <a:t>Pantallas y navegación para cliente, gestor y administrador.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</p:txBody>
      </p:sp>
      <p:pic>
        <p:nvPicPr>
          <p:cNvPr id="417" name="Google Shape;417;h41c3936baf91cf09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88" y="4364800"/>
            <a:ext cx="11886878" cy="1220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h41c3936baf91cf09_3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6876" cy="498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538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"/>
          <p:cNvSpPr/>
          <p:nvPr/>
        </p:nvSpPr>
        <p:spPr>
          <a:xfrm>
            <a:off x="749800" y="4736817"/>
            <a:ext cx="10771800" cy="2017200"/>
          </a:xfrm>
          <a:prstGeom prst="roundRect">
            <a:avLst>
              <a:gd fmla="val 16667" name="adj"/>
            </a:avLst>
          </a:prstGeom>
          <a:solidFill>
            <a:srgbClr val="0B2033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 txBox="1"/>
          <p:nvPr/>
        </p:nvSpPr>
        <p:spPr>
          <a:xfrm>
            <a:off x="685800" y="502920"/>
            <a:ext cx="4114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cap="none" strike="noStrike">
                <a:solidFill>
                  <a:srgbClr val="19BBD0"/>
                </a:solidFill>
                <a:latin typeface="Arial"/>
                <a:ea typeface="Arial"/>
                <a:cs typeface="Arial"/>
                <a:sym typeface="Arial"/>
              </a:rPr>
              <a:t>JJV · TÉCNICO YA</a:t>
            </a:r>
            <a:endParaRPr>
              <a:solidFill>
                <a:srgbClr val="19BBD0"/>
              </a:solidFill>
            </a:endParaRPr>
          </a:p>
        </p:txBody>
      </p:sp>
      <p:sp>
        <p:nvSpPr>
          <p:cNvPr id="429" name="Google Shape;429;p16"/>
          <p:cNvSpPr txBox="1"/>
          <p:nvPr/>
        </p:nvSpPr>
        <p:spPr>
          <a:xfrm>
            <a:off x="685800" y="960120"/>
            <a:ext cx="106986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gestión más organizada y trazable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0" name="Google Shape;430;p16"/>
          <p:cNvSpPr txBox="1"/>
          <p:nvPr/>
        </p:nvSpPr>
        <p:spPr>
          <a:xfrm>
            <a:off x="713232" y="1783080"/>
            <a:ext cx="103326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La propuesta conecta a clientes, gestores y técnicos mediante una plataforma web, una aplicación móvil y una fuente de información centralizada.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713232" y="2971800"/>
            <a:ext cx="3401568" cy="16002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713232" y="2971800"/>
            <a:ext cx="59436" cy="1600200"/>
          </a:xfrm>
          <a:prstGeom prst="rect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914400" y="3154680"/>
            <a:ext cx="438912" cy="438912"/>
          </a:xfrm>
          <a:prstGeom prst="ellipse">
            <a:avLst/>
          </a:prstGeom>
          <a:solidFill>
            <a:srgbClr val="19BB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 txBox="1"/>
          <p:nvPr/>
        </p:nvSpPr>
        <p:spPr>
          <a:xfrm>
            <a:off x="914400" y="316382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435" name="Google Shape;435;p16"/>
          <p:cNvSpPr txBox="1"/>
          <p:nvPr/>
        </p:nvSpPr>
        <p:spPr>
          <a:xfrm>
            <a:off x="1463040" y="3145536"/>
            <a:ext cx="246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Información centralizada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6" name="Google Shape;436;p16"/>
          <p:cNvSpPr txBox="1"/>
          <p:nvPr/>
        </p:nvSpPr>
        <p:spPr>
          <a:xfrm>
            <a:off x="932688" y="3730752"/>
            <a:ext cx="2962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Solicitudes, órdenes, clientes y evidencias organizadas.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4416552" y="2971800"/>
            <a:ext cx="3401568" cy="16002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4416552" y="2971800"/>
            <a:ext cx="59436" cy="1600200"/>
          </a:xfrm>
          <a:prstGeom prst="rect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4617720" y="3154680"/>
            <a:ext cx="438912" cy="438912"/>
          </a:xfrm>
          <a:prstGeom prst="ellipse">
            <a:avLst/>
          </a:prstGeom>
          <a:solidFill>
            <a:srgbClr val="35A9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 txBox="1"/>
          <p:nvPr/>
        </p:nvSpPr>
        <p:spPr>
          <a:xfrm>
            <a:off x="4617720" y="316382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41" name="Google Shape;441;p16"/>
          <p:cNvSpPr txBox="1"/>
          <p:nvPr/>
        </p:nvSpPr>
        <p:spPr>
          <a:xfrm>
            <a:off x="5166360" y="3145536"/>
            <a:ext cx="246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Flujo coordinado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4636008" y="3730752"/>
            <a:ext cx="2962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El gestor administra y asigna; el técnico registra la ejecución.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8119871" y="2971800"/>
            <a:ext cx="3401568" cy="1600200"/>
          </a:xfrm>
          <a:prstGeom prst="roundRect">
            <a:avLst>
              <a:gd fmla="val 16667" name="adj"/>
            </a:avLst>
          </a:prstGeom>
          <a:solidFill>
            <a:srgbClr val="17344B"/>
          </a:solidFill>
          <a:ln cap="flat" cmpd="sng" w="9525">
            <a:solidFill>
              <a:srgbClr val="2B4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8119871" y="2971800"/>
            <a:ext cx="59436" cy="1600200"/>
          </a:xfrm>
          <a:prstGeom prst="rect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8321040" y="3154680"/>
            <a:ext cx="438912" cy="438912"/>
          </a:xfrm>
          <a:prstGeom prst="ellipse">
            <a:avLst/>
          </a:prstGeom>
          <a:solidFill>
            <a:srgbClr val="E8A5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 txBox="1"/>
          <p:nvPr/>
        </p:nvSpPr>
        <p:spPr>
          <a:xfrm>
            <a:off x="8321040" y="3163824"/>
            <a:ext cx="4389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47" name="Google Shape;447;p16"/>
          <p:cNvSpPr txBox="1"/>
          <p:nvPr/>
        </p:nvSpPr>
        <p:spPr>
          <a:xfrm>
            <a:off x="8869680" y="3145536"/>
            <a:ext cx="246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8339327" y="3730752"/>
            <a:ext cx="2962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Estados, fechas, observaciones e historial de atención.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1227000" y="4860150"/>
            <a:ext cx="992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Técnico Ya busca apoyar la coordinación y el seguimiento de los servicios técnicos a domicilio.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4589987" y="5429300"/>
            <a:ext cx="30117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Gracias.</a:t>
            </a:r>
            <a:endParaRPr sz="58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