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14400"/>
            <a:ext cx="118872" cy="4389120"/>
          </a:xfrm>
          <a:prstGeom prst="rect">
            <a:avLst/>
          </a:prstGeom>
          <a:solidFill>
            <a:srgbClr val="1FC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9848" y="969264"/>
            <a:ext cx="9144000" cy="41148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1FC6D2"/>
                </a:solidFill>
                <a:latin typeface="Aptos"/>
              </a:defRPr>
            </a:pPr>
            <a:r>
              <a:t>PROYECTO APT  ·  PRESENTACIÓN INTEGRAL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1691640"/>
            <a:ext cx="10058400" cy="107899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5600" b="1">
                <a:solidFill>
                  <a:srgbClr val="F6F9FE"/>
                </a:solidFill>
                <a:latin typeface="Aptos"/>
              </a:defRPr>
            </a:pPr>
            <a:r>
              <a:t>TÉCNICO YA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2862072"/>
            <a:ext cx="9601200" cy="91440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2500" b="0">
                <a:solidFill>
                  <a:srgbClr val="9BAEC7"/>
                </a:solidFill>
                <a:latin typeface="Aptos"/>
              </a:defRPr>
            </a:pPr>
            <a:r>
              <a:t>Una plataforma para gestionar servicios técnicos a domicilio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389120"/>
            <a:ext cx="2596896" cy="667512"/>
          </a:xfrm>
          <a:prstGeom prst="roundRect">
            <a:avLst/>
          </a:prstGeom>
          <a:solidFill>
            <a:srgbClr val="1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1" y="4553712"/>
            <a:ext cx="2450591" cy="34747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 algn="ctr">
              <a:spcAft>
                <a:spcPts val="900"/>
              </a:spcAft>
              <a:defRPr sz="1500" b="1">
                <a:solidFill>
                  <a:srgbClr val="F6F9FE"/>
                </a:solidFill>
                <a:latin typeface="Aptos"/>
              </a:defRPr>
            </a:pPr>
            <a:r>
              <a:t>WEB ADMINISTRATIVA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01568" y="4389120"/>
            <a:ext cx="2596896" cy="667512"/>
          </a:xfrm>
          <a:prstGeom prst="roundRect">
            <a:avLst/>
          </a:prstGeom>
          <a:solidFill>
            <a:srgbClr val="1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4553712"/>
            <a:ext cx="2450591" cy="34747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 algn="ctr">
              <a:spcAft>
                <a:spcPts val="900"/>
              </a:spcAft>
              <a:defRPr sz="1500" b="1">
                <a:solidFill>
                  <a:srgbClr val="F6F9FE"/>
                </a:solidFill>
                <a:latin typeface="Aptos"/>
              </a:defRPr>
            </a:pPr>
            <a:r>
              <a:t>APP TÉCNICO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63056" y="4389120"/>
            <a:ext cx="2596896" cy="667512"/>
          </a:xfrm>
          <a:prstGeom prst="roundRect">
            <a:avLst/>
          </a:prstGeom>
          <a:solidFill>
            <a:srgbClr val="1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36208" y="4553712"/>
            <a:ext cx="2450591" cy="34747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 algn="ctr">
              <a:spcAft>
                <a:spcPts val="900"/>
              </a:spcAft>
              <a:defRPr sz="1500" b="1">
                <a:solidFill>
                  <a:srgbClr val="F6F9FE"/>
                </a:solidFill>
                <a:latin typeface="Aptos"/>
              </a:defRPr>
            </a:pPr>
            <a:r>
              <a:t>API / BACKEND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24544" y="4389120"/>
            <a:ext cx="2596896" cy="667512"/>
          </a:xfrm>
          <a:prstGeom prst="roundRect">
            <a:avLst/>
          </a:prstGeom>
          <a:solidFill>
            <a:srgbClr val="1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97696" y="4553712"/>
            <a:ext cx="2450591" cy="34747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 algn="ctr">
              <a:spcAft>
                <a:spcPts val="900"/>
              </a:spcAft>
              <a:defRPr sz="1500" b="1">
                <a:solidFill>
                  <a:srgbClr val="F6F9FE"/>
                </a:solidFill>
                <a:latin typeface="Aptos"/>
              </a:defRPr>
            </a:pPr>
            <a:r>
              <a:t>BASE DE DATOS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5806440"/>
            <a:ext cx="10058400" cy="36576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F6F9FE"/>
                </a:solidFill>
                <a:latin typeface="Aptos"/>
              </a:defRPr>
            </a:pPr>
            <a:r>
              <a:t>José Herrera  ·  Sebastián Valdés  ·  José Espinoza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6245352"/>
            <a:ext cx="9144000" cy="27432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9BAEC7"/>
                </a:solidFill>
                <a:latin typeface="Aptos"/>
              </a:defRPr>
            </a:pPr>
            <a:r>
              <a:t>Empresa JJV  |  Octubre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109728" cy="566928"/>
          </a:xfrm>
          <a:prstGeom prst="rect">
            <a:avLst/>
          </a:prstGeom>
          <a:solidFill>
            <a:srgbClr val="1FC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38328"/>
            <a:ext cx="10789920" cy="57607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F6F9FE"/>
                </a:solidFill>
                <a:latin typeface="Aptos"/>
              </a:defRPr>
            </a:pPr>
            <a:r>
              <a:t>Resumen ejecutivo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78408"/>
            <a:ext cx="10881360" cy="5486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9BAEC7"/>
                </a:solidFill>
                <a:latin typeface="Aptos"/>
              </a:defRPr>
            </a:pPr>
            <a:r>
              <a:t>Del problema operacional a una solución integrada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46520"/>
            <a:ext cx="10881360" cy="10972"/>
          </a:xfrm>
          <a:prstGeom prst="rect">
            <a:avLst/>
          </a:prstGeom>
          <a:solidFill>
            <a:srgbClr val="344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6501384"/>
            <a:ext cx="7315200" cy="21031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9BAEC7"/>
                </a:solidFill>
                <a:latin typeface="Aptos"/>
              </a:defRPr>
            </a:pPr>
            <a:r>
              <a:t>JJV  /  TÉCNICO YA  ·  OCTUBRE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83096"/>
            <a:ext cx="365760" cy="219456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1FC6D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91640"/>
            <a:ext cx="3429000" cy="3474720"/>
          </a:xfrm>
          <a:prstGeom prst="roundRect">
            <a:avLst/>
          </a:prstGeom>
          <a:solidFill>
            <a:srgbClr val="1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901952"/>
            <a:ext cx="64008" cy="384048"/>
          </a:xfrm>
          <a:prstGeom prst="rect">
            <a:avLst/>
          </a:prstGeom>
          <a:solidFill>
            <a:srgbClr val="FFB9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865376"/>
            <a:ext cx="2898648" cy="45720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6F9FE"/>
                </a:solidFill>
                <a:latin typeface="Aptos"/>
              </a:defRPr>
            </a:pPr>
            <a:r>
              <a:t>Situación actual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2514600"/>
            <a:ext cx="2953512" cy="2523744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9BAEC7"/>
                </a:solidFill>
                <a:latin typeface="Aptos"/>
              </a:defRPr>
            </a:pPr>
            <a:r>
              <a:t>Solicitudes e información distribuidas en varios canales; asignación y seguimiento con intervención manual.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691640"/>
            <a:ext cx="3429000" cy="3474720"/>
          </a:xfrm>
          <a:prstGeom prst="roundRect">
            <a:avLst/>
          </a:prstGeom>
          <a:solidFill>
            <a:srgbClr val="1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53712" y="1901952"/>
            <a:ext cx="64008" cy="384048"/>
          </a:xfrm>
          <a:prstGeom prst="rect">
            <a:avLst/>
          </a:prstGeom>
          <a:solidFill>
            <a:srgbClr val="1FC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36592" y="1865376"/>
            <a:ext cx="2898648" cy="45720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6F9FE"/>
                </a:solidFill>
                <a:latin typeface="Aptos"/>
              </a:defRPr>
            </a:pPr>
            <a:r>
              <a:t>Propuesta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6" y="2514600"/>
            <a:ext cx="2953512" cy="2523744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9BAEC7"/>
                </a:solidFill>
                <a:latin typeface="Aptos"/>
              </a:defRPr>
            </a:pPr>
            <a:r>
              <a:t>Centralizar clientes, técnicos, solicitudes y órdenes; conectar la administración con la ejecución en terreno.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691640"/>
            <a:ext cx="3429000" cy="3474720"/>
          </a:xfrm>
          <a:prstGeom prst="roundRect">
            <a:avLst/>
          </a:prstGeom>
          <a:solidFill>
            <a:srgbClr val="1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901952"/>
            <a:ext cx="64008" cy="384048"/>
          </a:xfrm>
          <a:prstGeom prst="rect">
            <a:avLst/>
          </a:prstGeom>
          <a:solidFill>
            <a:srgbClr val="3DD0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1865376"/>
            <a:ext cx="2898648" cy="45720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6F9FE"/>
                </a:solidFill>
                <a:latin typeface="Aptos"/>
              </a:defRPr>
            </a:pPr>
            <a:r>
              <a:t>Valor esperado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4" y="2514600"/>
            <a:ext cx="2953512" cy="2523744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9BAEC7"/>
                </a:solidFill>
                <a:latin typeface="Aptos"/>
              </a:defRPr>
            </a:pPr>
            <a:r>
              <a:t>Mayor trazabilidad, visibilidad del estado del servicio y apoyo a decisiones de asignación.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109728" cy="566928"/>
          </a:xfrm>
          <a:prstGeom prst="rect">
            <a:avLst/>
          </a:prstGeom>
          <a:solidFill>
            <a:srgbClr val="1FC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38328"/>
            <a:ext cx="10789920" cy="57607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F6F9FE"/>
                </a:solidFill>
                <a:latin typeface="Aptos"/>
              </a:defRPr>
            </a:pPr>
            <a:r>
              <a:t>Problema y oportunidad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78408"/>
            <a:ext cx="10881360" cy="5486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9BAEC7"/>
                </a:solidFill>
                <a:latin typeface="Aptos"/>
              </a:defRPr>
            </a:pPr>
            <a:r>
              <a:t>Necesidad identificada para la empresa JJV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46520"/>
            <a:ext cx="10881360" cy="10972"/>
          </a:xfrm>
          <a:prstGeom prst="rect">
            <a:avLst/>
          </a:prstGeom>
          <a:solidFill>
            <a:srgbClr val="344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6501384"/>
            <a:ext cx="7315200" cy="21031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9BAEC7"/>
                </a:solidFill>
                <a:latin typeface="Aptos"/>
              </a:defRPr>
            </a:pPr>
            <a:r>
              <a:t>JJV  /  TÉCNICO YA  ·  OCTUBRE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83096"/>
            <a:ext cx="365760" cy="219456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1FC6D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45920"/>
            <a:ext cx="5257800" cy="3429000"/>
          </a:xfrm>
          <a:prstGeom prst="roundRect">
            <a:avLst/>
          </a:prstGeom>
          <a:solidFill>
            <a:srgbClr val="1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856232"/>
            <a:ext cx="64008" cy="384048"/>
          </a:xfrm>
          <a:prstGeom prst="rect">
            <a:avLst/>
          </a:prstGeom>
          <a:solidFill>
            <a:srgbClr val="FFB9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819656"/>
            <a:ext cx="4727448" cy="45720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6F9FE"/>
                </a:solidFill>
                <a:latin typeface="Aptos"/>
              </a:defRPr>
            </a:pPr>
            <a:r>
              <a:t>Dolores operacionales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2468880"/>
            <a:ext cx="4782312" cy="2478024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9BAEC7"/>
                </a:solidFill>
                <a:latin typeface="Aptos"/>
              </a:defRPr>
            </a:pPr>
            <a:r>
              <a:t>• Información dispersa o duplicada</a:t>
            </a:r>
          </a:p>
          <a:p>
            <a:pPr>
              <a:spcAft>
                <a:spcPts val="900"/>
              </a:spcAft>
              <a:defRPr sz="1500" b="0">
                <a:solidFill>
                  <a:srgbClr val="9BAEC7"/>
                </a:solidFill>
                <a:latin typeface="Aptos"/>
              </a:defRPr>
            </a:pPr>
            <a:r>
              <a:t>• Seguimiento manual de solicitudes</a:t>
            </a:r>
          </a:p>
          <a:p>
            <a:pPr>
              <a:spcAft>
                <a:spcPts val="900"/>
              </a:spcAft>
              <a:defRPr sz="1500" b="0">
                <a:solidFill>
                  <a:srgbClr val="9BAEC7"/>
                </a:solidFill>
                <a:latin typeface="Aptos"/>
              </a:defRPr>
            </a:pPr>
            <a:r>
              <a:t>• Poca visibilidad de la carga de técnicos</a:t>
            </a:r>
          </a:p>
          <a:p>
            <a:pPr>
              <a:spcAft>
                <a:spcPts val="900"/>
              </a:spcAft>
              <a:defRPr sz="1500" b="0">
                <a:solidFill>
                  <a:srgbClr val="9BAEC7"/>
                </a:solidFill>
                <a:latin typeface="Aptos"/>
              </a:defRPr>
            </a:pPr>
            <a:r>
              <a:t>• Dificultad para medir tiempos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645920"/>
            <a:ext cx="5257800" cy="3429000"/>
          </a:xfrm>
          <a:prstGeom prst="roundRect">
            <a:avLst/>
          </a:prstGeom>
          <a:solidFill>
            <a:srgbClr val="1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856232"/>
            <a:ext cx="64008" cy="384048"/>
          </a:xfrm>
          <a:prstGeom prst="rect">
            <a:avLst/>
          </a:prstGeom>
          <a:solidFill>
            <a:srgbClr val="1FC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819656"/>
            <a:ext cx="4727448" cy="45720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6F9FE"/>
                </a:solidFill>
                <a:latin typeface="Aptos"/>
              </a:defRPr>
            </a:pPr>
            <a:r>
              <a:t>Oportunidad de mejora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2468880"/>
            <a:ext cx="4782312" cy="2478024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9BAEC7"/>
                </a:solidFill>
                <a:latin typeface="Aptos"/>
              </a:defRPr>
            </a:pPr>
            <a:r>
              <a:t>• Registro único de cada solicitud</a:t>
            </a:r>
          </a:p>
          <a:p>
            <a:pPr>
              <a:spcAft>
                <a:spcPts val="900"/>
              </a:spcAft>
              <a:defRPr sz="1500" b="0">
                <a:solidFill>
                  <a:srgbClr val="9BAEC7"/>
                </a:solidFill>
                <a:latin typeface="Aptos"/>
              </a:defRPr>
            </a:pPr>
            <a:r>
              <a:t>• Asignación apoyada por criterios objetivos</a:t>
            </a:r>
          </a:p>
          <a:p>
            <a:pPr>
              <a:spcAft>
                <a:spcPts val="900"/>
              </a:spcAft>
              <a:defRPr sz="1500" b="0">
                <a:solidFill>
                  <a:srgbClr val="9BAEC7"/>
                </a:solidFill>
                <a:latin typeface="Aptos"/>
              </a:defRPr>
            </a:pPr>
            <a:r>
              <a:t>• Estados y evidencias de atención</a:t>
            </a:r>
          </a:p>
          <a:p>
            <a:pPr>
              <a:spcAft>
                <a:spcPts val="900"/>
              </a:spcAft>
              <a:defRPr sz="1500" b="0">
                <a:solidFill>
                  <a:srgbClr val="9BAEC7"/>
                </a:solidFill>
                <a:latin typeface="Aptos"/>
              </a:defRPr>
            </a:pPr>
            <a:r>
              <a:t>• Indicadores para la gestión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109728" cy="566928"/>
          </a:xfrm>
          <a:prstGeom prst="rect">
            <a:avLst/>
          </a:prstGeom>
          <a:solidFill>
            <a:srgbClr val="1FC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38328"/>
            <a:ext cx="10789920" cy="57607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F6F9FE"/>
                </a:solidFill>
                <a:latin typeface="Aptos"/>
              </a:defRPr>
            </a:pPr>
            <a:r>
              <a:t>Objetivos del proyecto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78408"/>
            <a:ext cx="10881360" cy="5486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9BAEC7"/>
                </a:solidFill>
                <a:latin typeface="Aptos"/>
              </a:defRPr>
            </a:pPr>
            <a:r>
              <a:t>Propósito y resultados esperados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46520"/>
            <a:ext cx="10881360" cy="10972"/>
          </a:xfrm>
          <a:prstGeom prst="rect">
            <a:avLst/>
          </a:prstGeom>
          <a:solidFill>
            <a:srgbClr val="344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6501384"/>
            <a:ext cx="7315200" cy="21031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9BAEC7"/>
                </a:solidFill>
                <a:latin typeface="Aptos"/>
              </a:defRPr>
            </a:pPr>
            <a:r>
              <a:t>JJV  /  TÉCNICO YA  ·  OCTUBRE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83096"/>
            <a:ext cx="365760" cy="219456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1FC6D2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45920"/>
            <a:ext cx="10789920" cy="1097280"/>
          </a:xfrm>
          <a:prstGeom prst="roundRect">
            <a:avLst/>
          </a:prstGeom>
          <a:solidFill>
            <a:srgbClr val="1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2194560" cy="27432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400" b="1">
                <a:solidFill>
                  <a:srgbClr val="1FC6D2"/>
                </a:solidFill>
                <a:latin typeface="Aptos"/>
              </a:defRPr>
            </a:pPr>
            <a:r>
              <a:t>OBJETIVO GENERAL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1801368"/>
            <a:ext cx="7955279" cy="694944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6F9FE"/>
                </a:solidFill>
                <a:latin typeface="Aptos"/>
              </a:defRPr>
            </a:pPr>
            <a:r>
              <a:t>Desarrollar una solución web y móvil integrada para centralizar y optimizar la gestión de servicios técnicos.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063240"/>
            <a:ext cx="3401568" cy="2286000"/>
          </a:xfrm>
          <a:prstGeom prst="roundRect">
            <a:avLst/>
          </a:prstGeom>
          <a:solidFill>
            <a:srgbClr val="1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3273552"/>
            <a:ext cx="64008" cy="384048"/>
          </a:xfrm>
          <a:prstGeom prst="rect">
            <a:avLst/>
          </a:prstGeom>
          <a:solidFill>
            <a:srgbClr val="1D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236976"/>
            <a:ext cx="2871216" cy="45720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6F9FE"/>
                </a:solidFill>
                <a:latin typeface="Aptos"/>
              </a:defRPr>
            </a:pPr>
            <a:r>
              <a:t>Analizar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886200"/>
            <a:ext cx="2926080" cy="1335024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9BAEC7"/>
                </a:solidFill>
                <a:latin typeface="Aptos"/>
              </a:defRPr>
            </a:pPr>
            <a:r>
              <a:t>Procesos, actores, requerimientos y reglas de negocio.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98264" y="3063240"/>
            <a:ext cx="3401568" cy="2286000"/>
          </a:xfrm>
          <a:prstGeom prst="roundRect">
            <a:avLst/>
          </a:prstGeom>
          <a:solidFill>
            <a:srgbClr val="1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81144" y="3273552"/>
            <a:ext cx="64008" cy="384048"/>
          </a:xfrm>
          <a:prstGeom prst="rect">
            <a:avLst/>
          </a:prstGeom>
          <a:solidFill>
            <a:srgbClr val="1FC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64024" y="3236976"/>
            <a:ext cx="2871216" cy="45720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6F9FE"/>
                </a:solidFill>
                <a:latin typeface="Aptos"/>
              </a:defRPr>
            </a:pPr>
            <a:r>
              <a:t>Diseñar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007" y="3886200"/>
            <a:ext cx="2926080" cy="1335024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9BAEC7"/>
                </a:solidFill>
                <a:latin typeface="Aptos"/>
              </a:defRPr>
            </a:pPr>
            <a:r>
              <a:t>Arquitectura, datos, interfaces y flujos de atención.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10727" y="3063240"/>
            <a:ext cx="3401568" cy="2286000"/>
          </a:xfrm>
          <a:prstGeom prst="roundRect">
            <a:avLst/>
          </a:prstGeom>
          <a:solidFill>
            <a:srgbClr val="1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93607" y="3273552"/>
            <a:ext cx="64008" cy="384048"/>
          </a:xfrm>
          <a:prstGeom prst="rect">
            <a:avLst/>
          </a:prstGeom>
          <a:solidFill>
            <a:srgbClr val="3DD0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76488" y="3236976"/>
            <a:ext cx="2871216" cy="45720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6F9FE"/>
                </a:solidFill>
                <a:latin typeface="Aptos"/>
              </a:defRPr>
            </a:pPr>
            <a:r>
              <a:t>Construir y validar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1" y="3886200"/>
            <a:ext cx="2926080" cy="1335024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9BAEC7"/>
                </a:solidFill>
                <a:latin typeface="Aptos"/>
              </a:defRPr>
            </a:pPr>
            <a:r>
              <a:t>Web, app, API e integración mediante pruebas.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109728" cy="566928"/>
          </a:xfrm>
          <a:prstGeom prst="rect">
            <a:avLst/>
          </a:prstGeom>
          <a:solidFill>
            <a:srgbClr val="1FC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38328"/>
            <a:ext cx="10789920" cy="57607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F6F9FE"/>
                </a:solidFill>
                <a:latin typeface="Aptos"/>
              </a:defRPr>
            </a:pPr>
            <a:r>
              <a:t>Alcance funcional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78408"/>
            <a:ext cx="10881360" cy="5486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9BAEC7"/>
                </a:solidFill>
                <a:latin typeface="Aptos"/>
              </a:defRPr>
            </a:pPr>
            <a:r>
              <a:t>Tres experiencias conectadas por una misma fuente de información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46520"/>
            <a:ext cx="10881360" cy="10972"/>
          </a:xfrm>
          <a:prstGeom prst="rect">
            <a:avLst/>
          </a:prstGeom>
          <a:solidFill>
            <a:srgbClr val="344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6501384"/>
            <a:ext cx="7315200" cy="21031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9BAEC7"/>
                </a:solidFill>
                <a:latin typeface="Aptos"/>
              </a:defRPr>
            </a:pPr>
            <a:r>
              <a:t>JJV  /  TÉCNICO YA  ·  OCTUBRE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83096"/>
            <a:ext cx="365760" cy="219456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1FC6D2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45920"/>
            <a:ext cx="3401568" cy="3749039"/>
          </a:xfrm>
          <a:prstGeom prst="roundRect">
            <a:avLst/>
          </a:prstGeom>
          <a:solidFill>
            <a:srgbClr val="1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856232"/>
            <a:ext cx="64008" cy="384048"/>
          </a:xfrm>
          <a:prstGeom prst="rect">
            <a:avLst/>
          </a:prstGeom>
          <a:solidFill>
            <a:srgbClr val="1D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819656"/>
            <a:ext cx="2871216" cy="45720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6F9FE"/>
                </a:solidFill>
                <a:latin typeface="Aptos"/>
              </a:defRPr>
            </a:pPr>
            <a:r>
              <a:t>Gestor / administrador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2468880"/>
            <a:ext cx="2926080" cy="2798063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9BAEC7"/>
                </a:solidFill>
                <a:latin typeface="Aptos"/>
              </a:defRPr>
            </a:pPr>
            <a:r>
              <a:t>Clientes, técnicos, servicios, solicitudes, asignaciones, seguimiento y panel de indicadores.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8264" y="1645920"/>
            <a:ext cx="3401568" cy="3749039"/>
          </a:xfrm>
          <a:prstGeom prst="roundRect">
            <a:avLst/>
          </a:prstGeom>
          <a:solidFill>
            <a:srgbClr val="1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81144" y="1856232"/>
            <a:ext cx="64008" cy="384048"/>
          </a:xfrm>
          <a:prstGeom prst="rect">
            <a:avLst/>
          </a:prstGeom>
          <a:solidFill>
            <a:srgbClr val="1FC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64024" y="1819656"/>
            <a:ext cx="2871216" cy="45720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6F9FE"/>
                </a:solidFill>
                <a:latin typeface="Aptos"/>
              </a:defRPr>
            </a:pPr>
            <a:r>
              <a:t>Técnico en terreno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7" y="2468880"/>
            <a:ext cx="2926080" cy="2798063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9BAEC7"/>
                </a:solidFill>
                <a:latin typeface="Aptos"/>
              </a:defRPr>
            </a:pPr>
            <a:r>
              <a:t>Órdenes asignadas, ubicación, inicio y cierre, estados, observaciones y fotografías.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0727" y="1645920"/>
            <a:ext cx="3401568" cy="3749039"/>
          </a:xfrm>
          <a:prstGeom prst="roundRect">
            <a:avLst/>
          </a:prstGeom>
          <a:solidFill>
            <a:srgbClr val="1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93607" y="1856232"/>
            <a:ext cx="64008" cy="384048"/>
          </a:xfrm>
          <a:prstGeom prst="rect">
            <a:avLst/>
          </a:prstGeom>
          <a:solidFill>
            <a:srgbClr val="3DD0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76488" y="1819656"/>
            <a:ext cx="2871216" cy="45720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6F9FE"/>
                </a:solidFill>
                <a:latin typeface="Aptos"/>
              </a:defRPr>
            </a:pPr>
            <a:r>
              <a:t>Cliente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8471" y="2468880"/>
            <a:ext cx="2926080" cy="2798063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9BAEC7"/>
                </a:solidFill>
                <a:latin typeface="Aptos"/>
              </a:defRPr>
            </a:pPr>
            <a:r>
              <a:t>Registro de solicitudes y consulta del estado del servicio.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109728" cy="566928"/>
          </a:xfrm>
          <a:prstGeom prst="rect">
            <a:avLst/>
          </a:prstGeom>
          <a:solidFill>
            <a:srgbClr val="1FC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38328"/>
            <a:ext cx="10789920" cy="57607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F6F9FE"/>
                </a:solidFill>
                <a:latin typeface="Aptos"/>
              </a:defRPr>
            </a:pPr>
            <a:r>
              <a:t>Flujo de atención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78408"/>
            <a:ext cx="10881360" cy="5486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9BAEC7"/>
                </a:solidFill>
                <a:latin typeface="Aptos"/>
              </a:defRPr>
            </a:pPr>
            <a:r>
              <a:t>Proceso de negocio propuesto de extremo a extremo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46520"/>
            <a:ext cx="10881360" cy="10972"/>
          </a:xfrm>
          <a:prstGeom prst="rect">
            <a:avLst/>
          </a:prstGeom>
          <a:solidFill>
            <a:srgbClr val="344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6501384"/>
            <a:ext cx="7315200" cy="21031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9BAEC7"/>
                </a:solidFill>
                <a:latin typeface="Aptos"/>
              </a:defRPr>
            </a:pPr>
            <a:r>
              <a:t>JJV  /  TÉCNICO YA  ·  OCTUBRE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83096"/>
            <a:ext cx="365760" cy="219456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1FC6D2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331720"/>
            <a:ext cx="1965960" cy="1143000"/>
          </a:xfrm>
          <a:prstGeom prst="roundRect">
            <a:avLst/>
          </a:prstGeom>
          <a:solidFill>
            <a:srgbClr val="1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697480"/>
            <a:ext cx="1810512" cy="36576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 algn="ctr">
              <a:spcAft>
                <a:spcPts val="900"/>
              </a:spcAft>
              <a:defRPr sz="1500" b="1">
                <a:solidFill>
                  <a:srgbClr val="F6F9FE"/>
                </a:solidFill>
                <a:latin typeface="Aptos"/>
              </a:defRPr>
            </a:pPr>
            <a:r>
              <a:t>1  SOLICITUD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70048" y="2633472"/>
            <a:ext cx="246888" cy="41148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1FC6D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98648" y="2331720"/>
            <a:ext cx="1965960" cy="1143000"/>
          </a:xfrm>
          <a:prstGeom prst="roundRect">
            <a:avLst/>
          </a:prstGeom>
          <a:solidFill>
            <a:srgbClr val="1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71800" y="2697480"/>
            <a:ext cx="1810512" cy="36576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 algn="ctr">
              <a:spcAft>
                <a:spcPts val="900"/>
              </a:spcAft>
              <a:defRPr sz="1500" b="1">
                <a:solidFill>
                  <a:srgbClr val="F6F9FE"/>
                </a:solidFill>
                <a:latin typeface="Aptos"/>
              </a:defRPr>
            </a:pPr>
            <a:r>
              <a:t>2  REVISIÓN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82896" y="2633472"/>
            <a:ext cx="246888" cy="41148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1FC6D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11496" y="2331720"/>
            <a:ext cx="1965960" cy="1143000"/>
          </a:xfrm>
          <a:prstGeom prst="roundRect">
            <a:avLst/>
          </a:prstGeom>
          <a:solidFill>
            <a:srgbClr val="1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84648" y="2697480"/>
            <a:ext cx="1810512" cy="36576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 algn="ctr">
              <a:spcAft>
                <a:spcPts val="900"/>
              </a:spcAft>
              <a:defRPr sz="1500" b="1">
                <a:solidFill>
                  <a:srgbClr val="F6F9FE"/>
                </a:solidFill>
                <a:latin typeface="Aptos"/>
              </a:defRPr>
            </a:pPr>
            <a:r>
              <a:t>3  ASIGNACIÓN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95744" y="2633472"/>
            <a:ext cx="246888" cy="41148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1FC6D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24344" y="2331720"/>
            <a:ext cx="1965960" cy="1143000"/>
          </a:xfrm>
          <a:prstGeom prst="roundRect">
            <a:avLst/>
          </a:prstGeom>
          <a:solidFill>
            <a:srgbClr val="1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97496" y="2697480"/>
            <a:ext cx="1810512" cy="36576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 algn="ctr">
              <a:spcAft>
                <a:spcPts val="900"/>
              </a:spcAft>
              <a:defRPr sz="1500" b="1">
                <a:solidFill>
                  <a:srgbClr val="F6F9FE"/>
                </a:solidFill>
                <a:latin typeface="Aptos"/>
              </a:defRPr>
            </a:pPr>
            <a:r>
              <a:t>4  EJECUCIÓN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08592" y="2633472"/>
            <a:ext cx="246888" cy="41148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1FC6D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37192" y="2331720"/>
            <a:ext cx="1965960" cy="1143000"/>
          </a:xfrm>
          <a:prstGeom prst="roundRect">
            <a:avLst/>
          </a:prstGeom>
          <a:solidFill>
            <a:srgbClr val="1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10344" y="2697480"/>
            <a:ext cx="1810512" cy="36576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 algn="ctr">
              <a:spcAft>
                <a:spcPts val="900"/>
              </a:spcAft>
              <a:defRPr sz="1500" b="1">
                <a:solidFill>
                  <a:srgbClr val="F6F9FE"/>
                </a:solidFill>
                <a:latin typeface="Aptos"/>
              </a:defRPr>
            </a:pPr>
            <a:r>
              <a:t>5  CIERRE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114800"/>
            <a:ext cx="9966960" cy="109728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 algn="ctr">
              <a:spcAft>
                <a:spcPts val="900"/>
              </a:spcAft>
              <a:defRPr sz="2200" b="0">
                <a:solidFill>
                  <a:srgbClr val="9BAEC7"/>
                </a:solidFill>
                <a:latin typeface="Aptos"/>
              </a:defRPr>
            </a:pPr>
            <a:r>
              <a:t>Cada transición registra información que permite consultar el estado y reconstruir el historial de la orden.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109728" cy="566928"/>
          </a:xfrm>
          <a:prstGeom prst="rect">
            <a:avLst/>
          </a:prstGeom>
          <a:solidFill>
            <a:srgbClr val="1FC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38328"/>
            <a:ext cx="10789920" cy="57607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F6F9FE"/>
                </a:solidFill>
                <a:latin typeface="Aptos"/>
              </a:defRPr>
            </a:pPr>
            <a:r>
              <a:t>Diferenciador: recomendación de técnico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78408"/>
            <a:ext cx="10881360" cy="5486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9BAEC7"/>
                </a:solidFill>
                <a:latin typeface="Aptos"/>
              </a:defRPr>
            </a:pPr>
            <a:r>
              <a:t>Apoyo a la asignación, sin reemplazar la decisión del gestor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46520"/>
            <a:ext cx="10881360" cy="10972"/>
          </a:xfrm>
          <a:prstGeom prst="rect">
            <a:avLst/>
          </a:prstGeom>
          <a:solidFill>
            <a:srgbClr val="344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6501384"/>
            <a:ext cx="7315200" cy="21031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9BAEC7"/>
                </a:solidFill>
                <a:latin typeface="Aptos"/>
              </a:defRPr>
            </a:pPr>
            <a:r>
              <a:t>JJV  /  TÉCNICO YA  ·  OCTUBRE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83096"/>
            <a:ext cx="365760" cy="219456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1FC6D2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37360"/>
            <a:ext cx="5120640" cy="3429000"/>
          </a:xfrm>
          <a:prstGeom prst="roundRect">
            <a:avLst/>
          </a:prstGeom>
          <a:solidFill>
            <a:srgbClr val="1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947672"/>
            <a:ext cx="64008" cy="384048"/>
          </a:xfrm>
          <a:prstGeom prst="rect">
            <a:avLst/>
          </a:prstGeom>
          <a:solidFill>
            <a:srgbClr val="1FC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911095"/>
            <a:ext cx="4590288" cy="45720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6F9FE"/>
                </a:solidFill>
                <a:latin typeface="Aptos"/>
              </a:defRPr>
            </a:pPr>
            <a:r>
              <a:t>Criterios considerados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2560320"/>
            <a:ext cx="4645152" cy="2478024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9BAEC7"/>
                </a:solidFill>
                <a:latin typeface="Aptos"/>
              </a:defRPr>
            </a:pPr>
            <a:r>
              <a:t>Especialidad requerida</a:t>
            </a:r>
          </a:p>
          <a:p>
            <a:pPr>
              <a:spcAft>
                <a:spcPts val="900"/>
              </a:spcAft>
              <a:defRPr sz="1500" b="0">
                <a:solidFill>
                  <a:srgbClr val="9BAEC7"/>
                </a:solidFill>
                <a:latin typeface="Aptos"/>
              </a:defRPr>
            </a:pPr>
            <a:r>
              <a:t>Zona y distancia</a:t>
            </a:r>
          </a:p>
          <a:p>
            <a:pPr>
              <a:spcAft>
                <a:spcPts val="900"/>
              </a:spcAft>
              <a:defRPr sz="1500" b="0">
                <a:solidFill>
                  <a:srgbClr val="9BAEC7"/>
                </a:solidFill>
                <a:latin typeface="Aptos"/>
              </a:defRPr>
            </a:pPr>
            <a:r>
              <a:t>Disponibilidad</a:t>
            </a:r>
          </a:p>
          <a:p>
            <a:pPr>
              <a:spcAft>
                <a:spcPts val="900"/>
              </a:spcAft>
              <a:defRPr sz="1500" b="0">
                <a:solidFill>
                  <a:srgbClr val="9BAEC7"/>
                </a:solidFill>
                <a:latin typeface="Aptos"/>
              </a:defRPr>
            </a:pPr>
            <a:r>
              <a:t>Carga de trabajo actual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737360"/>
            <a:ext cx="5394960" cy="3429000"/>
          </a:xfrm>
          <a:prstGeom prst="roundRect">
            <a:avLst/>
          </a:prstGeom>
          <a:solidFill>
            <a:srgbClr val="1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947672"/>
            <a:ext cx="64008" cy="384048"/>
          </a:xfrm>
          <a:prstGeom prst="rect">
            <a:avLst/>
          </a:prstGeom>
          <a:solidFill>
            <a:srgbClr val="3DD0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911095"/>
            <a:ext cx="4864608" cy="45720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6F9FE"/>
                </a:solidFill>
                <a:latin typeface="Aptos"/>
              </a:defRPr>
            </a:pPr>
            <a:r>
              <a:t>Resultado esperado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18504" y="2560320"/>
            <a:ext cx="4919472" cy="2478024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9BAEC7"/>
                </a:solidFill>
                <a:latin typeface="Aptos"/>
              </a:defRPr>
            </a:pPr>
            <a:r>
              <a:t>Una lista de técnicos candidatos que facilite seleccionar al profesional más adecuado para cada solicitud.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109728" cy="566928"/>
          </a:xfrm>
          <a:prstGeom prst="rect">
            <a:avLst/>
          </a:prstGeom>
          <a:solidFill>
            <a:srgbClr val="1FC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38328"/>
            <a:ext cx="10789920" cy="57607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F6F9FE"/>
                </a:solidFill>
                <a:latin typeface="Aptos"/>
              </a:defRPr>
            </a:pPr>
            <a:r>
              <a:t>Requerimientos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78408"/>
            <a:ext cx="10881360" cy="5486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9BAEC7"/>
                </a:solidFill>
                <a:latin typeface="Aptos"/>
              </a:defRPr>
            </a:pPr>
            <a:r>
              <a:t>Resumen de los principales comportamientos del sistema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46520"/>
            <a:ext cx="10881360" cy="10972"/>
          </a:xfrm>
          <a:prstGeom prst="rect">
            <a:avLst/>
          </a:prstGeom>
          <a:solidFill>
            <a:srgbClr val="344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6501384"/>
            <a:ext cx="7315200" cy="21031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9BAEC7"/>
                </a:solidFill>
                <a:latin typeface="Aptos"/>
              </a:defRPr>
            </a:pPr>
            <a:r>
              <a:t>JJV  /  TÉCNICO YA  ·  OCTUBRE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83096"/>
            <a:ext cx="365760" cy="219456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1FC6D2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45920"/>
            <a:ext cx="5257800" cy="3749039"/>
          </a:xfrm>
          <a:prstGeom prst="roundRect">
            <a:avLst/>
          </a:prstGeom>
          <a:solidFill>
            <a:srgbClr val="1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856232"/>
            <a:ext cx="64008" cy="384048"/>
          </a:xfrm>
          <a:prstGeom prst="rect">
            <a:avLst/>
          </a:prstGeom>
          <a:solidFill>
            <a:srgbClr val="1D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819656"/>
            <a:ext cx="4727448" cy="45720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6F9FE"/>
                </a:solidFill>
                <a:latin typeface="Aptos"/>
              </a:defRPr>
            </a:pPr>
            <a:r>
              <a:t>Funcionales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2468880"/>
            <a:ext cx="4782312" cy="2798063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9BAEC7"/>
                </a:solidFill>
                <a:latin typeface="Aptos"/>
              </a:defRPr>
            </a:pPr>
            <a:r>
              <a:t>• Administrar registros maestros</a:t>
            </a:r>
          </a:p>
          <a:p>
            <a:pPr>
              <a:spcAft>
                <a:spcPts val="900"/>
              </a:spcAft>
              <a:defRPr sz="1500" b="0">
                <a:solidFill>
                  <a:srgbClr val="9BAEC7"/>
                </a:solidFill>
                <a:latin typeface="Aptos"/>
              </a:defRPr>
            </a:pPr>
            <a:r>
              <a:t>• Crear y consultar solicitudes</a:t>
            </a:r>
          </a:p>
          <a:p>
            <a:pPr>
              <a:spcAft>
                <a:spcPts val="900"/>
              </a:spcAft>
              <a:defRPr sz="1500" b="0">
                <a:solidFill>
                  <a:srgbClr val="9BAEC7"/>
                </a:solidFill>
                <a:latin typeface="Aptos"/>
              </a:defRPr>
            </a:pPr>
            <a:r>
              <a:t>• Asignar y actualizar órdenes</a:t>
            </a:r>
          </a:p>
          <a:p>
            <a:pPr>
              <a:spcAft>
                <a:spcPts val="900"/>
              </a:spcAft>
              <a:defRPr sz="1500" b="0">
                <a:solidFill>
                  <a:srgbClr val="9BAEC7"/>
                </a:solidFill>
                <a:latin typeface="Aptos"/>
              </a:defRPr>
            </a:pPr>
            <a:r>
              <a:t>• Adjuntar evidencias</a:t>
            </a:r>
          </a:p>
          <a:p>
            <a:pPr>
              <a:spcAft>
                <a:spcPts val="900"/>
              </a:spcAft>
              <a:defRPr sz="1500" b="0">
                <a:solidFill>
                  <a:srgbClr val="9BAEC7"/>
                </a:solidFill>
                <a:latin typeface="Aptos"/>
              </a:defRPr>
            </a:pPr>
            <a:r>
              <a:t>• Consultar indicadores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645920"/>
            <a:ext cx="5257800" cy="3749039"/>
          </a:xfrm>
          <a:prstGeom prst="roundRect">
            <a:avLst/>
          </a:prstGeom>
          <a:solidFill>
            <a:srgbClr val="1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856232"/>
            <a:ext cx="64008" cy="384048"/>
          </a:xfrm>
          <a:prstGeom prst="rect">
            <a:avLst/>
          </a:prstGeom>
          <a:solidFill>
            <a:srgbClr val="1FC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819656"/>
            <a:ext cx="4727448" cy="45720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6F9FE"/>
                </a:solidFill>
                <a:latin typeface="Aptos"/>
              </a:defRPr>
            </a:pPr>
            <a:r>
              <a:t>No funcionales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2468880"/>
            <a:ext cx="4782312" cy="2798063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9BAEC7"/>
                </a:solidFill>
                <a:latin typeface="Aptos"/>
              </a:defRPr>
            </a:pPr>
            <a:r>
              <a:t>• Control de acceso por rol</a:t>
            </a:r>
          </a:p>
          <a:p>
            <a:pPr>
              <a:spcAft>
                <a:spcPts val="900"/>
              </a:spcAft>
              <a:defRPr sz="1500" b="0">
                <a:solidFill>
                  <a:srgbClr val="9BAEC7"/>
                </a:solidFill>
                <a:latin typeface="Aptos"/>
              </a:defRPr>
            </a:pPr>
            <a:r>
              <a:t>• Validación de datos</a:t>
            </a:r>
          </a:p>
          <a:p>
            <a:pPr>
              <a:spcAft>
                <a:spcPts val="900"/>
              </a:spcAft>
              <a:defRPr sz="1500" b="0">
                <a:solidFill>
                  <a:srgbClr val="9BAEC7"/>
                </a:solidFill>
                <a:latin typeface="Aptos"/>
              </a:defRPr>
            </a:pPr>
            <a:r>
              <a:t>• Disponibilidad y recuperación</a:t>
            </a:r>
          </a:p>
          <a:p>
            <a:pPr>
              <a:spcAft>
                <a:spcPts val="900"/>
              </a:spcAft>
              <a:defRPr sz="1500" b="0">
                <a:solidFill>
                  <a:srgbClr val="9BAEC7"/>
                </a:solidFill>
                <a:latin typeface="Aptos"/>
              </a:defRPr>
            </a:pPr>
            <a:r>
              <a:t>• Usabilidad en web y móvil</a:t>
            </a:r>
          </a:p>
          <a:p>
            <a:pPr>
              <a:spcAft>
                <a:spcPts val="900"/>
              </a:spcAft>
              <a:defRPr sz="1500" b="0">
                <a:solidFill>
                  <a:srgbClr val="9BAEC7"/>
                </a:solidFill>
                <a:latin typeface="Aptos"/>
              </a:defRPr>
            </a:pPr>
            <a:r>
              <a:t>• Trazabilidad de cambios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109728" cy="566928"/>
          </a:xfrm>
          <a:prstGeom prst="rect">
            <a:avLst/>
          </a:prstGeom>
          <a:solidFill>
            <a:srgbClr val="1FC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38328"/>
            <a:ext cx="10789920" cy="57607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F6F9FE"/>
                </a:solidFill>
                <a:latin typeface="Aptos"/>
              </a:defRPr>
            </a:pPr>
            <a:r>
              <a:t>Arquitectura de solución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78408"/>
            <a:ext cx="10881360" cy="5486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9BAEC7"/>
                </a:solidFill>
                <a:latin typeface="Aptos"/>
              </a:defRPr>
            </a:pPr>
            <a:r>
              <a:t>Diseño lógico de tres capas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46520"/>
            <a:ext cx="10881360" cy="10972"/>
          </a:xfrm>
          <a:prstGeom prst="rect">
            <a:avLst/>
          </a:prstGeom>
          <a:solidFill>
            <a:srgbClr val="344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6501384"/>
            <a:ext cx="7315200" cy="21031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9BAEC7"/>
                </a:solidFill>
                <a:latin typeface="Aptos"/>
              </a:defRPr>
            </a:pPr>
            <a:r>
              <a:t>JJV  /  TÉCNICO YA  ·  OCTUBRE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83096"/>
            <a:ext cx="365760" cy="219456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1FC6D2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93392"/>
            <a:ext cx="3127248" cy="2377440"/>
          </a:xfrm>
          <a:prstGeom prst="roundRect">
            <a:avLst/>
          </a:prstGeom>
          <a:solidFill>
            <a:srgbClr val="1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304288"/>
            <a:ext cx="2743200" cy="45720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 algn="ctr">
              <a:spcAft>
                <a:spcPts val="900"/>
              </a:spcAft>
              <a:defRPr sz="1700" b="1">
                <a:solidFill>
                  <a:srgbClr val="1FC6D2"/>
                </a:solidFill>
                <a:latin typeface="Aptos"/>
              </a:defRPr>
            </a:pPr>
            <a:r>
              <a:t>PRESENTACIÓN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035808"/>
            <a:ext cx="2651760" cy="105156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 algn="ctr">
              <a:spcAft>
                <a:spcPts val="900"/>
              </a:spcAft>
              <a:defRPr sz="1600" b="0">
                <a:solidFill>
                  <a:srgbClr val="F6F9FE"/>
                </a:solidFill>
                <a:latin typeface="Aptos"/>
              </a:defRPr>
            </a:pPr>
            <a:r>
              <a:t>Web administrativa / cliente</a:t>
            </a:r>
          </a:p>
          <a:p>
            <a:pPr algn="ctr">
              <a:spcAft>
                <a:spcPts val="900"/>
              </a:spcAft>
              <a:defRPr sz="1600" b="0">
                <a:solidFill>
                  <a:srgbClr val="F6F9FE"/>
                </a:solidFill>
                <a:latin typeface="Aptos"/>
              </a:defRPr>
            </a:pPr>
            <a:r>
              <a:t>Aplicación móvil del técnico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993392"/>
            <a:ext cx="3127248" cy="2377440"/>
          </a:xfrm>
          <a:prstGeom prst="roundRect">
            <a:avLst/>
          </a:prstGeom>
          <a:solidFill>
            <a:srgbClr val="1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2304288"/>
            <a:ext cx="2743200" cy="45720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 algn="ctr">
              <a:spcAft>
                <a:spcPts val="900"/>
              </a:spcAft>
              <a:defRPr sz="1700" b="1">
                <a:solidFill>
                  <a:srgbClr val="1FC6D2"/>
                </a:solidFill>
                <a:latin typeface="Aptos"/>
              </a:defRPr>
            </a:pPr>
            <a:r>
              <a:t>LÓGICA DE NEGOCIO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035808"/>
            <a:ext cx="2651760" cy="105156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 algn="ctr">
              <a:spcAft>
                <a:spcPts val="900"/>
              </a:spcAft>
              <a:defRPr sz="1600" b="0">
                <a:solidFill>
                  <a:srgbClr val="F6F9FE"/>
                </a:solidFill>
                <a:latin typeface="Aptos"/>
              </a:defRPr>
            </a:pPr>
            <a:r>
              <a:t>API REST</a:t>
            </a:r>
          </a:p>
          <a:p>
            <a:pPr algn="ctr">
              <a:spcAft>
                <a:spcPts val="900"/>
              </a:spcAft>
              <a:defRPr sz="1600" b="0">
                <a:solidFill>
                  <a:srgbClr val="F6F9FE"/>
                </a:solidFill>
                <a:latin typeface="Aptos"/>
              </a:defRPr>
            </a:pPr>
            <a:r>
              <a:t>Autenticación, validaciones y asignación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993392"/>
            <a:ext cx="3127248" cy="2377440"/>
          </a:xfrm>
          <a:prstGeom prst="roundRect">
            <a:avLst/>
          </a:prstGeom>
          <a:solidFill>
            <a:srgbClr val="1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2304288"/>
            <a:ext cx="2743200" cy="45720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 algn="ctr">
              <a:spcAft>
                <a:spcPts val="900"/>
              </a:spcAft>
              <a:defRPr sz="1700" b="1">
                <a:solidFill>
                  <a:srgbClr val="1FC6D2"/>
                </a:solidFill>
                <a:latin typeface="Aptos"/>
              </a:defRPr>
            </a:pPr>
            <a:r>
              <a:t>PERSISTENCIA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035808"/>
            <a:ext cx="2651760" cy="105156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 algn="ctr">
              <a:spcAft>
                <a:spcPts val="900"/>
              </a:spcAft>
              <a:defRPr sz="1600" b="0">
                <a:solidFill>
                  <a:srgbClr val="F6F9FE"/>
                </a:solidFill>
                <a:latin typeface="Aptos"/>
              </a:defRPr>
            </a:pPr>
            <a:r>
              <a:t>Base de datos MySQL</a:t>
            </a:r>
          </a:p>
          <a:p>
            <a:pPr algn="ctr">
              <a:spcAft>
                <a:spcPts val="900"/>
              </a:spcAft>
              <a:defRPr sz="1600" b="0">
                <a:solidFill>
                  <a:srgbClr val="F6F9FE"/>
                </a:solidFill>
                <a:latin typeface="Aptos"/>
              </a:defRPr>
            </a:pPr>
            <a:r>
              <a:t>Registros y relaciones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95928" y="2843784"/>
            <a:ext cx="457200" cy="45720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2600" b="1">
                <a:solidFill>
                  <a:srgbClr val="1FC6D2"/>
                </a:solidFill>
                <a:latin typeface="Aptos"/>
              </a:defRPr>
            </a:pPr>
            <a:r>
              <a:t>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35824" y="2843784"/>
            <a:ext cx="457200" cy="45720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2600" b="1">
                <a:solidFill>
                  <a:srgbClr val="1FC6D2"/>
                </a:solidFill>
                <a:latin typeface="Aptos"/>
              </a:defRPr>
            </a:pPr>
            <a:r>
              <a:t>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937760"/>
            <a:ext cx="9601200" cy="5486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 algn="ctr">
              <a:spcAft>
                <a:spcPts val="900"/>
              </a:spcAft>
              <a:defRPr sz="2000" b="0">
                <a:solidFill>
                  <a:srgbClr val="9BAEC7"/>
                </a:solidFill>
                <a:latin typeface="Aptos"/>
              </a:defRPr>
            </a:pPr>
            <a:r>
              <a:t>La web y la app comparten servicios y datos mediante el backend.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109728" cy="566928"/>
          </a:xfrm>
          <a:prstGeom prst="rect">
            <a:avLst/>
          </a:prstGeom>
          <a:solidFill>
            <a:srgbClr val="1FC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38328"/>
            <a:ext cx="10789920" cy="57607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F6F9FE"/>
                </a:solidFill>
                <a:latin typeface="Aptos"/>
              </a:defRPr>
            </a:pPr>
            <a:r>
              <a:t>Modelo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78408"/>
            <a:ext cx="10881360" cy="5486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9BAEC7"/>
                </a:solidFill>
                <a:latin typeface="Aptos"/>
              </a:defRPr>
            </a:pPr>
            <a:r>
              <a:t>Entidades conceptuales que soportan el ciclo del servicio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46520"/>
            <a:ext cx="10881360" cy="10972"/>
          </a:xfrm>
          <a:prstGeom prst="rect">
            <a:avLst/>
          </a:prstGeom>
          <a:solidFill>
            <a:srgbClr val="344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6501384"/>
            <a:ext cx="7315200" cy="21031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9BAEC7"/>
                </a:solidFill>
                <a:latin typeface="Aptos"/>
              </a:defRPr>
            </a:pPr>
            <a:r>
              <a:t>JJV  /  TÉCNICO YA  ·  OCTUBRE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83096"/>
            <a:ext cx="365760" cy="219456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1FC6D2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20240"/>
            <a:ext cx="2596896" cy="667512"/>
          </a:xfrm>
          <a:prstGeom prst="roundRect">
            <a:avLst/>
          </a:prstGeom>
          <a:solidFill>
            <a:srgbClr val="1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1" y="2084832"/>
            <a:ext cx="2450591" cy="34747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 algn="ctr">
              <a:spcAft>
                <a:spcPts val="900"/>
              </a:spcAft>
              <a:defRPr sz="1500" b="1">
                <a:solidFill>
                  <a:srgbClr val="F6F9FE"/>
                </a:solidFill>
                <a:latin typeface="Aptos"/>
              </a:defRPr>
            </a:pPr>
            <a:r>
              <a:t>CLIENTES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920240"/>
            <a:ext cx="2596896" cy="667512"/>
          </a:xfrm>
          <a:prstGeom prst="roundRect">
            <a:avLst/>
          </a:prstGeom>
          <a:solidFill>
            <a:srgbClr val="1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2084832"/>
            <a:ext cx="2450591" cy="34747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 algn="ctr">
              <a:spcAft>
                <a:spcPts val="900"/>
              </a:spcAft>
              <a:defRPr sz="1500" b="1">
                <a:solidFill>
                  <a:srgbClr val="F6F9FE"/>
                </a:solidFill>
                <a:latin typeface="Aptos"/>
              </a:defRPr>
            </a:pPr>
            <a:r>
              <a:t>TÉCNICOS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3056" y="1920240"/>
            <a:ext cx="2596896" cy="667512"/>
          </a:xfrm>
          <a:prstGeom prst="roundRect">
            <a:avLst/>
          </a:prstGeom>
          <a:solidFill>
            <a:srgbClr val="1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6208" y="2084832"/>
            <a:ext cx="2450591" cy="34747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 algn="ctr">
              <a:spcAft>
                <a:spcPts val="900"/>
              </a:spcAft>
              <a:defRPr sz="1500" b="1">
                <a:solidFill>
                  <a:srgbClr val="F6F9FE"/>
                </a:solidFill>
                <a:latin typeface="Aptos"/>
              </a:defRPr>
            </a:pPr>
            <a:r>
              <a:t>SERVICIOS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24544" y="1920240"/>
            <a:ext cx="2596896" cy="667512"/>
          </a:xfrm>
          <a:prstGeom prst="roundRect">
            <a:avLst/>
          </a:prstGeom>
          <a:solidFill>
            <a:srgbClr val="1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97696" y="2084832"/>
            <a:ext cx="2450591" cy="34747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 algn="ctr">
              <a:spcAft>
                <a:spcPts val="900"/>
              </a:spcAft>
              <a:defRPr sz="1500" b="1">
                <a:solidFill>
                  <a:srgbClr val="F6F9FE"/>
                </a:solidFill>
                <a:latin typeface="Aptos"/>
              </a:defRPr>
            </a:pPr>
            <a:r>
              <a:t>SOLICITUDES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926080"/>
            <a:ext cx="2596896" cy="667512"/>
          </a:xfrm>
          <a:prstGeom prst="roundRect">
            <a:avLst/>
          </a:prstGeom>
          <a:solidFill>
            <a:srgbClr val="1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1" y="3090672"/>
            <a:ext cx="2450591" cy="34747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 algn="ctr">
              <a:spcAft>
                <a:spcPts val="900"/>
              </a:spcAft>
              <a:defRPr sz="1500" b="1">
                <a:solidFill>
                  <a:srgbClr val="F6F9FE"/>
                </a:solidFill>
                <a:latin typeface="Aptos"/>
              </a:defRPr>
            </a:pPr>
            <a:r>
              <a:t>ASIGNACIONES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2926080"/>
            <a:ext cx="2596896" cy="667512"/>
          </a:xfrm>
          <a:prstGeom prst="roundRect">
            <a:avLst/>
          </a:prstGeom>
          <a:solidFill>
            <a:srgbClr val="1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0" y="3090672"/>
            <a:ext cx="2450591" cy="34747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 algn="ctr">
              <a:spcAft>
                <a:spcPts val="900"/>
              </a:spcAft>
              <a:defRPr sz="1500" b="1">
                <a:solidFill>
                  <a:srgbClr val="F6F9FE"/>
                </a:solidFill>
                <a:latin typeface="Aptos"/>
              </a:defRPr>
            </a:pPr>
            <a:r>
              <a:t>ÓRDENES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63056" y="2926080"/>
            <a:ext cx="2596896" cy="667512"/>
          </a:xfrm>
          <a:prstGeom prst="roundRect">
            <a:avLst/>
          </a:prstGeom>
          <a:solidFill>
            <a:srgbClr val="1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36208" y="3090672"/>
            <a:ext cx="2450591" cy="34747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 algn="ctr">
              <a:spcAft>
                <a:spcPts val="900"/>
              </a:spcAft>
              <a:defRPr sz="1500" b="1">
                <a:solidFill>
                  <a:srgbClr val="F6F9FE"/>
                </a:solidFill>
                <a:latin typeface="Aptos"/>
              </a:defRPr>
            </a:pPr>
            <a:r>
              <a:t>ESTADOS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24544" y="2926080"/>
            <a:ext cx="2596896" cy="667512"/>
          </a:xfrm>
          <a:prstGeom prst="roundRect">
            <a:avLst/>
          </a:prstGeom>
          <a:solidFill>
            <a:srgbClr val="1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97696" y="3090672"/>
            <a:ext cx="2450591" cy="34747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 algn="ctr">
              <a:spcAft>
                <a:spcPts val="900"/>
              </a:spcAft>
              <a:defRPr sz="1500" b="1">
                <a:solidFill>
                  <a:srgbClr val="F6F9FE"/>
                </a:solidFill>
                <a:latin typeface="Aptos"/>
              </a:defRPr>
            </a:pPr>
            <a:r>
              <a:t>EVIDENCIAS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297680"/>
            <a:ext cx="10058400" cy="109728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 algn="ctr">
              <a:spcAft>
                <a:spcPts val="900"/>
              </a:spcAft>
              <a:defRPr sz="2200" b="0">
                <a:solidFill>
                  <a:srgbClr val="9BAEC7"/>
                </a:solidFill>
                <a:latin typeface="Aptos"/>
              </a:defRPr>
            </a:pPr>
            <a:r>
              <a:t>La estructura relacional permite vincular quién solicita, quién atiende, qué servicio se realiza y cómo evoluciona la orden.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109728" cy="566928"/>
          </a:xfrm>
          <a:prstGeom prst="rect">
            <a:avLst/>
          </a:prstGeom>
          <a:solidFill>
            <a:srgbClr val="1FC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38328"/>
            <a:ext cx="10789920" cy="57607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F6F9FE"/>
                </a:solidFill>
                <a:latin typeface="Aptos"/>
              </a:defRPr>
            </a:pPr>
            <a:r>
              <a:t>Diseño y prototipo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78408"/>
            <a:ext cx="10881360" cy="5486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9BAEC7"/>
                </a:solidFill>
                <a:latin typeface="Aptos"/>
              </a:defRPr>
            </a:pPr>
            <a:r>
              <a:t>Evidencia de avance documentada en las presentaciones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46520"/>
            <a:ext cx="10881360" cy="10972"/>
          </a:xfrm>
          <a:prstGeom prst="rect">
            <a:avLst/>
          </a:prstGeom>
          <a:solidFill>
            <a:srgbClr val="344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6501384"/>
            <a:ext cx="7315200" cy="21031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9BAEC7"/>
                </a:solidFill>
                <a:latin typeface="Aptos"/>
              </a:defRPr>
            </a:pPr>
            <a:r>
              <a:t>JJV  /  TÉCNICO YA  ·  OCTUBRE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83096"/>
            <a:ext cx="365760" cy="219456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1FC6D2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91640"/>
            <a:ext cx="3429000" cy="3474720"/>
          </a:xfrm>
          <a:prstGeom prst="roundRect">
            <a:avLst/>
          </a:prstGeom>
          <a:solidFill>
            <a:srgbClr val="1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901952"/>
            <a:ext cx="64008" cy="384048"/>
          </a:xfrm>
          <a:prstGeom prst="rect">
            <a:avLst/>
          </a:prstGeom>
          <a:solidFill>
            <a:srgbClr val="1D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865376"/>
            <a:ext cx="2898648" cy="45720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6F9FE"/>
                </a:solidFill>
                <a:latin typeface="Aptos"/>
              </a:defRPr>
            </a:pPr>
            <a:r>
              <a:t>Diseño funcional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2514600"/>
            <a:ext cx="2953512" cy="2523744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9BAEC7"/>
                </a:solidFill>
                <a:latin typeface="Aptos"/>
              </a:defRPr>
            </a:pPr>
            <a:r>
              <a:t>ERS, casos de uso, definición de actores y flujo del servicio.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691640"/>
            <a:ext cx="3429000" cy="3474720"/>
          </a:xfrm>
          <a:prstGeom prst="roundRect">
            <a:avLst/>
          </a:prstGeom>
          <a:solidFill>
            <a:srgbClr val="1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53712" y="1901952"/>
            <a:ext cx="64008" cy="384048"/>
          </a:xfrm>
          <a:prstGeom prst="rect">
            <a:avLst/>
          </a:prstGeom>
          <a:solidFill>
            <a:srgbClr val="1FC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36592" y="1865376"/>
            <a:ext cx="2898648" cy="45720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6F9FE"/>
                </a:solidFill>
                <a:latin typeface="Aptos"/>
              </a:defRPr>
            </a:pPr>
            <a:r>
              <a:t>Diseño técnico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6" y="2514600"/>
            <a:ext cx="2953512" cy="2523744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9BAEC7"/>
                </a:solidFill>
                <a:latin typeface="Aptos"/>
              </a:defRPr>
            </a:pPr>
            <a:r>
              <a:t>Arquitectura, diagramas, modelo de datos y definición de componentes.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691640"/>
            <a:ext cx="3429000" cy="3474720"/>
          </a:xfrm>
          <a:prstGeom prst="roundRect">
            <a:avLst/>
          </a:prstGeom>
          <a:solidFill>
            <a:srgbClr val="1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901952"/>
            <a:ext cx="64008" cy="384048"/>
          </a:xfrm>
          <a:prstGeom prst="rect">
            <a:avLst/>
          </a:prstGeom>
          <a:solidFill>
            <a:srgbClr val="3DD0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1865376"/>
            <a:ext cx="2898648" cy="45720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6F9FE"/>
                </a:solidFill>
                <a:latin typeface="Aptos"/>
              </a:defRPr>
            </a:pPr>
            <a:r>
              <a:t>Prototipo web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4" y="2514600"/>
            <a:ext cx="2953512" cy="2523744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9BAEC7"/>
                </a:solidFill>
                <a:latin typeface="Aptos"/>
              </a:defRPr>
            </a:pPr>
            <a:r>
              <a:t>Se documenta un prototipo con Python/Flask, HTML, CSS, JavaScript y MySQL.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109728" cy="566928"/>
          </a:xfrm>
          <a:prstGeom prst="rect">
            <a:avLst/>
          </a:prstGeom>
          <a:solidFill>
            <a:srgbClr val="1FC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38328"/>
            <a:ext cx="10789920" cy="57607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F6F9FE"/>
                </a:solidFill>
                <a:latin typeface="Aptos"/>
              </a:defRPr>
            </a:pPr>
            <a:r>
              <a:t>Tecnologías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78408"/>
            <a:ext cx="10881360" cy="5486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9BAEC7"/>
                </a:solidFill>
                <a:latin typeface="Aptos"/>
              </a:defRPr>
            </a:pPr>
            <a:r>
              <a:t>Diferenciar lo documentado del objetivo de integración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46520"/>
            <a:ext cx="10881360" cy="10972"/>
          </a:xfrm>
          <a:prstGeom prst="rect">
            <a:avLst/>
          </a:prstGeom>
          <a:solidFill>
            <a:srgbClr val="344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6501384"/>
            <a:ext cx="7315200" cy="21031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9BAEC7"/>
                </a:solidFill>
                <a:latin typeface="Aptos"/>
              </a:defRPr>
            </a:pPr>
            <a:r>
              <a:t>JJV  /  TÉCNICO YA  ·  OCTUBRE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83096"/>
            <a:ext cx="365760" cy="219456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1FC6D2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91640"/>
            <a:ext cx="5257800" cy="3474720"/>
          </a:xfrm>
          <a:prstGeom prst="roundRect">
            <a:avLst/>
          </a:prstGeom>
          <a:solidFill>
            <a:srgbClr val="1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901952"/>
            <a:ext cx="64008" cy="384048"/>
          </a:xfrm>
          <a:prstGeom prst="rect">
            <a:avLst/>
          </a:prstGeom>
          <a:solidFill>
            <a:srgbClr val="3DD0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865376"/>
            <a:ext cx="4727448" cy="45720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6F9FE"/>
                </a:solidFill>
                <a:latin typeface="Aptos"/>
              </a:defRPr>
            </a:pPr>
            <a:r>
              <a:t>Prototipo reportado al 23/10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2514600"/>
            <a:ext cx="4782312" cy="2523744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9BAEC7"/>
                </a:solidFill>
                <a:latin typeface="Aptos"/>
              </a:defRPr>
            </a:pPr>
            <a:r>
              <a:t>Backend: Python / Flask</a:t>
            </a:r>
          </a:p>
          <a:p>
            <a:pPr>
              <a:spcAft>
                <a:spcPts val="900"/>
              </a:spcAft>
              <a:defRPr sz="1500" b="0">
                <a:solidFill>
                  <a:srgbClr val="9BAEC7"/>
                </a:solidFill>
                <a:latin typeface="Aptos"/>
              </a:defRPr>
            </a:pPr>
            <a:r>
              <a:t>Web: HTML / CSS / JavaScript</a:t>
            </a:r>
          </a:p>
          <a:p>
            <a:pPr>
              <a:spcAft>
                <a:spcPts val="900"/>
              </a:spcAft>
              <a:defRPr sz="1500" b="0">
                <a:solidFill>
                  <a:srgbClr val="9BAEC7"/>
                </a:solidFill>
                <a:latin typeface="Aptos"/>
              </a:defRPr>
            </a:pPr>
            <a:r>
              <a:t>Persistencia: MySQL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691640"/>
            <a:ext cx="5257800" cy="3474720"/>
          </a:xfrm>
          <a:prstGeom prst="roundRect">
            <a:avLst/>
          </a:prstGeom>
          <a:solidFill>
            <a:srgbClr val="1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901952"/>
            <a:ext cx="64008" cy="384048"/>
          </a:xfrm>
          <a:prstGeom prst="rect">
            <a:avLst/>
          </a:prstGeom>
          <a:solidFill>
            <a:srgbClr val="1FC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865376"/>
            <a:ext cx="4727448" cy="45720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6F9FE"/>
                </a:solidFill>
                <a:latin typeface="Aptos"/>
              </a:defRPr>
            </a:pPr>
            <a:r>
              <a:t>Solución objetivo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2514600"/>
            <a:ext cx="4782312" cy="2523744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9BAEC7"/>
                </a:solidFill>
                <a:latin typeface="Aptos"/>
              </a:defRPr>
            </a:pPr>
            <a:r>
              <a:t>Web de gestión + experiencia cliente</a:t>
            </a:r>
          </a:p>
          <a:p>
            <a:pPr>
              <a:spcAft>
                <a:spcPts val="900"/>
              </a:spcAft>
              <a:defRPr sz="1500" b="0">
                <a:solidFill>
                  <a:srgbClr val="9BAEC7"/>
                </a:solidFill>
                <a:latin typeface="Aptos"/>
              </a:defRPr>
            </a:pPr>
            <a:r>
              <a:t>Aplicación móvil del técnico</a:t>
            </a:r>
          </a:p>
          <a:p>
            <a:pPr>
              <a:spcAft>
                <a:spcPts val="900"/>
              </a:spcAft>
              <a:defRPr sz="1500" b="0">
                <a:solidFill>
                  <a:srgbClr val="9BAEC7"/>
                </a:solidFill>
                <a:latin typeface="Aptos"/>
              </a:defRPr>
            </a:pPr>
            <a:r>
              <a:t>API y datos compartidos</a:t>
            </a:r>
          </a:p>
          <a:p>
            <a:pPr>
              <a:spcAft>
                <a:spcPts val="900"/>
              </a:spcAft>
              <a:defRPr sz="1500" b="0">
                <a:solidFill>
                  <a:srgbClr val="9BAEC7"/>
                </a:solidFill>
                <a:latin typeface="Aptos"/>
              </a:defRPr>
            </a:pPr>
            <a:r>
              <a:t>Integraciones y dashboard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109728" cy="566928"/>
          </a:xfrm>
          <a:prstGeom prst="rect">
            <a:avLst/>
          </a:prstGeom>
          <a:solidFill>
            <a:srgbClr val="1FC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38328"/>
            <a:ext cx="10789920" cy="57607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F6F9FE"/>
                </a:solidFill>
                <a:latin typeface="Aptos"/>
              </a:defRPr>
            </a:pPr>
            <a:r>
              <a:t>Metodología de trabajo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78408"/>
            <a:ext cx="10881360" cy="5486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9BAEC7"/>
                </a:solidFill>
                <a:latin typeface="Aptos"/>
              </a:defRPr>
            </a:pPr>
            <a:r>
              <a:t>Cascada / Waterfall con entregables verificables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46520"/>
            <a:ext cx="10881360" cy="10972"/>
          </a:xfrm>
          <a:prstGeom prst="rect">
            <a:avLst/>
          </a:prstGeom>
          <a:solidFill>
            <a:srgbClr val="344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6501384"/>
            <a:ext cx="7315200" cy="21031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9BAEC7"/>
                </a:solidFill>
                <a:latin typeface="Aptos"/>
              </a:defRPr>
            </a:pPr>
            <a:r>
              <a:t>JJV  /  TÉCNICO YA  ·  OCTUBRE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83096"/>
            <a:ext cx="365760" cy="219456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1FC6D2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40280"/>
            <a:ext cx="2044598" cy="667512"/>
          </a:xfrm>
          <a:prstGeom prst="roundRect">
            <a:avLst/>
          </a:prstGeom>
          <a:solidFill>
            <a:srgbClr val="1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1" y="2404872"/>
            <a:ext cx="1898294" cy="34747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 algn="ctr">
              <a:spcAft>
                <a:spcPts val="900"/>
              </a:spcAft>
              <a:defRPr sz="1500" b="1">
                <a:solidFill>
                  <a:srgbClr val="F6F9FE"/>
                </a:solidFill>
                <a:latin typeface="Aptos"/>
              </a:defRPr>
            </a:pPr>
            <a:r>
              <a:t>REQUISITOS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49270" y="2240280"/>
            <a:ext cx="2044598" cy="667512"/>
          </a:xfrm>
          <a:prstGeom prst="roundRect">
            <a:avLst/>
          </a:prstGeom>
          <a:solidFill>
            <a:srgbClr val="1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2422" y="2404872"/>
            <a:ext cx="1898294" cy="34747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 algn="ctr">
              <a:spcAft>
                <a:spcPts val="900"/>
              </a:spcAft>
              <a:defRPr sz="1500" b="1">
                <a:solidFill>
                  <a:srgbClr val="F6F9FE"/>
                </a:solidFill>
                <a:latin typeface="Aptos"/>
              </a:defRPr>
            </a:pPr>
            <a:r>
              <a:t>DISEÑO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58460" y="2240280"/>
            <a:ext cx="2044598" cy="667512"/>
          </a:xfrm>
          <a:prstGeom prst="roundRect">
            <a:avLst/>
          </a:prstGeom>
          <a:solidFill>
            <a:srgbClr val="1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31612" y="2404872"/>
            <a:ext cx="1898294" cy="34747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 algn="ctr">
              <a:spcAft>
                <a:spcPts val="900"/>
              </a:spcAft>
              <a:defRPr sz="1500" b="1">
                <a:solidFill>
                  <a:srgbClr val="F6F9FE"/>
                </a:solidFill>
                <a:latin typeface="Aptos"/>
              </a:defRPr>
            </a:pPr>
            <a:r>
              <a:t>DESARROLLO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7651" y="2240280"/>
            <a:ext cx="2044598" cy="667512"/>
          </a:xfrm>
          <a:prstGeom prst="roundRect">
            <a:avLst/>
          </a:prstGeom>
          <a:solidFill>
            <a:srgbClr val="1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40803" y="2404872"/>
            <a:ext cx="1898294" cy="34747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 algn="ctr">
              <a:spcAft>
                <a:spcPts val="900"/>
              </a:spcAft>
              <a:defRPr sz="1500" b="1">
                <a:solidFill>
                  <a:srgbClr val="F6F9FE"/>
                </a:solidFill>
                <a:latin typeface="Aptos"/>
              </a:defRPr>
            </a:pPr>
            <a:r>
              <a:t>PRUEBAS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76841" y="2240280"/>
            <a:ext cx="2044598" cy="667512"/>
          </a:xfrm>
          <a:prstGeom prst="roundRect">
            <a:avLst/>
          </a:prstGeom>
          <a:solidFill>
            <a:srgbClr val="1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49993" y="2404872"/>
            <a:ext cx="1898294" cy="34747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 algn="ctr">
              <a:spcAft>
                <a:spcPts val="900"/>
              </a:spcAft>
              <a:defRPr sz="1500" b="1">
                <a:solidFill>
                  <a:srgbClr val="F6F9FE"/>
                </a:solidFill>
                <a:latin typeface="Aptos"/>
              </a:defRPr>
            </a:pPr>
            <a:r>
              <a:t>ENTREGA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886200"/>
            <a:ext cx="10012680" cy="12344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 algn="ctr">
              <a:spcAft>
                <a:spcPts val="900"/>
              </a:spcAft>
              <a:defRPr sz="2200" b="0">
                <a:solidFill>
                  <a:srgbClr val="9BAEC7"/>
                </a:solidFill>
                <a:latin typeface="Aptos"/>
              </a:defRPr>
            </a:pPr>
            <a:r>
              <a:t>La documentación, las revisiones por etapa y la trazabilidad de requisitos orientan la construcción y validación de la solución.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109728" cy="566928"/>
          </a:xfrm>
          <a:prstGeom prst="rect">
            <a:avLst/>
          </a:prstGeom>
          <a:solidFill>
            <a:srgbClr val="1FC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38328"/>
            <a:ext cx="10789920" cy="57607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F6F9FE"/>
                </a:solidFill>
                <a:latin typeface="Aptos"/>
              </a:defRPr>
            </a:pPr>
            <a:r>
              <a:t>Planificación y evolución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78408"/>
            <a:ext cx="10881360" cy="5486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9BAEC7"/>
                </a:solidFill>
                <a:latin typeface="Aptos"/>
              </a:defRPr>
            </a:pPr>
            <a:r>
              <a:t>Hitos del calendario académico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46520"/>
            <a:ext cx="10881360" cy="10972"/>
          </a:xfrm>
          <a:prstGeom prst="rect">
            <a:avLst/>
          </a:prstGeom>
          <a:solidFill>
            <a:srgbClr val="344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6501384"/>
            <a:ext cx="7315200" cy="21031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9BAEC7"/>
                </a:solidFill>
                <a:latin typeface="Aptos"/>
              </a:defRPr>
            </a:pPr>
            <a:r>
              <a:t>JJV  /  TÉCNICO YA  ·  OCTUBRE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83096"/>
            <a:ext cx="365760" cy="219456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1FC6D2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5257800" cy="1755648"/>
          </a:xfrm>
          <a:prstGeom prst="roundRect">
            <a:avLst/>
          </a:prstGeom>
          <a:solidFill>
            <a:srgbClr val="1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810512"/>
            <a:ext cx="64008" cy="384048"/>
          </a:xfrm>
          <a:prstGeom prst="rect">
            <a:avLst/>
          </a:prstGeom>
          <a:solidFill>
            <a:srgbClr val="1D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773936"/>
            <a:ext cx="4727448" cy="45720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6F9FE"/>
                </a:solidFill>
                <a:latin typeface="Aptos"/>
              </a:defRPr>
            </a:pPr>
            <a:r>
              <a:t>AGO – SEP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2423160"/>
            <a:ext cx="4782312" cy="804671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9BAEC7"/>
                </a:solidFill>
                <a:latin typeface="Aptos"/>
              </a:defRPr>
            </a:pPr>
            <a:r>
              <a:t>Análisis, alcance, ERS y riesgos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00200"/>
            <a:ext cx="5257800" cy="1755648"/>
          </a:xfrm>
          <a:prstGeom prst="roundRect">
            <a:avLst/>
          </a:prstGeom>
          <a:solidFill>
            <a:srgbClr val="1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810512"/>
            <a:ext cx="64008" cy="384048"/>
          </a:xfrm>
          <a:prstGeom prst="rect">
            <a:avLst/>
          </a:prstGeom>
          <a:solidFill>
            <a:srgbClr val="1FC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773936"/>
            <a:ext cx="4727448" cy="45720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6F9FE"/>
                </a:solidFill>
                <a:latin typeface="Aptos"/>
              </a:defRPr>
            </a:pPr>
            <a:r>
              <a:t>SEP – OCT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5664" y="2423160"/>
            <a:ext cx="4782312" cy="804671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9BAEC7"/>
                </a:solidFill>
                <a:latin typeface="Aptos"/>
              </a:defRPr>
            </a:pPr>
            <a:r>
              <a:t>Arquitectura, mockups, casos de uso y BD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630168"/>
            <a:ext cx="5257800" cy="1755648"/>
          </a:xfrm>
          <a:prstGeom prst="roundRect">
            <a:avLst/>
          </a:prstGeom>
          <a:solidFill>
            <a:srgbClr val="1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3840480"/>
            <a:ext cx="64008" cy="384048"/>
          </a:xfrm>
          <a:prstGeom prst="rect">
            <a:avLst/>
          </a:prstGeom>
          <a:solidFill>
            <a:srgbClr val="3DD0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803904"/>
            <a:ext cx="4727448" cy="45720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6F9FE"/>
                </a:solidFill>
                <a:latin typeface="Aptos"/>
              </a:defRPr>
            </a:pPr>
            <a:r>
              <a:t>OCT – NOV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" y="4453128"/>
            <a:ext cx="4782312" cy="804671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9BAEC7"/>
                </a:solidFill>
                <a:latin typeface="Aptos"/>
              </a:defRPr>
            </a:pPr>
            <a:r>
              <a:t>Desarrollo e integración por componentes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630168"/>
            <a:ext cx="5257800" cy="1755648"/>
          </a:xfrm>
          <a:prstGeom prst="roundRect">
            <a:avLst/>
          </a:prstGeom>
          <a:solidFill>
            <a:srgbClr val="1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840480"/>
            <a:ext cx="64008" cy="384048"/>
          </a:xfrm>
          <a:prstGeom prst="rect">
            <a:avLst/>
          </a:prstGeom>
          <a:solidFill>
            <a:srgbClr val="FFB9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3803904"/>
            <a:ext cx="4727448" cy="45720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6F9FE"/>
                </a:solidFill>
                <a:latin typeface="Aptos"/>
              </a:defRPr>
            </a:pPr>
            <a:r>
              <a:t>NOV – DIC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4453128"/>
            <a:ext cx="4782312" cy="804671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9BAEC7"/>
                </a:solidFill>
                <a:latin typeface="Aptos"/>
              </a:defRPr>
            </a:pPr>
            <a:r>
              <a:t>Pruebas, documentación y defensa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109728" cy="566928"/>
          </a:xfrm>
          <a:prstGeom prst="rect">
            <a:avLst/>
          </a:prstGeom>
          <a:solidFill>
            <a:srgbClr val="1FC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38328"/>
            <a:ext cx="10789920" cy="57607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F6F9FE"/>
                </a:solidFill>
                <a:latin typeface="Aptos"/>
              </a:defRPr>
            </a:pPr>
            <a:r>
              <a:t>Gestión de riesgos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78408"/>
            <a:ext cx="10881360" cy="5486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9BAEC7"/>
                </a:solidFill>
                <a:latin typeface="Aptos"/>
              </a:defRPr>
            </a:pPr>
            <a:r>
              <a:t>Priorización y tratamiento preventivo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46520"/>
            <a:ext cx="10881360" cy="10972"/>
          </a:xfrm>
          <a:prstGeom prst="rect">
            <a:avLst/>
          </a:prstGeom>
          <a:solidFill>
            <a:srgbClr val="344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6501384"/>
            <a:ext cx="7315200" cy="21031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9BAEC7"/>
                </a:solidFill>
                <a:latin typeface="Aptos"/>
              </a:defRPr>
            </a:pPr>
            <a:r>
              <a:t>JJV  /  TÉCNICO YA  ·  OCTUBRE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83096"/>
            <a:ext cx="365760" cy="219456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1FC6D2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09344"/>
            <a:ext cx="5257800" cy="1847088"/>
          </a:xfrm>
          <a:prstGeom prst="roundRect">
            <a:avLst/>
          </a:prstGeom>
          <a:solidFill>
            <a:srgbClr val="1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819656"/>
            <a:ext cx="64008" cy="384048"/>
          </a:xfrm>
          <a:prstGeom prst="rect">
            <a:avLst/>
          </a:prstGeom>
          <a:solidFill>
            <a:srgbClr val="FFB9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783080"/>
            <a:ext cx="4727448" cy="45720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6F9FE"/>
                </a:solidFill>
                <a:latin typeface="Aptos"/>
              </a:defRPr>
            </a:pPr>
            <a:r>
              <a:t>R-01  CRÍTICO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2432304"/>
            <a:ext cx="4782312" cy="89611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9BAEC7"/>
                </a:solidFill>
                <a:latin typeface="Aptos"/>
              </a:defRPr>
            </a:pPr>
            <a:r>
              <a:t>Retraso por alcance y tiempo → priorizar hitos, seguimiento semanal y control de entregables.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09344"/>
            <a:ext cx="5257800" cy="1847088"/>
          </a:xfrm>
          <a:prstGeom prst="roundRect">
            <a:avLst/>
          </a:prstGeom>
          <a:solidFill>
            <a:srgbClr val="1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819656"/>
            <a:ext cx="64008" cy="384048"/>
          </a:xfrm>
          <a:prstGeom prst="rect">
            <a:avLst/>
          </a:prstGeom>
          <a:solidFill>
            <a:srgbClr val="FFB9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783080"/>
            <a:ext cx="4727448" cy="45720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6F9FE"/>
                </a:solidFill>
                <a:latin typeface="Aptos"/>
              </a:defRPr>
            </a:pPr>
            <a:r>
              <a:t>R-02  ALTO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5664" y="2432304"/>
            <a:ext cx="4782312" cy="89611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9BAEC7"/>
                </a:solidFill>
                <a:latin typeface="Aptos"/>
              </a:defRPr>
            </a:pPr>
            <a:r>
              <a:t>Cambios de requisitos → formalizar solicitudes, evaluar impacto y aprobar cambios.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675887"/>
            <a:ext cx="5257800" cy="1847088"/>
          </a:xfrm>
          <a:prstGeom prst="roundRect">
            <a:avLst/>
          </a:prstGeom>
          <a:solidFill>
            <a:srgbClr val="1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3886200"/>
            <a:ext cx="64008" cy="384048"/>
          </a:xfrm>
          <a:prstGeom prst="rect">
            <a:avLst/>
          </a:prstGeom>
          <a:solidFill>
            <a:srgbClr val="1FC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849624"/>
            <a:ext cx="4727448" cy="45720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6F9FE"/>
                </a:solidFill>
                <a:latin typeface="Aptos"/>
              </a:defRPr>
            </a:pPr>
            <a:r>
              <a:t>R-03  ALTO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" y="4498848"/>
            <a:ext cx="4782312" cy="89611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9BAEC7"/>
                </a:solidFill>
                <a:latin typeface="Aptos"/>
              </a:defRPr>
            </a:pPr>
            <a:r>
              <a:t>Crecimiento del alcance → mantener exclusiones y línea base de requisitos.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675887"/>
            <a:ext cx="5257800" cy="1847088"/>
          </a:xfrm>
          <a:prstGeom prst="roundRect">
            <a:avLst/>
          </a:prstGeom>
          <a:solidFill>
            <a:srgbClr val="1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886200"/>
            <a:ext cx="64008" cy="384048"/>
          </a:xfrm>
          <a:prstGeom prst="rect">
            <a:avLst/>
          </a:prstGeom>
          <a:solidFill>
            <a:srgbClr val="1FC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3849624"/>
            <a:ext cx="4727448" cy="45720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6F9FE"/>
                </a:solidFill>
                <a:latin typeface="Aptos"/>
              </a:defRPr>
            </a:pPr>
            <a:r>
              <a:t>R-04  ALTO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4498848"/>
            <a:ext cx="4782312" cy="89611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9BAEC7"/>
                </a:solidFill>
                <a:latin typeface="Aptos"/>
              </a:defRPr>
            </a:pPr>
            <a:r>
              <a:t>Dudas sobre procesos JJV → validar flujos y decisiones con la empresa.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109728" cy="566928"/>
          </a:xfrm>
          <a:prstGeom prst="rect">
            <a:avLst/>
          </a:prstGeom>
          <a:solidFill>
            <a:srgbClr val="1FC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38328"/>
            <a:ext cx="10789920" cy="57607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F6F9FE"/>
                </a:solidFill>
                <a:latin typeface="Aptos"/>
              </a:defRPr>
            </a:pPr>
            <a:r>
              <a:t>Calidad y validación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78408"/>
            <a:ext cx="10881360" cy="5486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9BAEC7"/>
                </a:solidFill>
                <a:latin typeface="Aptos"/>
              </a:defRPr>
            </a:pPr>
            <a:r>
              <a:t>Qué debe comprobarse antes de declarar la solución terminada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46520"/>
            <a:ext cx="10881360" cy="10972"/>
          </a:xfrm>
          <a:prstGeom prst="rect">
            <a:avLst/>
          </a:prstGeom>
          <a:solidFill>
            <a:srgbClr val="344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6501384"/>
            <a:ext cx="7315200" cy="21031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9BAEC7"/>
                </a:solidFill>
                <a:latin typeface="Aptos"/>
              </a:defRPr>
            </a:pPr>
            <a:r>
              <a:t>JJV  /  TÉCNICO YA  ·  OCTUBRE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83096"/>
            <a:ext cx="365760" cy="219456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1FC6D2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45920"/>
            <a:ext cx="3429000" cy="3474720"/>
          </a:xfrm>
          <a:prstGeom prst="roundRect">
            <a:avLst/>
          </a:prstGeom>
          <a:solidFill>
            <a:srgbClr val="1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856232"/>
            <a:ext cx="64008" cy="384048"/>
          </a:xfrm>
          <a:prstGeom prst="rect">
            <a:avLst/>
          </a:prstGeom>
          <a:solidFill>
            <a:srgbClr val="1D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819656"/>
            <a:ext cx="2898648" cy="45720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6F9FE"/>
                </a:solidFill>
                <a:latin typeface="Aptos"/>
              </a:defRPr>
            </a:pPr>
            <a:r>
              <a:t>Pruebas funcionales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2468880"/>
            <a:ext cx="2953512" cy="2523744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9BAEC7"/>
                </a:solidFill>
                <a:latin typeface="Aptos"/>
              </a:defRPr>
            </a:pPr>
            <a:r>
              <a:t>Creación de solicitudes, asignación, cambios de estado, evidencias y cierre.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645920"/>
            <a:ext cx="3429000" cy="3474720"/>
          </a:xfrm>
          <a:prstGeom prst="roundRect">
            <a:avLst/>
          </a:prstGeom>
          <a:solidFill>
            <a:srgbClr val="1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53712" y="1856232"/>
            <a:ext cx="64008" cy="384048"/>
          </a:xfrm>
          <a:prstGeom prst="rect">
            <a:avLst/>
          </a:prstGeom>
          <a:solidFill>
            <a:srgbClr val="1FC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36592" y="1819656"/>
            <a:ext cx="2898648" cy="45720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6F9FE"/>
                </a:solidFill>
                <a:latin typeface="Aptos"/>
              </a:defRPr>
            </a:pPr>
            <a:r>
              <a:t>Pruebas de integración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6" y="2468880"/>
            <a:ext cx="2953512" cy="2523744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9BAEC7"/>
                </a:solidFill>
                <a:latin typeface="Aptos"/>
              </a:defRPr>
            </a:pPr>
            <a:r>
              <a:t>Comunicación web–API–BD y app–API–BD; manejo de errores.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645920"/>
            <a:ext cx="3429000" cy="3474720"/>
          </a:xfrm>
          <a:prstGeom prst="roundRect">
            <a:avLst/>
          </a:prstGeom>
          <a:solidFill>
            <a:srgbClr val="1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856232"/>
            <a:ext cx="64008" cy="384048"/>
          </a:xfrm>
          <a:prstGeom prst="rect">
            <a:avLst/>
          </a:prstGeom>
          <a:solidFill>
            <a:srgbClr val="3DD0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1819656"/>
            <a:ext cx="2898648" cy="45720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6F9FE"/>
                </a:solidFill>
                <a:latin typeface="Aptos"/>
              </a:defRPr>
            </a:pPr>
            <a:r>
              <a:t>Aceptación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4" y="2468880"/>
            <a:ext cx="2953512" cy="2523744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9BAEC7"/>
                </a:solidFill>
                <a:latin typeface="Aptos"/>
              </a:defRPr>
            </a:pPr>
            <a:r>
              <a:t>Validación con usuarios y JJV frente a los requisitos aprobados.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109728" cy="566928"/>
          </a:xfrm>
          <a:prstGeom prst="rect">
            <a:avLst/>
          </a:prstGeom>
          <a:solidFill>
            <a:srgbClr val="1FC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38328"/>
            <a:ext cx="10789920" cy="57607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F6F9FE"/>
                </a:solidFill>
                <a:latin typeface="Aptos"/>
              </a:defRPr>
            </a:pPr>
            <a:r>
              <a:t>Seguimiento y estado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78408"/>
            <a:ext cx="10881360" cy="5486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9BAEC7"/>
                </a:solidFill>
                <a:latin typeface="Aptos"/>
              </a:defRPr>
            </a:pPr>
            <a:r>
              <a:t>Corte de información: presentaciones disponibles hasta el 23 de octubre de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46520"/>
            <a:ext cx="10881360" cy="10972"/>
          </a:xfrm>
          <a:prstGeom prst="rect">
            <a:avLst/>
          </a:prstGeom>
          <a:solidFill>
            <a:srgbClr val="344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6501384"/>
            <a:ext cx="7315200" cy="21031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9BAEC7"/>
                </a:solidFill>
                <a:latin typeface="Aptos"/>
              </a:defRPr>
            </a:pPr>
            <a:r>
              <a:t>JJV  /  TÉCNICO YA  ·  OCTUBRE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83096"/>
            <a:ext cx="365760" cy="219456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1FC6D2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91640"/>
            <a:ext cx="5257800" cy="3474720"/>
          </a:xfrm>
          <a:prstGeom prst="roundRect">
            <a:avLst/>
          </a:prstGeom>
          <a:solidFill>
            <a:srgbClr val="1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901952"/>
            <a:ext cx="64008" cy="384048"/>
          </a:xfrm>
          <a:prstGeom prst="rect">
            <a:avLst/>
          </a:prstGeom>
          <a:solidFill>
            <a:srgbClr val="3DD0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865376"/>
            <a:ext cx="4727448" cy="45720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6F9FE"/>
                </a:solidFill>
                <a:latin typeface="Aptos"/>
              </a:defRPr>
            </a:pPr>
            <a:r>
              <a:t>Evidencias documentadas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2514600"/>
            <a:ext cx="4782312" cy="2523744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9BAEC7"/>
                </a:solidFill>
                <a:latin typeface="Aptos"/>
              </a:defRPr>
            </a:pPr>
            <a:r>
              <a:t>Análisis y requerimientos; diseño de arquitectura; diagramas y casos de uso; prototipo web reportado.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691640"/>
            <a:ext cx="5257800" cy="3474720"/>
          </a:xfrm>
          <a:prstGeom prst="roundRect">
            <a:avLst/>
          </a:prstGeom>
          <a:solidFill>
            <a:srgbClr val="1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901952"/>
            <a:ext cx="64008" cy="384048"/>
          </a:xfrm>
          <a:prstGeom prst="rect">
            <a:avLst/>
          </a:prstGeom>
          <a:solidFill>
            <a:srgbClr val="FFB9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865376"/>
            <a:ext cx="4727448" cy="45720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6F9FE"/>
                </a:solidFill>
                <a:latin typeface="Aptos"/>
              </a:defRPr>
            </a:pPr>
            <a:r>
              <a:t>Pendiente de confirmar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2514600"/>
            <a:ext cx="4782312" cy="2523744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9BAEC7"/>
                </a:solidFill>
                <a:latin typeface="Aptos"/>
              </a:defRPr>
            </a:pPr>
            <a:r>
              <a:t>Porcentaje actualizado de avance, pruebas ejecutadas, integración móvil completa y despliegue final.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109728" cy="566928"/>
          </a:xfrm>
          <a:prstGeom prst="rect">
            <a:avLst/>
          </a:prstGeom>
          <a:solidFill>
            <a:srgbClr val="1FC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38328"/>
            <a:ext cx="10789920" cy="57607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F6F9FE"/>
                </a:solidFill>
                <a:latin typeface="Aptos"/>
              </a:defRPr>
            </a:pPr>
            <a:r>
              <a:t>Equipo y responsabilidades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78408"/>
            <a:ext cx="10881360" cy="5486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9BAEC7"/>
                </a:solidFill>
                <a:latin typeface="Aptos"/>
              </a:defRPr>
            </a:pPr>
            <a:r>
              <a:t>Trabajo coordinado de tres integrantes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46520"/>
            <a:ext cx="10881360" cy="10972"/>
          </a:xfrm>
          <a:prstGeom prst="rect">
            <a:avLst/>
          </a:prstGeom>
          <a:solidFill>
            <a:srgbClr val="344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6501384"/>
            <a:ext cx="7315200" cy="21031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9BAEC7"/>
                </a:solidFill>
                <a:latin typeface="Aptos"/>
              </a:defRPr>
            </a:pPr>
            <a:r>
              <a:t>JJV  /  TÉCNICO YA  ·  OCTUBRE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83096"/>
            <a:ext cx="365760" cy="219456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1FC6D2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45920"/>
            <a:ext cx="3401568" cy="3520440"/>
          </a:xfrm>
          <a:prstGeom prst="roundRect">
            <a:avLst/>
          </a:prstGeom>
          <a:solidFill>
            <a:srgbClr val="1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856232"/>
            <a:ext cx="64008" cy="384048"/>
          </a:xfrm>
          <a:prstGeom prst="rect">
            <a:avLst/>
          </a:prstGeom>
          <a:solidFill>
            <a:srgbClr val="1D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819656"/>
            <a:ext cx="2871216" cy="45720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6F9FE"/>
                </a:solidFill>
                <a:latin typeface="Aptos"/>
              </a:defRPr>
            </a:pPr>
            <a:r>
              <a:t>Sebastián Valdés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2468880"/>
            <a:ext cx="2926080" cy="2569464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9BAEC7"/>
                </a:solidFill>
                <a:latin typeface="Aptos"/>
              </a:defRPr>
            </a:pPr>
            <a:r>
              <a:t>Coordinación, seguimiento de alcance y plazos, validación y apoyo técnico.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8264" y="1645920"/>
            <a:ext cx="3401568" cy="3520440"/>
          </a:xfrm>
          <a:prstGeom prst="roundRect">
            <a:avLst/>
          </a:prstGeom>
          <a:solidFill>
            <a:srgbClr val="1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81144" y="1856232"/>
            <a:ext cx="64008" cy="384048"/>
          </a:xfrm>
          <a:prstGeom prst="rect">
            <a:avLst/>
          </a:prstGeom>
          <a:solidFill>
            <a:srgbClr val="1FC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64024" y="1819656"/>
            <a:ext cx="2871216" cy="45720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6F9FE"/>
                </a:solidFill>
                <a:latin typeface="Aptos"/>
              </a:defRPr>
            </a:pPr>
            <a:r>
              <a:t>José Herrera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7" y="2468880"/>
            <a:ext cx="2926080" cy="2569464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9BAEC7"/>
                </a:solidFill>
                <a:latin typeface="Aptos"/>
              </a:defRPr>
            </a:pPr>
            <a:r>
              <a:t>Desarrollo web y móvil, lógica de negocio e integraciones.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0727" y="1645920"/>
            <a:ext cx="3401568" cy="3520440"/>
          </a:xfrm>
          <a:prstGeom prst="roundRect">
            <a:avLst/>
          </a:prstGeom>
          <a:solidFill>
            <a:srgbClr val="1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93607" y="1856232"/>
            <a:ext cx="64008" cy="384048"/>
          </a:xfrm>
          <a:prstGeom prst="rect">
            <a:avLst/>
          </a:prstGeom>
          <a:solidFill>
            <a:srgbClr val="3DD0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76488" y="1819656"/>
            <a:ext cx="2871216" cy="45720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6F9FE"/>
                </a:solidFill>
                <a:latin typeface="Aptos"/>
              </a:defRPr>
            </a:pPr>
            <a:r>
              <a:t>José Espinoza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8471" y="2468880"/>
            <a:ext cx="2926080" cy="2569464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9BAEC7"/>
                </a:solidFill>
                <a:latin typeface="Aptos"/>
              </a:defRPr>
            </a:pPr>
            <a:r>
              <a:t>Modelo de datos, arquitectura y soporte a integración.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109728" cy="566928"/>
          </a:xfrm>
          <a:prstGeom prst="rect">
            <a:avLst/>
          </a:prstGeom>
          <a:solidFill>
            <a:srgbClr val="1FC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38328"/>
            <a:ext cx="10789920" cy="57607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F6F9FE"/>
                </a:solidFill>
                <a:latin typeface="Aptos"/>
              </a:defRPr>
            </a:pPr>
            <a:r>
              <a:t>Indicadores de éxito propuestos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78408"/>
            <a:ext cx="10881360" cy="5486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9BAEC7"/>
                </a:solidFill>
                <a:latin typeface="Aptos"/>
              </a:defRPr>
            </a:pPr>
            <a:r>
              <a:t>Metas de aceptación que deben validarse con JJV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46520"/>
            <a:ext cx="10881360" cy="10972"/>
          </a:xfrm>
          <a:prstGeom prst="rect">
            <a:avLst/>
          </a:prstGeom>
          <a:solidFill>
            <a:srgbClr val="344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6501384"/>
            <a:ext cx="7315200" cy="21031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9BAEC7"/>
                </a:solidFill>
                <a:latin typeface="Aptos"/>
              </a:defRPr>
            </a:pPr>
            <a:r>
              <a:t>JJV  /  TÉCNICO YA  ·  OCTUBRE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83096"/>
            <a:ext cx="365760" cy="219456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1FC6D2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45920"/>
            <a:ext cx="5257800" cy="3566160"/>
          </a:xfrm>
          <a:prstGeom prst="roundRect">
            <a:avLst/>
          </a:prstGeom>
          <a:solidFill>
            <a:srgbClr val="1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856232"/>
            <a:ext cx="64008" cy="384048"/>
          </a:xfrm>
          <a:prstGeom prst="rect">
            <a:avLst/>
          </a:prstGeom>
          <a:solidFill>
            <a:srgbClr val="1D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819656"/>
            <a:ext cx="4727448" cy="45720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6F9FE"/>
                </a:solidFill>
                <a:latin typeface="Aptos"/>
              </a:defRPr>
            </a:pPr>
            <a:r>
              <a:t>Operación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2468880"/>
            <a:ext cx="4782312" cy="2615184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9BAEC7"/>
                </a:solidFill>
                <a:latin typeface="Aptos"/>
              </a:defRPr>
            </a:pPr>
            <a:r>
              <a:t>• Solicitudes trazables de inicio a cierre</a:t>
            </a:r>
          </a:p>
          <a:p>
            <a:pPr>
              <a:spcAft>
                <a:spcPts val="900"/>
              </a:spcAft>
              <a:defRPr sz="1500" b="0">
                <a:solidFill>
                  <a:srgbClr val="9BAEC7"/>
                </a:solidFill>
                <a:latin typeface="Aptos"/>
              </a:defRPr>
            </a:pPr>
            <a:r>
              <a:t>• Órdenes con responsable y estado</a:t>
            </a:r>
          </a:p>
          <a:p>
            <a:pPr>
              <a:spcAft>
                <a:spcPts val="900"/>
              </a:spcAft>
              <a:defRPr sz="1500" b="0">
                <a:solidFill>
                  <a:srgbClr val="9BAEC7"/>
                </a:solidFill>
                <a:latin typeface="Aptos"/>
              </a:defRPr>
            </a:pPr>
            <a:r>
              <a:t>• Visibilidad de carga por técnico</a:t>
            </a:r>
          </a:p>
          <a:p>
            <a:pPr>
              <a:spcAft>
                <a:spcPts val="900"/>
              </a:spcAft>
              <a:defRPr sz="1500" b="0">
                <a:solidFill>
                  <a:srgbClr val="9BAEC7"/>
                </a:solidFill>
                <a:latin typeface="Aptos"/>
              </a:defRPr>
            </a:pPr>
            <a:r>
              <a:t>• Tiempo promedio de atención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645920"/>
            <a:ext cx="5257800" cy="3566160"/>
          </a:xfrm>
          <a:prstGeom prst="roundRect">
            <a:avLst/>
          </a:prstGeom>
          <a:solidFill>
            <a:srgbClr val="1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856232"/>
            <a:ext cx="64008" cy="384048"/>
          </a:xfrm>
          <a:prstGeom prst="rect">
            <a:avLst/>
          </a:prstGeom>
          <a:solidFill>
            <a:srgbClr val="1FC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819656"/>
            <a:ext cx="4727448" cy="45720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6F9FE"/>
                </a:solidFill>
                <a:latin typeface="Aptos"/>
              </a:defRPr>
            </a:pPr>
            <a:r>
              <a:t>Producto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2468880"/>
            <a:ext cx="4782312" cy="2615184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9BAEC7"/>
                </a:solidFill>
                <a:latin typeface="Aptos"/>
              </a:defRPr>
            </a:pPr>
            <a:r>
              <a:t>• Casos de uso críticos aprobados</a:t>
            </a:r>
          </a:p>
          <a:p>
            <a:pPr>
              <a:spcAft>
                <a:spcPts val="900"/>
              </a:spcAft>
              <a:defRPr sz="1500" b="0">
                <a:solidFill>
                  <a:srgbClr val="9BAEC7"/>
                </a:solidFill>
                <a:latin typeface="Aptos"/>
              </a:defRPr>
            </a:pPr>
            <a:r>
              <a:t>• Integraciones probadas</a:t>
            </a:r>
          </a:p>
          <a:p>
            <a:pPr>
              <a:spcAft>
                <a:spcPts val="900"/>
              </a:spcAft>
              <a:defRPr sz="1500" b="0">
                <a:solidFill>
                  <a:srgbClr val="9BAEC7"/>
                </a:solidFill>
                <a:latin typeface="Aptos"/>
              </a:defRPr>
            </a:pPr>
            <a:r>
              <a:t>• Incidencias críticas resueltas</a:t>
            </a:r>
          </a:p>
          <a:p>
            <a:pPr>
              <a:spcAft>
                <a:spcPts val="900"/>
              </a:spcAft>
              <a:defRPr sz="1500" b="0">
                <a:solidFill>
                  <a:srgbClr val="9BAEC7"/>
                </a:solidFill>
                <a:latin typeface="Aptos"/>
              </a:defRPr>
            </a:pPr>
            <a:r>
              <a:t>• Documentación y respaldo disponibles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109728" cy="566928"/>
          </a:xfrm>
          <a:prstGeom prst="rect">
            <a:avLst/>
          </a:prstGeom>
          <a:solidFill>
            <a:srgbClr val="1FC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38328"/>
            <a:ext cx="10789920" cy="57607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F6F9FE"/>
                </a:solidFill>
                <a:latin typeface="Aptos"/>
              </a:defRPr>
            </a:pPr>
            <a:r>
              <a:t>Conclusión y próximos pasos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78408"/>
            <a:ext cx="10881360" cy="5486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9BAEC7"/>
                </a:solidFill>
                <a:latin typeface="Aptos"/>
              </a:defRPr>
            </a:pPr>
            <a:r>
              <a:t>Una solución integral con trazabilidad y crecimiento controlado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46520"/>
            <a:ext cx="10881360" cy="10972"/>
          </a:xfrm>
          <a:prstGeom prst="rect">
            <a:avLst/>
          </a:prstGeom>
          <a:solidFill>
            <a:srgbClr val="344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6501384"/>
            <a:ext cx="7315200" cy="21031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9BAEC7"/>
                </a:solidFill>
                <a:latin typeface="Aptos"/>
              </a:defRPr>
            </a:pPr>
            <a:r>
              <a:t>JJV  /  TÉCNICO YA  ·  OCTUBRE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83096"/>
            <a:ext cx="365760" cy="219456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1FC6D2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45920"/>
            <a:ext cx="10607040" cy="1965960"/>
          </a:xfrm>
          <a:prstGeom prst="roundRect">
            <a:avLst/>
          </a:prstGeom>
          <a:solidFill>
            <a:srgbClr val="1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2057400"/>
            <a:ext cx="9738360" cy="118872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 algn="ctr">
              <a:spcAft>
                <a:spcPts val="900"/>
              </a:spcAft>
              <a:defRPr sz="2600" b="1">
                <a:solidFill>
                  <a:srgbClr val="F6F9FE"/>
                </a:solidFill>
                <a:latin typeface="Aptos"/>
              </a:defRPr>
            </a:pPr>
            <a:r>
              <a:t>Técnico Ya busca transformar una gestión fragmentada en un proceso conectado, medible y más fácil de supervisar.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389120"/>
            <a:ext cx="2596896" cy="667512"/>
          </a:xfrm>
          <a:prstGeom prst="roundRect">
            <a:avLst/>
          </a:prstGeom>
          <a:solidFill>
            <a:srgbClr val="1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1" y="4553712"/>
            <a:ext cx="2450591" cy="34747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 algn="ctr">
              <a:spcAft>
                <a:spcPts val="900"/>
              </a:spcAft>
              <a:defRPr sz="1500" b="1">
                <a:solidFill>
                  <a:srgbClr val="F6F9FE"/>
                </a:solidFill>
                <a:latin typeface="Aptos"/>
              </a:defRPr>
            </a:pPr>
            <a:r>
              <a:t>VALIDAR CON JJV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4389120"/>
            <a:ext cx="2596896" cy="667512"/>
          </a:xfrm>
          <a:prstGeom prst="roundRect">
            <a:avLst/>
          </a:prstGeom>
          <a:solidFill>
            <a:srgbClr val="1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4553712"/>
            <a:ext cx="2450591" cy="34747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 algn="ctr">
              <a:spcAft>
                <a:spcPts val="900"/>
              </a:spcAft>
              <a:defRPr sz="1500" b="1">
                <a:solidFill>
                  <a:srgbClr val="F6F9FE"/>
                </a:solidFill>
                <a:latin typeface="Aptos"/>
              </a:defRPr>
            </a:pPr>
            <a:r>
              <a:t>COMPLETAR INTEGRACIÓN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4389120"/>
            <a:ext cx="2596896" cy="667512"/>
          </a:xfrm>
          <a:prstGeom prst="roundRect">
            <a:avLst/>
          </a:prstGeom>
          <a:solidFill>
            <a:srgbClr val="1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4553712"/>
            <a:ext cx="2450591" cy="34747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 algn="ctr">
              <a:spcAft>
                <a:spcPts val="900"/>
              </a:spcAft>
              <a:defRPr sz="1500" b="1">
                <a:solidFill>
                  <a:srgbClr val="F6F9FE"/>
                </a:solidFill>
                <a:latin typeface="Aptos"/>
              </a:defRPr>
            </a:pPr>
            <a:r>
              <a:t>EJECUTAR QA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24544" y="4389120"/>
            <a:ext cx="2596896" cy="667512"/>
          </a:xfrm>
          <a:prstGeom prst="roundRect">
            <a:avLst/>
          </a:prstGeom>
          <a:solidFill>
            <a:srgbClr val="1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97696" y="4553712"/>
            <a:ext cx="2450591" cy="34747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 algn="ctr">
              <a:spcAft>
                <a:spcPts val="900"/>
              </a:spcAft>
              <a:defRPr sz="1500" b="1">
                <a:solidFill>
                  <a:srgbClr val="F6F9FE"/>
                </a:solidFill>
                <a:latin typeface="Aptos"/>
              </a:defRPr>
            </a:pPr>
            <a:r>
              <a:t>DOCUMENTAR CIERRE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69280"/>
            <a:ext cx="10698480" cy="475488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 algn="ctr">
              <a:spcAft>
                <a:spcPts val="900"/>
              </a:spcAft>
              <a:defRPr sz="2800" b="1">
                <a:solidFill>
                  <a:srgbClr val="1FC6D2"/>
                </a:solidFill>
                <a:latin typeface="Aptos"/>
              </a:defRPr>
            </a:pPr>
            <a:r>
              <a:t>Gracias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