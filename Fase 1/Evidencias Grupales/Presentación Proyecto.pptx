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gTMzZcFpnJhGfj+UhnhfMvgJoDU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Presentar el nombre del proyecto y explicar en una frase que integra la operación completa de los servicios técnicos.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- 1.5_GuiaEstudiante_Fase 1_Definicion Proyecto APT.docx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ERS (2)(1).docx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Aclarar los roles: la empresa externa presenta la necesidad; JJV es el equipo desarrollador; Técnico Ya es el nombre de la solución propuesta. Luego explicar los tres problemas: dispersión, gestión manual y baja trazabilidad.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- 1.5_GuiaEstudiante_Fase 1_Definicion Proyecto APT.docx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ERS (2)(1).docx</a:t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" name="Google Shape;53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Explicar que el problema no es la falta de demanda, sino la ausencia de un flujo centralizado y trazable.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- 1.5_GuiaEstudiante_Fase 1_Definicion Proyecto APT.docx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ERS (2)(1).docx</a:t>
            </a:r>
            <a:endParaRPr/>
          </a:p>
        </p:txBody>
      </p:sp>
      <p:sp>
        <p:nvSpPr>
          <p:cNvPr id="54" name="Google Shape;54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9" name="Google Shape;79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Contar este caso como una historia breve. El flujo muestra cómo una solicitud desordenada se convierte en un servicio coordinado y trazable.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- 1.5_GuiaEstudiante_Fase 1_Definicion Proyecto APT.docx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ERS (2)(1).docx</a:t>
            </a:r>
            <a:endParaRPr/>
          </a:p>
        </p:txBody>
      </p:sp>
      <p:sp>
        <p:nvSpPr>
          <p:cNvPr id="80" name="Google Shape;80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1" name="Google Shape;111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Recorrer el flujo de izquierda a derecha y destacar que todos los actores trabajan sobre información centralizada.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- 1.5_GuiaEstudiante_Fase 1_Definicion Proyecto APT.docx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ERS (2)(1).docx</a:t>
            </a:r>
            <a:endParaRPr/>
          </a:p>
        </p:txBody>
      </p:sp>
      <p:sp>
        <p:nvSpPr>
          <p:cNvPr id="112" name="Google Shape;112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7" name="Google Shape;147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Diferenciar interfaz, lógica y persistencia. La separación facilita integración, seguridad y mantenibilidad.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- 1.5_GuiaEstudiante_Fase 1_Definicion Proyecto APT.docx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ERS (2)(1).docx</a:t>
            </a:r>
            <a:endParaRPr/>
          </a:p>
        </p:txBody>
      </p:sp>
      <p:sp>
        <p:nvSpPr>
          <p:cNvPr id="148" name="Google Shape;148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6" name="Google Shape;186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Relacionar cada etapa del proyecto con competencias del perfil de egreso y con una evidencia concreta.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- 1.5_GuiaEstudiante_Fase 1_Definicion Proyecto APT.docx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ERS (2)(1).docx</a:t>
            </a:r>
            <a:endParaRPr/>
          </a:p>
        </p:txBody>
      </p:sp>
      <p:sp>
        <p:nvSpPr>
          <p:cNvPr id="187" name="Google Shape;187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6" name="Google Shape;216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Conectar el proyecto con los intereses del equipo: desarrollo integral, móvil, datos e integración.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- 1.5_GuiaEstudiante_Fase 1_Definicion Proyecto APT.docx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ERS (2)(1).docx</a:t>
            </a:r>
            <a:endParaRPr/>
          </a:p>
        </p:txBody>
      </p:sp>
      <p:sp>
        <p:nvSpPr>
          <p:cNvPr id="217" name="Google Shape;217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1" name="Google Shape;241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Defender la factibilidad con alcance, conocimientos, herramientas y respuestas concretas a los riesgos.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- 1.5_GuiaEstudiante_Fase 1_Definicion Proyecto APT.docx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ERS (2)(1).docx</a:t>
            </a:r>
            <a:endParaRPr/>
          </a:p>
        </p:txBody>
      </p:sp>
      <p:sp>
        <p:nvSpPr>
          <p:cNvPr id="242" name="Google Shape;242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5" name="Google Shape;275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Presentar el objetivo general y resumir los objetivos específicos como una secuencia de resultados verificables.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- 1.5_GuiaEstudiante_Fase 1_Definicion Proyecto APT.docx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ERS (2)(1).docx</a:t>
            </a:r>
            <a:endParaRPr/>
          </a:p>
        </p:txBody>
      </p:sp>
      <p:sp>
        <p:nvSpPr>
          <p:cNvPr id="276" name="Google Shape;276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0" name="Google Shape;310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Explicar que la metodología permite revisión formal de cada entregable y control de dependencias.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- 1.5_GuiaEstudiante_Fase 1_Definicion Proyecto APT.docx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ERS (2)(1).docx</a:t>
            </a:r>
            <a:endParaRPr/>
          </a:p>
        </p:txBody>
      </p:sp>
      <p:sp>
        <p:nvSpPr>
          <p:cNvPr id="311" name="Google Shape;311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6" name="Google Shape;346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Explicar que el proyecto abarca cuatro meses y finaliza durante la última semana de diciembre de 2026. Las fases avanzan de forma secuencial según Waterfall, con revisión del entregable antes de pasar a la fase siguiente.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- 1.5_GuiaEstudiante_Fase 1_Definicion Proyecto APT.docx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ERS (2)(1).docx</a:t>
            </a:r>
            <a:endParaRPr/>
          </a:p>
        </p:txBody>
      </p:sp>
      <p:sp>
        <p:nvSpPr>
          <p:cNvPr id="347" name="Google Shape;347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6" name="Google Shape;406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Justificar que las evidencias permiten verificar tanto el producto final como el proceso de desarrollo.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- 1.5_GuiaEstudiante_Fase 1_Definicion Proyecto APT.docx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ERS (2)(1).docx</a:t>
            </a:r>
            <a:endParaRPr/>
          </a:p>
        </p:txBody>
      </p:sp>
      <p:sp>
        <p:nvSpPr>
          <p:cNvPr id="407" name="Google Shape;407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4" name="Google Shape;434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Aclarar que los roles ordenan el trabajo, pero la revisión, integración y calidad son responsabilidades compartidas.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- 1.5_GuiaEstudiante_Fase 1_Definicion Proyecto APT.docx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ERS (2)(1).docx</a:t>
            </a:r>
            <a:endParaRPr/>
          </a:p>
        </p:txBody>
      </p:sp>
      <p:sp>
        <p:nvSpPr>
          <p:cNvPr id="435" name="Google Shape;435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2" name="Google Shape;462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Concluir relacionando cada problema de la introducción con la función concreta que lo resuelve. Destacar que el resultado esperado es control y trazabilidad durante todo el servicio.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- 1.5_GuiaEstudiante_Fase 1_Definicion Proyecto APT.docx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ERS (2)(1).docx</a:t>
            </a:r>
            <a:endParaRPr/>
          </a:p>
        </p:txBody>
      </p:sp>
      <p:sp>
        <p:nvSpPr>
          <p:cNvPr id="463" name="Google Shape;463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3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16B8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8858250" y="0"/>
            <a:ext cx="3333750" cy="2857500"/>
          </a:xfrm>
          <a:prstGeom prst="ellipse">
            <a:avLst/>
          </a:prstGeom>
          <a:solidFill>
            <a:srgbClr val="1530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10096500" y="0"/>
            <a:ext cx="1619250" cy="1619250"/>
          </a:xfrm>
          <a:prstGeom prst="ellipse">
            <a:avLst/>
          </a:prstGeom>
          <a:solidFill>
            <a:srgbClr val="16B8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685800" y="666750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16B8D4"/>
                </a:solidFill>
              </a:rPr>
              <a:t>PROYECTO APT · CAPSTONE</a:t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604875" y="1514400"/>
            <a:ext cx="7239000" cy="8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350">
                <a:solidFill>
                  <a:srgbClr val="FFFFFF"/>
                </a:solidFill>
              </a:rPr>
              <a:t>JJV - </a:t>
            </a:r>
            <a:r>
              <a:rPr b="1" lang="en-US" sz="4350">
                <a:solidFill>
                  <a:srgbClr val="FFFFFF"/>
                </a:solidFill>
              </a:rPr>
              <a:t>Técnico Ya</a:t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685800" y="2724150"/>
            <a:ext cx="67627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C8D8E5"/>
                </a:solidFill>
              </a:rPr>
              <a:t>Gestión inteligente de servicios técnicos a domicilio</a:t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685800" y="3714750"/>
            <a:ext cx="1143000" cy="47625"/>
          </a:xfrm>
          <a:prstGeom prst="rect">
            <a:avLst/>
          </a:prstGeom>
          <a:solidFill>
            <a:srgbClr val="16B8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685800" y="3952875"/>
            <a:ext cx="6477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FFFFFF"/>
                </a:solidFill>
              </a:rPr>
              <a:t>Web · App móvil · API · Base de datos</a:t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685800" y="5810250"/>
            <a:ext cx="7239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C8D8E5"/>
                </a:solidFill>
              </a:rPr>
              <a:t>José Espinoza  ·  José Herrera  ·  Sebastián Valdés</a:t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685800" y="6153150"/>
            <a:ext cx="47625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6B8D4"/>
                </a:solidFill>
              </a:rPr>
              <a:t>Equipo desarrollador JJV · Agosto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6B8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609600" y="333375"/>
            <a:ext cx="5238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6B8D4"/>
                </a:solidFill>
              </a:rPr>
              <a:t>INTRODUCCIÓN</a:t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609600" y="647700"/>
            <a:ext cx="108585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0B1F33"/>
                </a:solidFill>
              </a:rPr>
              <a:t>Una empresa externa solicita una solución para ordenar sus servicios</a:t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609600" y="1285875"/>
            <a:ext cx="666750" cy="38100"/>
          </a:xfrm>
          <a:prstGeom prst="rect">
            <a:avLst/>
          </a:prstGeom>
          <a:solidFill>
            <a:srgbClr val="16B8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11144250" y="6381750"/>
            <a:ext cx="4191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637586"/>
                </a:solidFill>
              </a:rPr>
              <a:t>02</a:t>
            </a: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609600" y="1657350"/>
            <a:ext cx="1057275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0B1F33"/>
                </a:solidFill>
              </a:rPr>
              <a:t>Una empresa externa encarga al equipo JJV el desarrollo de una solución para administrar servicios a domicilio, como electricidad, gasfitería, reparación, instalación y soporte técnico. JJV denomina esta propuesta “Técnico Ya”.</a:t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609600" y="3076575"/>
            <a:ext cx="3219450" cy="1866900"/>
          </a:xfrm>
          <a:prstGeom prst="roundRect">
            <a:avLst>
              <a:gd fmla="val 4082" name="adj"/>
            </a:avLst>
          </a:prstGeom>
          <a:solidFill>
            <a:srgbClr val="FFFFFF"/>
          </a:solidFill>
          <a:ln cap="flat" cmpd="sng" w="9525">
            <a:solidFill>
              <a:srgbClr val="D9E5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609600" y="3076575"/>
            <a:ext cx="3219450" cy="76200"/>
          </a:xfrm>
          <a:prstGeom prst="rect">
            <a:avLst/>
          </a:prstGeom>
          <a:solidFill>
            <a:srgbClr val="EF6A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847725" y="3371850"/>
            <a:ext cx="27241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B1F33"/>
                </a:solidFill>
              </a:rPr>
              <a:t>INFORMACIÓN DISPERSA</a:t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847725" y="3876675"/>
            <a:ext cx="2724150" cy="7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637586"/>
                </a:solidFill>
              </a:rPr>
              <a:t>Las solicitudes y antecedentes se encuentran en llamadas, mensajes y redes sociales.</a:t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4133850" y="3076575"/>
            <a:ext cx="3219450" cy="1866900"/>
          </a:xfrm>
          <a:prstGeom prst="roundRect">
            <a:avLst>
              <a:gd fmla="val 4082" name="adj"/>
            </a:avLst>
          </a:prstGeom>
          <a:solidFill>
            <a:srgbClr val="FFFFFF"/>
          </a:solidFill>
          <a:ln cap="flat" cmpd="sng" w="9525">
            <a:solidFill>
              <a:srgbClr val="D9E5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4133850" y="3076575"/>
            <a:ext cx="3219450" cy="76200"/>
          </a:xfrm>
          <a:prstGeom prst="rect">
            <a:avLst/>
          </a:prstGeom>
          <a:solidFill>
            <a:srgbClr val="F5B6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4371975" y="3371850"/>
            <a:ext cx="27241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B1F33"/>
                </a:solidFill>
              </a:rPr>
              <a:t>GESTIÓN MANUAL</a:t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4371975" y="3876675"/>
            <a:ext cx="2724150" cy="7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637586"/>
                </a:solidFill>
              </a:rPr>
              <a:t>La revisión, asignación y actualización de los trabajos requieren coordinación constante.</a:t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7658100" y="3076575"/>
            <a:ext cx="3219450" cy="1866900"/>
          </a:xfrm>
          <a:prstGeom prst="roundRect">
            <a:avLst>
              <a:gd fmla="val 4082" name="adj"/>
            </a:avLst>
          </a:prstGeom>
          <a:solidFill>
            <a:srgbClr val="FFFFFF"/>
          </a:solidFill>
          <a:ln cap="flat" cmpd="sng" w="9525">
            <a:solidFill>
              <a:srgbClr val="D9E5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7658100" y="3076575"/>
            <a:ext cx="3219450" cy="762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7896225" y="3371850"/>
            <a:ext cx="27241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B1F33"/>
                </a:solidFill>
              </a:rPr>
              <a:t>BAJA TRAZABILIDAD</a:t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7896225" y="3876675"/>
            <a:ext cx="2724150" cy="7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637586"/>
                </a:solidFill>
              </a:rPr>
              <a:t>Resulta difícil conocer el estado del servicio y conservar evidencias de principio a fin.</a:t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1457325" y="5391150"/>
            <a:ext cx="8877300" cy="552450"/>
          </a:xfrm>
          <a:prstGeom prst="roundRect">
            <a:avLst>
              <a:gd fmla="val 13793" name="adj"/>
            </a:avLst>
          </a:prstGeom>
          <a:solidFill>
            <a:srgbClr val="0B1F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1704975" y="5467350"/>
            <a:ext cx="838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FFFFFF"/>
                </a:solidFill>
              </a:rPr>
              <a:t>El desafío es centralizar el proceso sin perder control, evidencia ni responsabilidad.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6B8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"/>
          <p:cNvSpPr/>
          <p:nvPr/>
        </p:nvSpPr>
        <p:spPr>
          <a:xfrm>
            <a:off x="609600" y="333375"/>
            <a:ext cx="5238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6B8D4"/>
                </a:solidFill>
              </a:rPr>
              <a:t>PROBLEMÁTICA Y RELEVANCIA</a:t>
            </a:r>
            <a:endParaRPr/>
          </a:p>
        </p:txBody>
      </p:sp>
      <p:sp>
        <p:nvSpPr>
          <p:cNvPr id="58" name="Google Shape;58;p3"/>
          <p:cNvSpPr/>
          <p:nvPr/>
        </p:nvSpPr>
        <p:spPr>
          <a:xfrm>
            <a:off x="575900" y="619125"/>
            <a:ext cx="108585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0B1F33"/>
                </a:solidFill>
              </a:rPr>
              <a:t>La operación dispersa limita el control del servicio</a:t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609600" y="1285875"/>
            <a:ext cx="666750" cy="38100"/>
          </a:xfrm>
          <a:prstGeom prst="rect">
            <a:avLst/>
          </a:prstGeom>
          <a:solidFill>
            <a:srgbClr val="16B8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11144250" y="6381750"/>
            <a:ext cx="4191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637586"/>
                </a:solidFill>
              </a:rPr>
              <a:t>03</a:t>
            </a: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609600" y="1657350"/>
            <a:ext cx="5095875" cy="3714750"/>
          </a:xfrm>
          <a:prstGeom prst="roundRect">
            <a:avLst>
              <a:gd fmla="val 2051" name="adj"/>
            </a:avLst>
          </a:prstGeom>
          <a:solidFill>
            <a:srgbClr val="FFFFFF"/>
          </a:solidFill>
          <a:ln cap="flat" cmpd="sng" w="9525">
            <a:solidFill>
              <a:srgbClr val="D9E5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609600" y="1657350"/>
            <a:ext cx="66675" cy="3714750"/>
          </a:xfrm>
          <a:prstGeom prst="rect">
            <a:avLst/>
          </a:prstGeom>
          <a:solidFill>
            <a:srgbClr val="EF6A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847725" y="1828800"/>
            <a:ext cx="4667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B1F33"/>
                </a:solidFill>
              </a:rPr>
              <a:t>Situación actual</a:t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847725" y="2200275"/>
            <a:ext cx="4667250" cy="30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chemeClr val="dk1"/>
                </a:solidFill>
              </a:rPr>
              <a:t>• Solicitudes por llamadas, WhatsApp y redes sociales.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125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chemeClr val="dk1"/>
                </a:solidFill>
              </a:rPr>
              <a:t>• Asignación y seguimiento realizados manualmente.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125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chemeClr val="dk1"/>
                </a:solidFill>
              </a:rPr>
              <a:t>• Información duplicada, incompleta o difícil de consultar.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6048375" y="1657350"/>
            <a:ext cx="5514975" cy="3714750"/>
          </a:xfrm>
          <a:prstGeom prst="roundRect">
            <a:avLst>
              <a:gd fmla="val 2051" name="adj"/>
            </a:avLst>
          </a:prstGeom>
          <a:solidFill>
            <a:srgbClr val="0B1F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6381750" y="1943100"/>
            <a:ext cx="4476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6B8D4"/>
                </a:solidFill>
              </a:rPr>
              <a:t>IMPACTO OPERACIONAL</a:t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6381750" y="2505075"/>
            <a:ext cx="361950" cy="28575"/>
          </a:xfrm>
          <a:prstGeom prst="rect">
            <a:avLst/>
          </a:prstGeom>
          <a:solidFill>
            <a:srgbClr val="16B8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6905625" y="2352675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6B8D4"/>
                </a:solidFill>
              </a:rPr>
              <a:t>CLIENTES</a:t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6905625" y="2609850"/>
            <a:ext cx="3905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FFFFFF"/>
                </a:solidFill>
              </a:rPr>
              <a:t>Demoras y poca visibilidad</a:t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6381750" y="3343275"/>
            <a:ext cx="361950" cy="28575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6905625" y="3190875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6B8D4"/>
                </a:solidFill>
              </a:rPr>
              <a:t>ADMINISTRACIÓN</a:t>
            </a: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6905625" y="3448050"/>
            <a:ext cx="3905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FFFFFF"/>
                </a:solidFill>
              </a:rPr>
              <a:t>Mayor carga y coordinación lenta</a:t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6381750" y="4181475"/>
            <a:ext cx="361950" cy="28575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6905625" y="4029075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6B8D4"/>
                </a:solidFill>
              </a:rPr>
              <a:t>TÉCNICOS</a:t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6905625" y="4286250"/>
            <a:ext cx="3905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FFFFFF"/>
                </a:solidFill>
              </a:rPr>
              <a:t>Datos y órdenes sin centralizar</a:t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609600" y="5772150"/>
            <a:ext cx="10477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2962FF"/>
                </a:solidFill>
              </a:rPr>
              <a:t>Resolverlo aplica transformación digital e Ingeniería en Informática.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6B8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609600" y="333375"/>
            <a:ext cx="5238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6B8D4"/>
                </a:solidFill>
              </a:rPr>
              <a:t>CONTEXTO Y PROPUESTA DE VALOR</a:t>
            </a:r>
            <a:endParaRPr/>
          </a:p>
        </p:txBody>
      </p:sp>
      <p:sp>
        <p:nvSpPr>
          <p:cNvPr id="84" name="Google Shape;84;p4"/>
          <p:cNvSpPr/>
          <p:nvPr/>
        </p:nvSpPr>
        <p:spPr>
          <a:xfrm>
            <a:off x="609600" y="647700"/>
            <a:ext cx="108585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0B1F33"/>
                </a:solidFill>
              </a:rPr>
              <a:t>Una solicitud cotidiana revela el valor de Técnico Ya</a:t>
            </a:r>
            <a:endParaRPr/>
          </a:p>
        </p:txBody>
      </p:sp>
      <p:sp>
        <p:nvSpPr>
          <p:cNvPr id="85" name="Google Shape;85;p4"/>
          <p:cNvSpPr/>
          <p:nvPr/>
        </p:nvSpPr>
        <p:spPr>
          <a:xfrm>
            <a:off x="609600" y="1285875"/>
            <a:ext cx="666750" cy="38100"/>
          </a:xfrm>
          <a:prstGeom prst="rect">
            <a:avLst/>
          </a:prstGeom>
          <a:solidFill>
            <a:srgbClr val="16B8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"/>
          <p:cNvSpPr/>
          <p:nvPr/>
        </p:nvSpPr>
        <p:spPr>
          <a:xfrm>
            <a:off x="11144250" y="6381750"/>
            <a:ext cx="4191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637586"/>
                </a:solidFill>
              </a:rPr>
              <a:t>04</a:t>
            </a:r>
            <a:endParaRPr/>
          </a:p>
        </p:txBody>
      </p:sp>
      <p:sp>
        <p:nvSpPr>
          <p:cNvPr id="87" name="Google Shape;87;p4"/>
          <p:cNvSpPr/>
          <p:nvPr/>
        </p:nvSpPr>
        <p:spPr>
          <a:xfrm>
            <a:off x="609600" y="1743075"/>
            <a:ext cx="2419350" cy="3095625"/>
          </a:xfrm>
          <a:prstGeom prst="roundRect">
            <a:avLst>
              <a:gd fmla="val 3150" name="adj"/>
            </a:avLst>
          </a:prstGeom>
          <a:solidFill>
            <a:srgbClr val="FFFFFF"/>
          </a:solidFill>
          <a:ln cap="flat" cmpd="sng" w="9525">
            <a:solidFill>
              <a:srgbClr val="D9E5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"/>
          <p:cNvSpPr/>
          <p:nvPr/>
        </p:nvSpPr>
        <p:spPr>
          <a:xfrm>
            <a:off x="819150" y="1981200"/>
            <a:ext cx="4000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2962FF"/>
                </a:solidFill>
              </a:rPr>
              <a:t>01</a:t>
            </a:r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819150" y="2505075"/>
            <a:ext cx="1952625" cy="295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B1F33"/>
                </a:solidFill>
              </a:rPr>
              <a:t>NECESIDAD</a:t>
            </a:r>
            <a:endParaRPr/>
          </a:p>
        </p:txBody>
      </p:sp>
      <p:sp>
        <p:nvSpPr>
          <p:cNvPr id="90" name="Google Shape;90;p4"/>
          <p:cNvSpPr/>
          <p:nvPr/>
        </p:nvSpPr>
        <p:spPr>
          <a:xfrm>
            <a:off x="819150" y="3071813"/>
            <a:ext cx="19527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637586"/>
                </a:solidFill>
              </a:rPr>
              <a:t>Un cliente requiere una reparación y registra su solicitud.</a:t>
            </a:r>
            <a:endParaRPr/>
          </a:p>
        </p:txBody>
      </p:sp>
      <p:sp>
        <p:nvSpPr>
          <p:cNvPr id="91" name="Google Shape;91;p4"/>
          <p:cNvSpPr/>
          <p:nvPr/>
        </p:nvSpPr>
        <p:spPr>
          <a:xfrm>
            <a:off x="819150" y="4410075"/>
            <a:ext cx="609600" cy="381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"/>
          <p:cNvSpPr/>
          <p:nvPr/>
        </p:nvSpPr>
        <p:spPr>
          <a:xfrm>
            <a:off x="3295650" y="1743075"/>
            <a:ext cx="2419350" cy="3095625"/>
          </a:xfrm>
          <a:prstGeom prst="roundRect">
            <a:avLst>
              <a:gd fmla="val 3150" name="adj"/>
            </a:avLst>
          </a:prstGeom>
          <a:solidFill>
            <a:srgbClr val="0B1F33"/>
          </a:solidFill>
          <a:ln cap="flat" cmpd="sng" w="9525">
            <a:solidFill>
              <a:srgbClr val="0B1F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"/>
          <p:cNvSpPr/>
          <p:nvPr/>
        </p:nvSpPr>
        <p:spPr>
          <a:xfrm>
            <a:off x="3505200" y="1981200"/>
            <a:ext cx="4000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16B8D4"/>
                </a:solidFill>
              </a:rPr>
              <a:t>02</a:t>
            </a:r>
            <a:endParaRPr/>
          </a:p>
        </p:txBody>
      </p:sp>
      <p:sp>
        <p:nvSpPr>
          <p:cNvPr id="94" name="Google Shape;94;p4"/>
          <p:cNvSpPr/>
          <p:nvPr/>
        </p:nvSpPr>
        <p:spPr>
          <a:xfrm>
            <a:off x="3505200" y="2505075"/>
            <a:ext cx="1952625" cy="295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</a:rPr>
              <a:t>COORDINACIÓN</a:t>
            </a:r>
            <a:endParaRPr/>
          </a:p>
        </p:txBody>
      </p:sp>
      <p:sp>
        <p:nvSpPr>
          <p:cNvPr id="95" name="Google Shape;95;p4"/>
          <p:cNvSpPr/>
          <p:nvPr/>
        </p:nvSpPr>
        <p:spPr>
          <a:xfrm>
            <a:off x="3505200" y="3057525"/>
            <a:ext cx="1952625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DCE8F1"/>
                </a:solidFill>
              </a:rPr>
              <a:t>El gestor revisa el caso y recibe técnicos recomendados.</a:t>
            </a:r>
            <a:endParaRPr/>
          </a:p>
        </p:txBody>
      </p:sp>
      <p:sp>
        <p:nvSpPr>
          <p:cNvPr id="96" name="Google Shape;96;p4"/>
          <p:cNvSpPr/>
          <p:nvPr/>
        </p:nvSpPr>
        <p:spPr>
          <a:xfrm>
            <a:off x="3505200" y="4410075"/>
            <a:ext cx="609600" cy="38100"/>
          </a:xfrm>
          <a:prstGeom prst="rect">
            <a:avLst/>
          </a:prstGeom>
          <a:solidFill>
            <a:srgbClr val="16B8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5981700" y="1743075"/>
            <a:ext cx="2419350" cy="3095625"/>
          </a:xfrm>
          <a:prstGeom prst="roundRect">
            <a:avLst>
              <a:gd fmla="val 3150" name="adj"/>
            </a:avLst>
          </a:prstGeom>
          <a:solidFill>
            <a:srgbClr val="FFFFFF"/>
          </a:solidFill>
          <a:ln cap="flat" cmpd="sng" w="9525">
            <a:solidFill>
              <a:srgbClr val="D9E5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"/>
          <p:cNvSpPr/>
          <p:nvPr/>
        </p:nvSpPr>
        <p:spPr>
          <a:xfrm>
            <a:off x="6191250" y="1981200"/>
            <a:ext cx="4000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2962FF"/>
                </a:solidFill>
              </a:rPr>
              <a:t>03</a:t>
            </a:r>
            <a:endParaRPr/>
          </a:p>
        </p:txBody>
      </p:sp>
      <p:sp>
        <p:nvSpPr>
          <p:cNvPr id="99" name="Google Shape;99;p4"/>
          <p:cNvSpPr/>
          <p:nvPr/>
        </p:nvSpPr>
        <p:spPr>
          <a:xfrm>
            <a:off x="6191250" y="2505075"/>
            <a:ext cx="1952625" cy="295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B1F33"/>
                </a:solidFill>
              </a:rPr>
              <a:t>ATENCIÓN</a:t>
            </a:r>
            <a:endParaRPr/>
          </a:p>
        </p:txBody>
      </p:sp>
      <p:sp>
        <p:nvSpPr>
          <p:cNvPr id="100" name="Google Shape;100;p4"/>
          <p:cNvSpPr/>
          <p:nvPr/>
        </p:nvSpPr>
        <p:spPr>
          <a:xfrm>
            <a:off x="6191250" y="3017050"/>
            <a:ext cx="19527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637586"/>
                </a:solidFill>
              </a:rPr>
              <a:t>El técnico consulta la ruta, valida el inicio y registra evidencias.</a:t>
            </a:r>
            <a:endParaRPr/>
          </a:p>
        </p:txBody>
      </p:sp>
      <p:sp>
        <p:nvSpPr>
          <p:cNvPr id="101" name="Google Shape;101;p4"/>
          <p:cNvSpPr/>
          <p:nvPr/>
        </p:nvSpPr>
        <p:spPr>
          <a:xfrm>
            <a:off x="6191250" y="4410075"/>
            <a:ext cx="609600" cy="381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"/>
          <p:cNvSpPr/>
          <p:nvPr/>
        </p:nvSpPr>
        <p:spPr>
          <a:xfrm>
            <a:off x="8667750" y="1743075"/>
            <a:ext cx="2419350" cy="3095625"/>
          </a:xfrm>
          <a:prstGeom prst="roundRect">
            <a:avLst>
              <a:gd fmla="val 3150" name="adj"/>
            </a:avLst>
          </a:prstGeom>
          <a:solidFill>
            <a:srgbClr val="FFFFFF"/>
          </a:solidFill>
          <a:ln cap="flat" cmpd="sng" w="9525">
            <a:solidFill>
              <a:srgbClr val="D9E5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"/>
          <p:cNvSpPr/>
          <p:nvPr/>
        </p:nvSpPr>
        <p:spPr>
          <a:xfrm>
            <a:off x="8877300" y="1981200"/>
            <a:ext cx="4000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2962FF"/>
                </a:solidFill>
              </a:rPr>
              <a:t>04</a:t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8877300" y="2505075"/>
            <a:ext cx="1952625" cy="295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B1F33"/>
                </a:solidFill>
              </a:rPr>
              <a:t>CIERRE</a:t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8877300" y="3057525"/>
            <a:ext cx="1952625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637586"/>
                </a:solidFill>
              </a:rPr>
              <a:t>El cliente confirma el término y la empresa conserva la trazabilidad.</a:t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8877300" y="4410075"/>
            <a:ext cx="609600" cy="38100"/>
          </a:xfrm>
          <a:prstGeom prst="rect">
            <a:avLst/>
          </a:prstGeom>
          <a:solidFill>
            <a:srgbClr val="55C0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"/>
          <p:cNvSpPr/>
          <p:nvPr/>
        </p:nvSpPr>
        <p:spPr>
          <a:xfrm>
            <a:off x="1428750" y="5305425"/>
            <a:ext cx="9334500" cy="609600"/>
          </a:xfrm>
          <a:prstGeom prst="roundRect">
            <a:avLst>
              <a:gd fmla="val 12500" name="adj"/>
            </a:avLst>
          </a:prstGeom>
          <a:solidFill>
            <a:srgbClr val="DF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"/>
          <p:cNvSpPr/>
          <p:nvPr/>
        </p:nvSpPr>
        <p:spPr>
          <a:xfrm>
            <a:off x="1676400" y="5400675"/>
            <a:ext cx="88392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B1F33"/>
                </a:solidFill>
              </a:rPr>
              <a:t>Propuesta de valor: centralizar la gestión y entregar visibilidad a clientes, gestores y técnicos.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6B8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"/>
          <p:cNvSpPr/>
          <p:nvPr/>
        </p:nvSpPr>
        <p:spPr>
          <a:xfrm>
            <a:off x="609600" y="333375"/>
            <a:ext cx="5238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6B8D4"/>
                </a:solidFill>
              </a:rPr>
              <a:t>SOLUCIÓN PROPUESTA</a:t>
            </a:r>
            <a:endParaRPr/>
          </a:p>
        </p:txBody>
      </p:sp>
      <p:sp>
        <p:nvSpPr>
          <p:cNvPr id="116" name="Google Shape;116;p5"/>
          <p:cNvSpPr/>
          <p:nvPr/>
        </p:nvSpPr>
        <p:spPr>
          <a:xfrm>
            <a:off x="609600" y="647700"/>
            <a:ext cx="108585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0B1F33"/>
                </a:solidFill>
              </a:rPr>
              <a:t>Una plataforma integrada acompaña todo el ciclo</a:t>
            </a:r>
            <a:endParaRPr/>
          </a:p>
        </p:txBody>
      </p:sp>
      <p:sp>
        <p:nvSpPr>
          <p:cNvPr id="117" name="Google Shape;117;p5"/>
          <p:cNvSpPr/>
          <p:nvPr/>
        </p:nvSpPr>
        <p:spPr>
          <a:xfrm>
            <a:off x="609600" y="1285875"/>
            <a:ext cx="666750" cy="38100"/>
          </a:xfrm>
          <a:prstGeom prst="rect">
            <a:avLst/>
          </a:prstGeom>
          <a:solidFill>
            <a:srgbClr val="16B8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"/>
          <p:cNvSpPr/>
          <p:nvPr/>
        </p:nvSpPr>
        <p:spPr>
          <a:xfrm>
            <a:off x="11144250" y="6381750"/>
            <a:ext cx="4191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637586"/>
                </a:solidFill>
              </a:rPr>
              <a:t>05</a:t>
            </a:r>
            <a:endParaRPr/>
          </a:p>
        </p:txBody>
      </p:sp>
      <p:sp>
        <p:nvSpPr>
          <p:cNvPr id="119" name="Google Shape;119;p5"/>
          <p:cNvSpPr/>
          <p:nvPr/>
        </p:nvSpPr>
        <p:spPr>
          <a:xfrm>
            <a:off x="2000250" y="2952750"/>
            <a:ext cx="895350" cy="38100"/>
          </a:xfrm>
          <a:prstGeom prst="rect">
            <a:avLst/>
          </a:prstGeom>
          <a:solidFill>
            <a:srgbClr val="D9E5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"/>
          <p:cNvSpPr/>
          <p:nvPr/>
        </p:nvSpPr>
        <p:spPr>
          <a:xfrm>
            <a:off x="4191000" y="2952750"/>
            <a:ext cx="895350" cy="38100"/>
          </a:xfrm>
          <a:prstGeom prst="rect">
            <a:avLst/>
          </a:prstGeom>
          <a:solidFill>
            <a:srgbClr val="D9E5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"/>
          <p:cNvSpPr/>
          <p:nvPr/>
        </p:nvSpPr>
        <p:spPr>
          <a:xfrm>
            <a:off x="6381750" y="2952750"/>
            <a:ext cx="895350" cy="38100"/>
          </a:xfrm>
          <a:prstGeom prst="rect">
            <a:avLst/>
          </a:prstGeom>
          <a:solidFill>
            <a:srgbClr val="D9E5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"/>
          <p:cNvSpPr/>
          <p:nvPr/>
        </p:nvSpPr>
        <p:spPr>
          <a:xfrm>
            <a:off x="8572500" y="2952750"/>
            <a:ext cx="895350" cy="38100"/>
          </a:xfrm>
          <a:prstGeom prst="rect">
            <a:avLst/>
          </a:prstGeom>
          <a:solidFill>
            <a:srgbClr val="D9E5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"/>
          <p:cNvSpPr/>
          <p:nvPr/>
        </p:nvSpPr>
        <p:spPr>
          <a:xfrm>
            <a:off x="704850" y="2495550"/>
            <a:ext cx="876300" cy="8763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9E5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"/>
          <p:cNvSpPr/>
          <p:nvPr/>
        </p:nvSpPr>
        <p:spPr>
          <a:xfrm>
            <a:off x="895350" y="2619375"/>
            <a:ext cx="495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2962FF"/>
                </a:solidFill>
              </a:rPr>
              <a:t>01</a:t>
            </a:r>
            <a:endParaRPr/>
          </a:p>
        </p:txBody>
      </p:sp>
      <p:sp>
        <p:nvSpPr>
          <p:cNvPr id="125" name="Google Shape;125;p5"/>
          <p:cNvSpPr/>
          <p:nvPr/>
        </p:nvSpPr>
        <p:spPr>
          <a:xfrm>
            <a:off x="438150" y="3476625"/>
            <a:ext cx="1428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B1F33"/>
                </a:solidFill>
              </a:rPr>
              <a:t>SOLICITUD</a:t>
            </a:r>
            <a:endParaRPr/>
          </a:p>
        </p:txBody>
      </p:sp>
      <p:sp>
        <p:nvSpPr>
          <p:cNvPr id="126" name="Google Shape;126;p5"/>
          <p:cNvSpPr/>
          <p:nvPr/>
        </p:nvSpPr>
        <p:spPr>
          <a:xfrm>
            <a:off x="628650" y="3819525"/>
            <a:ext cx="10477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75">
                <a:solidFill>
                  <a:srgbClr val="637586"/>
                </a:solidFill>
              </a:rPr>
              <a:t>Cliente</a:t>
            </a:r>
            <a:endParaRPr/>
          </a:p>
        </p:txBody>
      </p:sp>
      <p:sp>
        <p:nvSpPr>
          <p:cNvPr id="127" name="Google Shape;127;p5"/>
          <p:cNvSpPr/>
          <p:nvPr/>
        </p:nvSpPr>
        <p:spPr>
          <a:xfrm>
            <a:off x="2895600" y="2495550"/>
            <a:ext cx="876300" cy="8763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9E5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"/>
          <p:cNvSpPr/>
          <p:nvPr/>
        </p:nvSpPr>
        <p:spPr>
          <a:xfrm>
            <a:off x="3086100" y="2619375"/>
            <a:ext cx="495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2962FF"/>
                </a:solidFill>
              </a:rPr>
              <a:t>02</a:t>
            </a:r>
            <a:endParaRPr/>
          </a:p>
        </p:txBody>
      </p:sp>
      <p:sp>
        <p:nvSpPr>
          <p:cNvPr id="129" name="Google Shape;129;p5"/>
          <p:cNvSpPr/>
          <p:nvPr/>
        </p:nvSpPr>
        <p:spPr>
          <a:xfrm>
            <a:off x="2628900" y="3476625"/>
            <a:ext cx="1428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B1F33"/>
                </a:solidFill>
              </a:rPr>
              <a:t>REVISIÓN</a:t>
            </a:r>
            <a:endParaRPr/>
          </a:p>
        </p:txBody>
      </p:sp>
      <p:sp>
        <p:nvSpPr>
          <p:cNvPr id="130" name="Google Shape;130;p5"/>
          <p:cNvSpPr/>
          <p:nvPr/>
        </p:nvSpPr>
        <p:spPr>
          <a:xfrm>
            <a:off x="2819400" y="3819525"/>
            <a:ext cx="10477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75">
                <a:solidFill>
                  <a:srgbClr val="637586"/>
                </a:solidFill>
              </a:rPr>
              <a:t>Gestor</a:t>
            </a:r>
            <a:endParaRPr/>
          </a:p>
        </p:txBody>
      </p:sp>
      <p:sp>
        <p:nvSpPr>
          <p:cNvPr id="131" name="Google Shape;131;p5"/>
          <p:cNvSpPr/>
          <p:nvPr/>
        </p:nvSpPr>
        <p:spPr>
          <a:xfrm>
            <a:off x="5086350" y="2495550"/>
            <a:ext cx="876300" cy="876300"/>
          </a:xfrm>
          <a:prstGeom prst="ellipse">
            <a:avLst/>
          </a:prstGeom>
          <a:solidFill>
            <a:srgbClr val="16B8D4"/>
          </a:solidFill>
          <a:ln cap="flat" cmpd="sng" w="9525">
            <a:solidFill>
              <a:srgbClr val="16B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"/>
          <p:cNvSpPr/>
          <p:nvPr/>
        </p:nvSpPr>
        <p:spPr>
          <a:xfrm>
            <a:off x="5276850" y="2619375"/>
            <a:ext cx="495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0B1F33"/>
                </a:solidFill>
              </a:rPr>
              <a:t>03</a:t>
            </a:r>
            <a:endParaRPr/>
          </a:p>
        </p:txBody>
      </p:sp>
      <p:sp>
        <p:nvSpPr>
          <p:cNvPr id="133" name="Google Shape;133;p5"/>
          <p:cNvSpPr/>
          <p:nvPr/>
        </p:nvSpPr>
        <p:spPr>
          <a:xfrm>
            <a:off x="4819650" y="3476625"/>
            <a:ext cx="1428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B1F33"/>
                </a:solidFill>
              </a:rPr>
              <a:t>ASIGNACIÓN</a:t>
            </a:r>
            <a:endParaRPr/>
          </a:p>
        </p:txBody>
      </p:sp>
      <p:sp>
        <p:nvSpPr>
          <p:cNvPr id="134" name="Google Shape;134;p5"/>
          <p:cNvSpPr/>
          <p:nvPr/>
        </p:nvSpPr>
        <p:spPr>
          <a:xfrm>
            <a:off x="5010150" y="3819525"/>
            <a:ext cx="10477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75">
                <a:solidFill>
                  <a:srgbClr val="637586"/>
                </a:solidFill>
              </a:rPr>
              <a:t>Sistema</a:t>
            </a:r>
            <a:endParaRPr/>
          </a:p>
        </p:txBody>
      </p:sp>
      <p:sp>
        <p:nvSpPr>
          <p:cNvPr id="135" name="Google Shape;135;p5"/>
          <p:cNvSpPr/>
          <p:nvPr/>
        </p:nvSpPr>
        <p:spPr>
          <a:xfrm>
            <a:off x="7277100" y="2495550"/>
            <a:ext cx="876300" cy="8763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9E5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"/>
          <p:cNvSpPr/>
          <p:nvPr/>
        </p:nvSpPr>
        <p:spPr>
          <a:xfrm>
            <a:off x="7467600" y="2619375"/>
            <a:ext cx="495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2962FF"/>
                </a:solidFill>
              </a:rPr>
              <a:t>04</a:t>
            </a:r>
            <a:endParaRPr/>
          </a:p>
        </p:txBody>
      </p:sp>
      <p:sp>
        <p:nvSpPr>
          <p:cNvPr id="137" name="Google Shape;137;p5"/>
          <p:cNvSpPr/>
          <p:nvPr/>
        </p:nvSpPr>
        <p:spPr>
          <a:xfrm>
            <a:off x="7010400" y="3476625"/>
            <a:ext cx="1428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B1F33"/>
                </a:solidFill>
              </a:rPr>
              <a:t>EJECUCIÓN</a:t>
            </a:r>
            <a:endParaRPr/>
          </a:p>
        </p:txBody>
      </p:sp>
      <p:sp>
        <p:nvSpPr>
          <p:cNvPr id="138" name="Google Shape;138;p5"/>
          <p:cNvSpPr/>
          <p:nvPr/>
        </p:nvSpPr>
        <p:spPr>
          <a:xfrm>
            <a:off x="7200900" y="3819525"/>
            <a:ext cx="10477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75">
                <a:solidFill>
                  <a:srgbClr val="637586"/>
                </a:solidFill>
              </a:rPr>
              <a:t>Técnico</a:t>
            </a:r>
            <a:endParaRPr/>
          </a:p>
        </p:txBody>
      </p:sp>
      <p:sp>
        <p:nvSpPr>
          <p:cNvPr id="139" name="Google Shape;139;p5"/>
          <p:cNvSpPr/>
          <p:nvPr/>
        </p:nvSpPr>
        <p:spPr>
          <a:xfrm>
            <a:off x="9467850" y="2495550"/>
            <a:ext cx="876300" cy="8763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D9E5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"/>
          <p:cNvSpPr/>
          <p:nvPr/>
        </p:nvSpPr>
        <p:spPr>
          <a:xfrm>
            <a:off x="9658350" y="2619375"/>
            <a:ext cx="495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2962FF"/>
                </a:solidFill>
              </a:rPr>
              <a:t>05</a:t>
            </a:r>
            <a:endParaRPr/>
          </a:p>
        </p:txBody>
      </p:sp>
      <p:sp>
        <p:nvSpPr>
          <p:cNvPr id="141" name="Google Shape;141;p5"/>
          <p:cNvSpPr/>
          <p:nvPr/>
        </p:nvSpPr>
        <p:spPr>
          <a:xfrm>
            <a:off x="9201150" y="3476625"/>
            <a:ext cx="1428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B1F33"/>
                </a:solidFill>
              </a:rPr>
              <a:t>CIERRE</a:t>
            </a:r>
            <a:endParaRPr/>
          </a:p>
        </p:txBody>
      </p:sp>
      <p:sp>
        <p:nvSpPr>
          <p:cNvPr id="142" name="Google Shape;142;p5"/>
          <p:cNvSpPr/>
          <p:nvPr/>
        </p:nvSpPr>
        <p:spPr>
          <a:xfrm>
            <a:off x="9391650" y="3819525"/>
            <a:ext cx="10477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75">
                <a:solidFill>
                  <a:srgbClr val="637586"/>
                </a:solidFill>
              </a:rPr>
              <a:t>Solicitante</a:t>
            </a:r>
            <a:endParaRPr/>
          </a:p>
        </p:txBody>
      </p:sp>
      <p:sp>
        <p:nvSpPr>
          <p:cNvPr id="143" name="Google Shape;143;p5"/>
          <p:cNvSpPr/>
          <p:nvPr/>
        </p:nvSpPr>
        <p:spPr>
          <a:xfrm>
            <a:off x="1524000" y="4705350"/>
            <a:ext cx="9144000" cy="723900"/>
          </a:xfrm>
          <a:prstGeom prst="roundRect">
            <a:avLst>
              <a:gd fmla="val 10526" name="adj"/>
            </a:avLst>
          </a:prstGeom>
          <a:solidFill>
            <a:srgbClr val="DF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"/>
          <p:cNvSpPr/>
          <p:nvPr/>
        </p:nvSpPr>
        <p:spPr>
          <a:xfrm>
            <a:off x="1809750" y="4838700"/>
            <a:ext cx="8572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B1F33"/>
                </a:solidFill>
              </a:rPr>
              <a:t>Una sola base de datos mantiene la trazabilidad desde la solicitud hasta la finalización.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6B8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"/>
          <p:cNvSpPr/>
          <p:nvPr/>
        </p:nvSpPr>
        <p:spPr>
          <a:xfrm>
            <a:off x="609600" y="333375"/>
            <a:ext cx="5238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6B8D4"/>
                </a:solidFill>
              </a:rPr>
              <a:t>COMPONENTES </a:t>
            </a:r>
            <a:r>
              <a:rPr b="1" lang="en-US" sz="900">
                <a:solidFill>
                  <a:srgbClr val="16B8D4"/>
                </a:solidFill>
              </a:rPr>
              <a:t>FUNCIONAL</a:t>
            </a:r>
            <a:endParaRPr/>
          </a:p>
        </p:txBody>
      </p:sp>
      <p:sp>
        <p:nvSpPr>
          <p:cNvPr id="152" name="Google Shape;152;p6"/>
          <p:cNvSpPr/>
          <p:nvPr/>
        </p:nvSpPr>
        <p:spPr>
          <a:xfrm>
            <a:off x="609600" y="573950"/>
            <a:ext cx="108585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0B1F33"/>
                </a:solidFill>
              </a:rPr>
              <a:t>Cuatro componentes</a:t>
            </a:r>
            <a:endParaRPr/>
          </a:p>
        </p:txBody>
      </p:sp>
      <p:sp>
        <p:nvSpPr>
          <p:cNvPr id="153" name="Google Shape;153;p6"/>
          <p:cNvSpPr/>
          <p:nvPr/>
        </p:nvSpPr>
        <p:spPr>
          <a:xfrm>
            <a:off x="609600" y="1285875"/>
            <a:ext cx="666750" cy="38100"/>
          </a:xfrm>
          <a:prstGeom prst="rect">
            <a:avLst/>
          </a:prstGeom>
          <a:solidFill>
            <a:srgbClr val="16B8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"/>
          <p:cNvSpPr/>
          <p:nvPr/>
        </p:nvSpPr>
        <p:spPr>
          <a:xfrm>
            <a:off x="11144250" y="6381750"/>
            <a:ext cx="4191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637586"/>
                </a:solidFill>
              </a:rPr>
              <a:t>06</a:t>
            </a:r>
            <a:endParaRPr/>
          </a:p>
        </p:txBody>
      </p:sp>
      <p:sp>
        <p:nvSpPr>
          <p:cNvPr id="155" name="Google Shape;155;p6"/>
          <p:cNvSpPr/>
          <p:nvPr/>
        </p:nvSpPr>
        <p:spPr>
          <a:xfrm>
            <a:off x="609600" y="1714500"/>
            <a:ext cx="2419350" cy="3143250"/>
          </a:xfrm>
          <a:prstGeom prst="roundRect">
            <a:avLst>
              <a:gd fmla="val 3150" name="adj"/>
            </a:avLst>
          </a:prstGeom>
          <a:solidFill>
            <a:srgbClr val="FFFFFF"/>
          </a:solidFill>
          <a:ln cap="flat" cmpd="sng" w="9525">
            <a:solidFill>
              <a:srgbClr val="D9E5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"/>
          <p:cNvSpPr/>
          <p:nvPr/>
        </p:nvSpPr>
        <p:spPr>
          <a:xfrm>
            <a:off x="609600" y="1714500"/>
            <a:ext cx="2419350" cy="9525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6"/>
          <p:cNvSpPr/>
          <p:nvPr/>
        </p:nvSpPr>
        <p:spPr>
          <a:xfrm>
            <a:off x="819150" y="2019300"/>
            <a:ext cx="428625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2962FF"/>
                </a:solidFill>
              </a:rPr>
              <a:t>01</a:t>
            </a:r>
            <a:endParaRPr/>
          </a:p>
        </p:txBody>
      </p:sp>
      <p:sp>
        <p:nvSpPr>
          <p:cNvPr id="158" name="Google Shape;158;p6"/>
          <p:cNvSpPr/>
          <p:nvPr/>
        </p:nvSpPr>
        <p:spPr>
          <a:xfrm>
            <a:off x="819150" y="2514600"/>
            <a:ext cx="2000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0B1F33"/>
                </a:solidFill>
              </a:rPr>
              <a:t>WEB</a:t>
            </a:r>
            <a:endParaRPr/>
          </a:p>
        </p:txBody>
      </p:sp>
      <p:sp>
        <p:nvSpPr>
          <p:cNvPr id="159" name="Google Shape;159;p6"/>
          <p:cNvSpPr/>
          <p:nvPr/>
        </p:nvSpPr>
        <p:spPr>
          <a:xfrm>
            <a:off x="819150" y="3048000"/>
            <a:ext cx="19812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637586"/>
                </a:solidFill>
              </a:rPr>
              <a:t>Solicitudes, clientes, servicios, asignaciones y dashboard.</a:t>
            </a:r>
            <a:endParaRPr/>
          </a:p>
        </p:txBody>
      </p:sp>
      <p:sp>
        <p:nvSpPr>
          <p:cNvPr id="160" name="Google Shape;160;p6"/>
          <p:cNvSpPr/>
          <p:nvPr/>
        </p:nvSpPr>
        <p:spPr>
          <a:xfrm>
            <a:off x="819150" y="4276725"/>
            <a:ext cx="1219200" cy="323850"/>
          </a:xfrm>
          <a:prstGeom prst="roundRect">
            <a:avLst>
              <a:gd fmla="val 23529" name="adj"/>
            </a:avLst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"/>
          <p:cNvSpPr/>
          <p:nvPr/>
        </p:nvSpPr>
        <p:spPr>
          <a:xfrm>
            <a:off x="914400" y="4295775"/>
            <a:ext cx="10287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0B1F33"/>
                </a:solidFill>
              </a:rPr>
              <a:t>INTERFAZ</a:t>
            </a:r>
            <a:endParaRPr/>
          </a:p>
        </p:txBody>
      </p:sp>
      <p:sp>
        <p:nvSpPr>
          <p:cNvPr id="162" name="Google Shape;162;p6"/>
          <p:cNvSpPr/>
          <p:nvPr/>
        </p:nvSpPr>
        <p:spPr>
          <a:xfrm>
            <a:off x="3333750" y="1714500"/>
            <a:ext cx="2419350" cy="3143250"/>
          </a:xfrm>
          <a:prstGeom prst="roundRect">
            <a:avLst>
              <a:gd fmla="val 3150" name="adj"/>
            </a:avLst>
          </a:prstGeom>
          <a:solidFill>
            <a:srgbClr val="FFFFFF"/>
          </a:solidFill>
          <a:ln cap="flat" cmpd="sng" w="9525">
            <a:solidFill>
              <a:srgbClr val="D9E5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"/>
          <p:cNvSpPr/>
          <p:nvPr/>
        </p:nvSpPr>
        <p:spPr>
          <a:xfrm>
            <a:off x="3333750" y="1714500"/>
            <a:ext cx="2419350" cy="95250"/>
          </a:xfrm>
          <a:prstGeom prst="rect">
            <a:avLst/>
          </a:prstGeom>
          <a:solidFill>
            <a:srgbClr val="16B8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"/>
          <p:cNvSpPr/>
          <p:nvPr/>
        </p:nvSpPr>
        <p:spPr>
          <a:xfrm>
            <a:off x="3543300" y="2019300"/>
            <a:ext cx="428625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16B8D4"/>
                </a:solidFill>
              </a:rPr>
              <a:t>02</a:t>
            </a:r>
            <a:endParaRPr/>
          </a:p>
        </p:txBody>
      </p:sp>
      <p:sp>
        <p:nvSpPr>
          <p:cNvPr id="165" name="Google Shape;165;p6"/>
          <p:cNvSpPr/>
          <p:nvPr/>
        </p:nvSpPr>
        <p:spPr>
          <a:xfrm>
            <a:off x="3543300" y="2514600"/>
            <a:ext cx="2000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0B1F33"/>
                </a:solidFill>
              </a:rPr>
              <a:t>APP MÓVIL</a:t>
            </a:r>
            <a:endParaRPr/>
          </a:p>
        </p:txBody>
      </p:sp>
      <p:sp>
        <p:nvSpPr>
          <p:cNvPr id="166" name="Google Shape;166;p6"/>
          <p:cNvSpPr/>
          <p:nvPr/>
        </p:nvSpPr>
        <p:spPr>
          <a:xfrm>
            <a:off x="3543300" y="3048000"/>
            <a:ext cx="19812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637586"/>
                </a:solidFill>
              </a:rPr>
              <a:t>Órdenes, mapas, códigos, estados y evidencias.</a:t>
            </a: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3543300" y="4276725"/>
            <a:ext cx="1219200" cy="323850"/>
          </a:xfrm>
          <a:prstGeom prst="roundRect">
            <a:avLst>
              <a:gd fmla="val 23529" name="adj"/>
            </a:avLst>
          </a:prstGeom>
          <a:solidFill>
            <a:srgbClr val="16B8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"/>
          <p:cNvSpPr/>
          <p:nvPr/>
        </p:nvSpPr>
        <p:spPr>
          <a:xfrm>
            <a:off x="3638550" y="4295775"/>
            <a:ext cx="10287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0B1F33"/>
                </a:solidFill>
              </a:rPr>
              <a:t>INTERFAZ</a:t>
            </a:r>
            <a:endParaRPr/>
          </a:p>
        </p:txBody>
      </p:sp>
      <p:sp>
        <p:nvSpPr>
          <p:cNvPr id="169" name="Google Shape;169;p6"/>
          <p:cNvSpPr/>
          <p:nvPr/>
        </p:nvSpPr>
        <p:spPr>
          <a:xfrm>
            <a:off x="6057900" y="1714500"/>
            <a:ext cx="2419350" cy="3143250"/>
          </a:xfrm>
          <a:prstGeom prst="roundRect">
            <a:avLst>
              <a:gd fmla="val 3150" name="adj"/>
            </a:avLst>
          </a:prstGeom>
          <a:solidFill>
            <a:srgbClr val="FFFFFF"/>
          </a:solidFill>
          <a:ln cap="flat" cmpd="sng" w="9525">
            <a:solidFill>
              <a:srgbClr val="D9E5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6"/>
          <p:cNvSpPr/>
          <p:nvPr/>
        </p:nvSpPr>
        <p:spPr>
          <a:xfrm>
            <a:off x="6057900" y="1714500"/>
            <a:ext cx="2419350" cy="95250"/>
          </a:xfrm>
          <a:prstGeom prst="rect">
            <a:avLst/>
          </a:prstGeom>
          <a:solidFill>
            <a:srgbClr val="55C0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6"/>
          <p:cNvSpPr/>
          <p:nvPr/>
        </p:nvSpPr>
        <p:spPr>
          <a:xfrm>
            <a:off x="6267450" y="2019300"/>
            <a:ext cx="428625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5C08A"/>
                </a:solidFill>
              </a:rPr>
              <a:t>03</a:t>
            </a:r>
            <a:endParaRPr/>
          </a:p>
        </p:txBody>
      </p:sp>
      <p:sp>
        <p:nvSpPr>
          <p:cNvPr id="172" name="Google Shape;172;p6"/>
          <p:cNvSpPr/>
          <p:nvPr/>
        </p:nvSpPr>
        <p:spPr>
          <a:xfrm>
            <a:off x="6267450" y="2514600"/>
            <a:ext cx="2000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0B1F33"/>
                </a:solidFill>
              </a:rPr>
              <a:t>BACKEND / API</a:t>
            </a:r>
            <a:endParaRPr/>
          </a:p>
        </p:txBody>
      </p:sp>
      <p:sp>
        <p:nvSpPr>
          <p:cNvPr id="173" name="Google Shape;173;p6"/>
          <p:cNvSpPr/>
          <p:nvPr/>
        </p:nvSpPr>
        <p:spPr>
          <a:xfrm>
            <a:off x="6267450" y="3048000"/>
            <a:ext cx="19812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637586"/>
                </a:solidFill>
              </a:rPr>
              <a:t>Autenticación, permisos, reglas e integraciones.</a:t>
            </a:r>
            <a:endParaRPr/>
          </a:p>
        </p:txBody>
      </p:sp>
      <p:sp>
        <p:nvSpPr>
          <p:cNvPr id="174" name="Google Shape;174;p6"/>
          <p:cNvSpPr/>
          <p:nvPr/>
        </p:nvSpPr>
        <p:spPr>
          <a:xfrm>
            <a:off x="6267450" y="4276725"/>
            <a:ext cx="1219200" cy="323850"/>
          </a:xfrm>
          <a:prstGeom prst="roundRect">
            <a:avLst>
              <a:gd fmla="val 23529" name="adj"/>
            </a:avLst>
          </a:prstGeom>
          <a:solidFill>
            <a:srgbClr val="55C0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"/>
          <p:cNvSpPr/>
          <p:nvPr/>
        </p:nvSpPr>
        <p:spPr>
          <a:xfrm>
            <a:off x="6362700" y="4295775"/>
            <a:ext cx="10287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0B1F33"/>
                </a:solidFill>
              </a:rPr>
              <a:t>LÓGICA</a:t>
            </a:r>
            <a:endParaRPr/>
          </a:p>
        </p:txBody>
      </p:sp>
      <p:sp>
        <p:nvSpPr>
          <p:cNvPr id="176" name="Google Shape;176;p6"/>
          <p:cNvSpPr/>
          <p:nvPr/>
        </p:nvSpPr>
        <p:spPr>
          <a:xfrm>
            <a:off x="8782050" y="1714500"/>
            <a:ext cx="2419350" cy="3143250"/>
          </a:xfrm>
          <a:prstGeom prst="roundRect">
            <a:avLst>
              <a:gd fmla="val 3150" name="adj"/>
            </a:avLst>
          </a:prstGeom>
          <a:solidFill>
            <a:srgbClr val="FFFFFF"/>
          </a:solidFill>
          <a:ln cap="flat" cmpd="sng" w="9525">
            <a:solidFill>
              <a:srgbClr val="D9E5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6"/>
          <p:cNvSpPr/>
          <p:nvPr/>
        </p:nvSpPr>
        <p:spPr>
          <a:xfrm>
            <a:off x="8782050" y="1714500"/>
            <a:ext cx="2419350" cy="95250"/>
          </a:xfrm>
          <a:prstGeom prst="rect">
            <a:avLst/>
          </a:prstGeom>
          <a:solidFill>
            <a:srgbClr val="F5B6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6"/>
          <p:cNvSpPr/>
          <p:nvPr/>
        </p:nvSpPr>
        <p:spPr>
          <a:xfrm>
            <a:off x="8991600" y="2019300"/>
            <a:ext cx="428625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F5B63C"/>
                </a:solidFill>
              </a:rPr>
              <a:t>04</a:t>
            </a:r>
            <a:endParaRPr/>
          </a:p>
        </p:txBody>
      </p:sp>
      <p:sp>
        <p:nvSpPr>
          <p:cNvPr id="179" name="Google Shape;179;p6"/>
          <p:cNvSpPr/>
          <p:nvPr/>
        </p:nvSpPr>
        <p:spPr>
          <a:xfrm>
            <a:off x="8991600" y="2514600"/>
            <a:ext cx="2000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0B1F33"/>
                </a:solidFill>
              </a:rPr>
              <a:t>BASE DE DATOS</a:t>
            </a:r>
            <a:endParaRPr/>
          </a:p>
        </p:txBody>
      </p:sp>
      <p:sp>
        <p:nvSpPr>
          <p:cNvPr id="180" name="Google Shape;180;p6"/>
          <p:cNvSpPr/>
          <p:nvPr/>
        </p:nvSpPr>
        <p:spPr>
          <a:xfrm>
            <a:off x="8991600" y="3048000"/>
            <a:ext cx="19812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637586"/>
                </a:solidFill>
              </a:rPr>
              <a:t>Usuarios, históricos, órdenes y evidencias.</a:t>
            </a:r>
            <a:endParaRPr/>
          </a:p>
        </p:txBody>
      </p:sp>
      <p:sp>
        <p:nvSpPr>
          <p:cNvPr id="181" name="Google Shape;181;p6"/>
          <p:cNvSpPr/>
          <p:nvPr/>
        </p:nvSpPr>
        <p:spPr>
          <a:xfrm>
            <a:off x="8991600" y="4276725"/>
            <a:ext cx="1219200" cy="323850"/>
          </a:xfrm>
          <a:prstGeom prst="roundRect">
            <a:avLst>
              <a:gd fmla="val 23529" name="adj"/>
            </a:avLst>
          </a:prstGeom>
          <a:solidFill>
            <a:srgbClr val="F5B6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6"/>
          <p:cNvSpPr/>
          <p:nvPr/>
        </p:nvSpPr>
        <p:spPr>
          <a:xfrm>
            <a:off x="9086850" y="4295775"/>
            <a:ext cx="10287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0B1F33"/>
                </a:solidFill>
              </a:rPr>
              <a:t>INFORMACIÓN</a:t>
            </a:r>
            <a:endParaRPr/>
          </a:p>
        </p:txBody>
      </p:sp>
      <p:sp>
        <p:nvSpPr>
          <p:cNvPr id="183" name="Google Shape;183;p6"/>
          <p:cNvSpPr/>
          <p:nvPr/>
        </p:nvSpPr>
        <p:spPr>
          <a:xfrm>
            <a:off x="609600" y="5334000"/>
            <a:ext cx="105727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53047"/>
                </a:solidFill>
              </a:rPr>
              <a:t>Servicios externos: mapas, geolocalización, notificaciones y almacenamiento de fotografías.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6B8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7"/>
          <p:cNvSpPr/>
          <p:nvPr/>
        </p:nvSpPr>
        <p:spPr>
          <a:xfrm>
            <a:off x="609600" y="333375"/>
            <a:ext cx="5238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6B8D4"/>
                </a:solidFill>
              </a:rPr>
              <a:t>PERFIL DE EGRESO</a:t>
            </a:r>
            <a:endParaRPr/>
          </a:p>
        </p:txBody>
      </p:sp>
      <p:sp>
        <p:nvSpPr>
          <p:cNvPr id="191" name="Google Shape;191;p7"/>
          <p:cNvSpPr/>
          <p:nvPr/>
        </p:nvSpPr>
        <p:spPr>
          <a:xfrm>
            <a:off x="609600" y="647700"/>
            <a:ext cx="108585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0B1F33"/>
                </a:solidFill>
              </a:rPr>
              <a:t>El proyecto integra las competencias centrales de la carrera</a:t>
            </a:r>
            <a:endParaRPr/>
          </a:p>
        </p:txBody>
      </p:sp>
      <p:sp>
        <p:nvSpPr>
          <p:cNvPr id="192" name="Google Shape;192;p7"/>
          <p:cNvSpPr/>
          <p:nvPr/>
        </p:nvSpPr>
        <p:spPr>
          <a:xfrm>
            <a:off x="609600" y="1285875"/>
            <a:ext cx="666750" cy="38100"/>
          </a:xfrm>
          <a:prstGeom prst="rect">
            <a:avLst/>
          </a:prstGeom>
          <a:solidFill>
            <a:srgbClr val="16B8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7"/>
          <p:cNvSpPr/>
          <p:nvPr/>
        </p:nvSpPr>
        <p:spPr>
          <a:xfrm>
            <a:off x="11144250" y="6381750"/>
            <a:ext cx="4191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637586"/>
                </a:solidFill>
              </a:rPr>
              <a:t>07</a:t>
            </a:r>
            <a:endParaRPr/>
          </a:p>
        </p:txBody>
      </p:sp>
      <p:sp>
        <p:nvSpPr>
          <p:cNvPr id="194" name="Google Shape;194;p7"/>
          <p:cNvSpPr/>
          <p:nvPr/>
        </p:nvSpPr>
        <p:spPr>
          <a:xfrm>
            <a:off x="609600" y="1752600"/>
            <a:ext cx="514350" cy="47625"/>
          </a:xfrm>
          <a:prstGeom prst="rect">
            <a:avLst/>
          </a:prstGeom>
          <a:solidFill>
            <a:srgbClr val="16B8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7"/>
          <p:cNvSpPr/>
          <p:nvPr/>
        </p:nvSpPr>
        <p:spPr>
          <a:xfrm>
            <a:off x="609600" y="1924050"/>
            <a:ext cx="31908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B1F33"/>
                </a:solidFill>
              </a:rPr>
              <a:t>ANALIZAR</a:t>
            </a:r>
            <a:endParaRPr/>
          </a:p>
        </p:txBody>
      </p:sp>
      <p:sp>
        <p:nvSpPr>
          <p:cNvPr id="196" name="Google Shape;196;p7"/>
          <p:cNvSpPr/>
          <p:nvPr/>
        </p:nvSpPr>
        <p:spPr>
          <a:xfrm>
            <a:off x="609600" y="2305050"/>
            <a:ext cx="31432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637586"/>
                </a:solidFill>
              </a:rPr>
              <a:t>Requerimientos, actores, procesos y reglas.</a:t>
            </a:r>
            <a:endParaRPr/>
          </a:p>
        </p:txBody>
      </p:sp>
      <p:sp>
        <p:nvSpPr>
          <p:cNvPr id="197" name="Google Shape;197;p7"/>
          <p:cNvSpPr/>
          <p:nvPr/>
        </p:nvSpPr>
        <p:spPr>
          <a:xfrm>
            <a:off x="4248150" y="1752600"/>
            <a:ext cx="514350" cy="47625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7"/>
          <p:cNvSpPr/>
          <p:nvPr/>
        </p:nvSpPr>
        <p:spPr>
          <a:xfrm>
            <a:off x="4248150" y="1924050"/>
            <a:ext cx="31908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B1F33"/>
                </a:solidFill>
              </a:rPr>
              <a:t>DISEÑAR</a:t>
            </a:r>
            <a:endParaRPr/>
          </a:p>
        </p:txBody>
      </p:sp>
      <p:sp>
        <p:nvSpPr>
          <p:cNvPr id="199" name="Google Shape;199;p7"/>
          <p:cNvSpPr/>
          <p:nvPr/>
        </p:nvSpPr>
        <p:spPr>
          <a:xfrm>
            <a:off x="4248150" y="2305050"/>
            <a:ext cx="31432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637586"/>
                </a:solidFill>
              </a:rPr>
              <a:t>Arquitectura, API, base de datos e interfaces.</a:t>
            </a:r>
            <a:endParaRPr/>
          </a:p>
        </p:txBody>
      </p:sp>
      <p:sp>
        <p:nvSpPr>
          <p:cNvPr id="200" name="Google Shape;200;p7"/>
          <p:cNvSpPr/>
          <p:nvPr/>
        </p:nvSpPr>
        <p:spPr>
          <a:xfrm>
            <a:off x="7886700" y="1752600"/>
            <a:ext cx="514350" cy="47625"/>
          </a:xfrm>
          <a:prstGeom prst="rect">
            <a:avLst/>
          </a:prstGeom>
          <a:solidFill>
            <a:srgbClr val="16B8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7"/>
          <p:cNvSpPr/>
          <p:nvPr/>
        </p:nvSpPr>
        <p:spPr>
          <a:xfrm>
            <a:off x="7886700" y="1924050"/>
            <a:ext cx="31908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B1F33"/>
                </a:solidFill>
              </a:rPr>
              <a:t>DESARROLLAR</a:t>
            </a:r>
            <a:endParaRPr/>
          </a:p>
        </p:txBody>
      </p:sp>
      <p:sp>
        <p:nvSpPr>
          <p:cNvPr id="202" name="Google Shape;202;p7"/>
          <p:cNvSpPr/>
          <p:nvPr/>
        </p:nvSpPr>
        <p:spPr>
          <a:xfrm>
            <a:off x="7886700" y="2305050"/>
            <a:ext cx="31432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637586"/>
                </a:solidFill>
              </a:rPr>
              <a:t>Web, app móvil y lógica backend.</a:t>
            </a:r>
            <a:endParaRPr/>
          </a:p>
        </p:txBody>
      </p:sp>
      <p:sp>
        <p:nvSpPr>
          <p:cNvPr id="203" name="Google Shape;203;p7"/>
          <p:cNvSpPr/>
          <p:nvPr/>
        </p:nvSpPr>
        <p:spPr>
          <a:xfrm>
            <a:off x="609600" y="3448050"/>
            <a:ext cx="514350" cy="47625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7"/>
          <p:cNvSpPr/>
          <p:nvPr/>
        </p:nvSpPr>
        <p:spPr>
          <a:xfrm>
            <a:off x="609600" y="3619500"/>
            <a:ext cx="31908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B1F33"/>
                </a:solidFill>
              </a:rPr>
              <a:t>INTEGRAR</a:t>
            </a:r>
            <a:endParaRPr/>
          </a:p>
        </p:txBody>
      </p:sp>
      <p:sp>
        <p:nvSpPr>
          <p:cNvPr id="205" name="Google Shape;205;p7"/>
          <p:cNvSpPr/>
          <p:nvPr/>
        </p:nvSpPr>
        <p:spPr>
          <a:xfrm>
            <a:off x="609600" y="4000500"/>
            <a:ext cx="31432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637586"/>
                </a:solidFill>
              </a:rPr>
              <a:t>Servicios externos y fuente de datos común.</a:t>
            </a:r>
            <a:endParaRPr/>
          </a:p>
        </p:txBody>
      </p:sp>
      <p:sp>
        <p:nvSpPr>
          <p:cNvPr id="206" name="Google Shape;206;p7"/>
          <p:cNvSpPr/>
          <p:nvPr/>
        </p:nvSpPr>
        <p:spPr>
          <a:xfrm>
            <a:off x="4248150" y="3448050"/>
            <a:ext cx="514350" cy="47625"/>
          </a:xfrm>
          <a:prstGeom prst="rect">
            <a:avLst/>
          </a:prstGeom>
          <a:solidFill>
            <a:srgbClr val="16B8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7"/>
          <p:cNvSpPr/>
          <p:nvPr/>
        </p:nvSpPr>
        <p:spPr>
          <a:xfrm>
            <a:off x="4248150" y="3619500"/>
            <a:ext cx="31908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B1F33"/>
                </a:solidFill>
              </a:rPr>
              <a:t>VALIDAR</a:t>
            </a:r>
            <a:endParaRPr/>
          </a:p>
        </p:txBody>
      </p:sp>
      <p:sp>
        <p:nvSpPr>
          <p:cNvPr id="208" name="Google Shape;208;p7"/>
          <p:cNvSpPr/>
          <p:nvPr/>
        </p:nvSpPr>
        <p:spPr>
          <a:xfrm>
            <a:off x="4248150" y="4000500"/>
            <a:ext cx="31432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637586"/>
                </a:solidFill>
              </a:rPr>
              <a:t>Seguridad, calidad, pruebas y trazabilidad.</a:t>
            </a:r>
            <a:endParaRPr/>
          </a:p>
        </p:txBody>
      </p:sp>
      <p:sp>
        <p:nvSpPr>
          <p:cNvPr id="209" name="Google Shape;209;p7"/>
          <p:cNvSpPr/>
          <p:nvPr/>
        </p:nvSpPr>
        <p:spPr>
          <a:xfrm>
            <a:off x="7886700" y="3448050"/>
            <a:ext cx="514350" cy="47625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7"/>
          <p:cNvSpPr/>
          <p:nvPr/>
        </p:nvSpPr>
        <p:spPr>
          <a:xfrm>
            <a:off x="7886700" y="3619500"/>
            <a:ext cx="31908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B1F33"/>
                </a:solidFill>
              </a:rPr>
              <a:t>GESTIONAR</a:t>
            </a:r>
            <a:endParaRPr/>
          </a:p>
        </p:txBody>
      </p:sp>
      <p:sp>
        <p:nvSpPr>
          <p:cNvPr id="211" name="Google Shape;211;p7"/>
          <p:cNvSpPr/>
          <p:nvPr/>
        </p:nvSpPr>
        <p:spPr>
          <a:xfrm>
            <a:off x="7886700" y="4010025"/>
            <a:ext cx="31434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637586"/>
                </a:solidFill>
              </a:rPr>
              <a:t>Alcance, plazos, riesgos y colaboración.</a:t>
            </a:r>
            <a:endParaRPr/>
          </a:p>
        </p:txBody>
      </p:sp>
      <p:sp>
        <p:nvSpPr>
          <p:cNvPr id="212" name="Google Shape;212;p7"/>
          <p:cNvSpPr/>
          <p:nvPr/>
        </p:nvSpPr>
        <p:spPr>
          <a:xfrm>
            <a:off x="609600" y="5429250"/>
            <a:ext cx="10572750" cy="523875"/>
          </a:xfrm>
          <a:prstGeom prst="roundRect">
            <a:avLst>
              <a:gd fmla="val 14545" name="adj"/>
            </a:avLst>
          </a:prstGeom>
          <a:solidFill>
            <a:srgbClr val="0B1F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7"/>
          <p:cNvSpPr/>
          <p:nvPr/>
        </p:nvSpPr>
        <p:spPr>
          <a:xfrm>
            <a:off x="800100" y="5505450"/>
            <a:ext cx="101917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FFFFFF"/>
                </a:solidFill>
              </a:rPr>
              <a:t>Resultado: aplicación integral de las competencias del ciclo de vida del software.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8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6B8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8"/>
          <p:cNvSpPr/>
          <p:nvPr/>
        </p:nvSpPr>
        <p:spPr>
          <a:xfrm>
            <a:off x="609600" y="333375"/>
            <a:ext cx="5238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6B8D4"/>
                </a:solidFill>
              </a:rPr>
              <a:t>INTERESES PROFESIONALES</a:t>
            </a:r>
            <a:endParaRPr/>
          </a:p>
        </p:txBody>
      </p:sp>
      <p:sp>
        <p:nvSpPr>
          <p:cNvPr id="221" name="Google Shape;221;p8"/>
          <p:cNvSpPr/>
          <p:nvPr/>
        </p:nvSpPr>
        <p:spPr>
          <a:xfrm>
            <a:off x="609600" y="647700"/>
            <a:ext cx="108585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0B1F33"/>
                </a:solidFill>
              </a:rPr>
              <a:t>Técnico Ya conecta aprendizaje, práctica e impacto</a:t>
            </a:r>
            <a:endParaRPr/>
          </a:p>
        </p:txBody>
      </p:sp>
      <p:sp>
        <p:nvSpPr>
          <p:cNvPr id="222" name="Google Shape;222;p8"/>
          <p:cNvSpPr/>
          <p:nvPr/>
        </p:nvSpPr>
        <p:spPr>
          <a:xfrm>
            <a:off x="609600" y="1285875"/>
            <a:ext cx="666750" cy="38100"/>
          </a:xfrm>
          <a:prstGeom prst="rect">
            <a:avLst/>
          </a:prstGeom>
          <a:solidFill>
            <a:srgbClr val="16B8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8"/>
          <p:cNvSpPr/>
          <p:nvPr/>
        </p:nvSpPr>
        <p:spPr>
          <a:xfrm>
            <a:off x="11144250" y="6381750"/>
            <a:ext cx="4191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637586"/>
                </a:solidFill>
              </a:rPr>
              <a:t>08</a:t>
            </a:r>
            <a:endParaRPr/>
          </a:p>
        </p:txBody>
      </p:sp>
      <p:sp>
        <p:nvSpPr>
          <p:cNvPr id="224" name="Google Shape;224;p8"/>
          <p:cNvSpPr/>
          <p:nvPr/>
        </p:nvSpPr>
        <p:spPr>
          <a:xfrm>
            <a:off x="609600" y="1676400"/>
            <a:ext cx="4381500" cy="3733800"/>
          </a:xfrm>
          <a:prstGeom prst="roundRect">
            <a:avLst>
              <a:gd fmla="val 2041" name="adj"/>
            </a:avLst>
          </a:prstGeom>
          <a:solidFill>
            <a:srgbClr val="0B1F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8"/>
          <p:cNvSpPr/>
          <p:nvPr/>
        </p:nvSpPr>
        <p:spPr>
          <a:xfrm>
            <a:off x="914400" y="1943100"/>
            <a:ext cx="3714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6B8D4"/>
                </a:solidFill>
              </a:rPr>
              <a:t>ÁREAS QUE QUEREMOS FORTALECER</a:t>
            </a:r>
            <a:endParaRPr/>
          </a:p>
        </p:txBody>
      </p:sp>
      <p:sp>
        <p:nvSpPr>
          <p:cNvPr id="226" name="Google Shape;226;p8"/>
          <p:cNvSpPr/>
          <p:nvPr/>
        </p:nvSpPr>
        <p:spPr>
          <a:xfrm>
            <a:off x="914400" y="2562225"/>
            <a:ext cx="152400" cy="152400"/>
          </a:xfrm>
          <a:prstGeom prst="ellipse">
            <a:avLst/>
          </a:prstGeom>
          <a:solidFill>
            <a:srgbClr val="16B8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8"/>
          <p:cNvSpPr/>
          <p:nvPr/>
        </p:nvSpPr>
        <p:spPr>
          <a:xfrm>
            <a:off x="1238250" y="2457450"/>
            <a:ext cx="31432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FFFFFF"/>
                </a:solidFill>
              </a:rPr>
              <a:t>Desarrollo Full Stack</a:t>
            </a:r>
            <a:endParaRPr/>
          </a:p>
        </p:txBody>
      </p:sp>
      <p:sp>
        <p:nvSpPr>
          <p:cNvPr id="228" name="Google Shape;228;p8"/>
          <p:cNvSpPr/>
          <p:nvPr/>
        </p:nvSpPr>
        <p:spPr>
          <a:xfrm>
            <a:off x="914400" y="3190875"/>
            <a:ext cx="152400" cy="152400"/>
          </a:xfrm>
          <a:prstGeom prst="ellipse">
            <a:avLst/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8"/>
          <p:cNvSpPr/>
          <p:nvPr/>
        </p:nvSpPr>
        <p:spPr>
          <a:xfrm>
            <a:off x="1238250" y="3086100"/>
            <a:ext cx="31432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FFFFFF"/>
                </a:solidFill>
              </a:rPr>
              <a:t>Aplicaciones móviles</a:t>
            </a:r>
            <a:endParaRPr/>
          </a:p>
        </p:txBody>
      </p:sp>
      <p:sp>
        <p:nvSpPr>
          <p:cNvPr id="230" name="Google Shape;230;p8"/>
          <p:cNvSpPr/>
          <p:nvPr/>
        </p:nvSpPr>
        <p:spPr>
          <a:xfrm>
            <a:off x="914400" y="3819525"/>
            <a:ext cx="152400" cy="152400"/>
          </a:xfrm>
          <a:prstGeom prst="ellipse">
            <a:avLst/>
          </a:prstGeom>
          <a:solidFill>
            <a:srgbClr val="16B8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8"/>
          <p:cNvSpPr/>
          <p:nvPr/>
        </p:nvSpPr>
        <p:spPr>
          <a:xfrm>
            <a:off x="1238250" y="3714750"/>
            <a:ext cx="31432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FFFFFF"/>
                </a:solidFill>
              </a:rPr>
              <a:t>APIs y bases de datos</a:t>
            </a:r>
            <a:endParaRPr/>
          </a:p>
        </p:txBody>
      </p:sp>
      <p:sp>
        <p:nvSpPr>
          <p:cNvPr id="232" name="Google Shape;232;p8"/>
          <p:cNvSpPr/>
          <p:nvPr/>
        </p:nvSpPr>
        <p:spPr>
          <a:xfrm>
            <a:off x="914400" y="4448175"/>
            <a:ext cx="152400" cy="152400"/>
          </a:xfrm>
          <a:prstGeom prst="ellipse">
            <a:avLst/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8"/>
          <p:cNvSpPr/>
          <p:nvPr/>
        </p:nvSpPr>
        <p:spPr>
          <a:xfrm>
            <a:off x="1238250" y="4343400"/>
            <a:ext cx="31432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FFFFFF"/>
                </a:solidFill>
              </a:rPr>
              <a:t>Integración y despliegue</a:t>
            </a:r>
            <a:endParaRPr/>
          </a:p>
        </p:txBody>
      </p:sp>
      <p:sp>
        <p:nvSpPr>
          <p:cNvPr id="234" name="Google Shape;234;p8"/>
          <p:cNvSpPr/>
          <p:nvPr/>
        </p:nvSpPr>
        <p:spPr>
          <a:xfrm>
            <a:off x="5524500" y="1781175"/>
            <a:ext cx="4953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962FF"/>
                </a:solidFill>
              </a:rPr>
              <a:t>Aplicación profesional</a:t>
            </a:r>
            <a:endParaRPr/>
          </a:p>
        </p:txBody>
      </p:sp>
      <p:sp>
        <p:nvSpPr>
          <p:cNvPr id="235" name="Google Shape;235;p8"/>
          <p:cNvSpPr/>
          <p:nvPr/>
        </p:nvSpPr>
        <p:spPr>
          <a:xfrm>
            <a:off x="5524500" y="2143125"/>
            <a:ext cx="5334000" cy="895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0B1F33"/>
                </a:solidFill>
              </a:rPr>
              <a:t>Convertir una problemática real en una solución funcional, documentada y comprobable.</a:t>
            </a:r>
            <a:endParaRPr/>
          </a:p>
        </p:txBody>
      </p:sp>
      <p:sp>
        <p:nvSpPr>
          <p:cNvPr id="236" name="Google Shape;236;p8"/>
          <p:cNvSpPr/>
          <p:nvPr/>
        </p:nvSpPr>
        <p:spPr>
          <a:xfrm>
            <a:off x="5524500" y="3571875"/>
            <a:ext cx="5334000" cy="1238250"/>
          </a:xfrm>
          <a:prstGeom prst="roundRect">
            <a:avLst>
              <a:gd fmla="val 6154" name="adj"/>
            </a:avLst>
          </a:prstGeom>
          <a:solidFill>
            <a:srgbClr val="DF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8"/>
          <p:cNvSpPr/>
          <p:nvPr/>
        </p:nvSpPr>
        <p:spPr>
          <a:xfrm>
            <a:off x="5810250" y="3752850"/>
            <a:ext cx="47625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2962FF"/>
                </a:solidFill>
              </a:rPr>
              <a:t>VALOR LABORAL</a:t>
            </a:r>
            <a:endParaRPr/>
          </a:p>
        </p:txBody>
      </p:sp>
      <p:sp>
        <p:nvSpPr>
          <p:cNvPr id="238" name="Google Shape;238;p8"/>
          <p:cNvSpPr/>
          <p:nvPr/>
        </p:nvSpPr>
        <p:spPr>
          <a:xfrm>
            <a:off x="5810250" y="4086225"/>
            <a:ext cx="46672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0B1F33"/>
                </a:solidFill>
              </a:rPr>
              <a:t>Ejecución de un proyecto real de transformación digital.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9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6B8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9"/>
          <p:cNvSpPr/>
          <p:nvPr/>
        </p:nvSpPr>
        <p:spPr>
          <a:xfrm>
            <a:off x="609600" y="333375"/>
            <a:ext cx="5238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6B8D4"/>
                </a:solidFill>
              </a:rPr>
              <a:t>FACTIBILIDAD</a:t>
            </a:r>
            <a:endParaRPr/>
          </a:p>
        </p:txBody>
      </p:sp>
      <p:sp>
        <p:nvSpPr>
          <p:cNvPr id="246" name="Google Shape;246;p9"/>
          <p:cNvSpPr/>
          <p:nvPr/>
        </p:nvSpPr>
        <p:spPr>
          <a:xfrm>
            <a:off x="609600" y="647700"/>
            <a:ext cx="108585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0B1F33"/>
                </a:solidFill>
              </a:rPr>
              <a:t>Un alcance acotado hace viable la entrega semestral</a:t>
            </a:r>
            <a:endParaRPr/>
          </a:p>
        </p:txBody>
      </p:sp>
      <p:sp>
        <p:nvSpPr>
          <p:cNvPr id="247" name="Google Shape;247;p9"/>
          <p:cNvSpPr/>
          <p:nvPr/>
        </p:nvSpPr>
        <p:spPr>
          <a:xfrm>
            <a:off x="609600" y="1285875"/>
            <a:ext cx="666750" cy="38100"/>
          </a:xfrm>
          <a:prstGeom prst="rect">
            <a:avLst/>
          </a:prstGeom>
          <a:solidFill>
            <a:srgbClr val="16B8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9"/>
          <p:cNvSpPr/>
          <p:nvPr/>
        </p:nvSpPr>
        <p:spPr>
          <a:xfrm>
            <a:off x="11144250" y="6381750"/>
            <a:ext cx="4191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637586"/>
                </a:solidFill>
              </a:rPr>
              <a:t>09</a:t>
            </a:r>
            <a:endParaRPr/>
          </a:p>
        </p:txBody>
      </p:sp>
      <p:sp>
        <p:nvSpPr>
          <p:cNvPr id="249" name="Google Shape;249;p9"/>
          <p:cNvSpPr/>
          <p:nvPr/>
        </p:nvSpPr>
        <p:spPr>
          <a:xfrm>
            <a:off x="609600" y="1714500"/>
            <a:ext cx="4095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2962FF"/>
                </a:solidFill>
              </a:rPr>
              <a:t>FACILITADORES</a:t>
            </a:r>
            <a:endParaRPr/>
          </a:p>
        </p:txBody>
      </p:sp>
      <p:sp>
        <p:nvSpPr>
          <p:cNvPr id="250" name="Google Shape;250;p9"/>
          <p:cNvSpPr/>
          <p:nvPr/>
        </p:nvSpPr>
        <p:spPr>
          <a:xfrm>
            <a:off x="666750" y="2219325"/>
            <a:ext cx="142875" cy="142875"/>
          </a:xfrm>
          <a:prstGeom prst="ellipse">
            <a:avLst/>
          </a:prstGeom>
          <a:solidFill>
            <a:srgbClr val="55C0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9"/>
          <p:cNvSpPr/>
          <p:nvPr/>
        </p:nvSpPr>
        <p:spPr>
          <a:xfrm>
            <a:off x="990600" y="2076450"/>
            <a:ext cx="41910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0B1F33"/>
                </a:solidFill>
              </a:rPr>
              <a:t>Equipo de tres integrantes</a:t>
            </a:r>
            <a:endParaRPr/>
          </a:p>
        </p:txBody>
      </p:sp>
      <p:sp>
        <p:nvSpPr>
          <p:cNvPr id="252" name="Google Shape;252;p9"/>
          <p:cNvSpPr/>
          <p:nvPr/>
        </p:nvSpPr>
        <p:spPr>
          <a:xfrm>
            <a:off x="666750" y="2819400"/>
            <a:ext cx="142875" cy="142875"/>
          </a:xfrm>
          <a:prstGeom prst="ellipse">
            <a:avLst/>
          </a:prstGeom>
          <a:solidFill>
            <a:srgbClr val="55C0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9"/>
          <p:cNvSpPr/>
          <p:nvPr/>
        </p:nvSpPr>
        <p:spPr>
          <a:xfrm>
            <a:off x="990600" y="2676525"/>
            <a:ext cx="41910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0B1F33"/>
                </a:solidFill>
              </a:rPr>
              <a:t>Conocimientos previos en programación y SQL</a:t>
            </a:r>
            <a:endParaRPr/>
          </a:p>
        </p:txBody>
      </p:sp>
      <p:sp>
        <p:nvSpPr>
          <p:cNvPr id="254" name="Google Shape;254;p9"/>
          <p:cNvSpPr/>
          <p:nvPr/>
        </p:nvSpPr>
        <p:spPr>
          <a:xfrm>
            <a:off x="666750" y="3419475"/>
            <a:ext cx="142875" cy="142875"/>
          </a:xfrm>
          <a:prstGeom prst="ellipse">
            <a:avLst/>
          </a:prstGeom>
          <a:solidFill>
            <a:srgbClr val="55C0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9"/>
          <p:cNvSpPr/>
          <p:nvPr/>
        </p:nvSpPr>
        <p:spPr>
          <a:xfrm>
            <a:off x="990600" y="3276600"/>
            <a:ext cx="41910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0B1F33"/>
                </a:solidFill>
              </a:rPr>
              <a:t>Herramientas gratuitas o educativas</a:t>
            </a:r>
            <a:endParaRPr/>
          </a:p>
        </p:txBody>
      </p:sp>
      <p:sp>
        <p:nvSpPr>
          <p:cNvPr id="256" name="Google Shape;256;p9"/>
          <p:cNvSpPr/>
          <p:nvPr/>
        </p:nvSpPr>
        <p:spPr>
          <a:xfrm>
            <a:off x="666750" y="4019550"/>
            <a:ext cx="142875" cy="142875"/>
          </a:xfrm>
          <a:prstGeom prst="ellipse">
            <a:avLst/>
          </a:prstGeom>
          <a:solidFill>
            <a:srgbClr val="55C0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9"/>
          <p:cNvSpPr/>
          <p:nvPr/>
        </p:nvSpPr>
        <p:spPr>
          <a:xfrm>
            <a:off x="990600" y="3876675"/>
            <a:ext cx="41910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0B1F33"/>
                </a:solidFill>
              </a:rPr>
              <a:t>Problema y alcance claramente definidos</a:t>
            </a:r>
            <a:endParaRPr/>
          </a:p>
        </p:txBody>
      </p:sp>
      <p:sp>
        <p:nvSpPr>
          <p:cNvPr id="258" name="Google Shape;258;p9"/>
          <p:cNvSpPr/>
          <p:nvPr/>
        </p:nvSpPr>
        <p:spPr>
          <a:xfrm>
            <a:off x="6096000" y="1714500"/>
            <a:ext cx="4381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2962FF"/>
                </a:solidFill>
              </a:rPr>
              <a:t>RIESGO → RESPUESTA</a:t>
            </a:r>
            <a:endParaRPr/>
          </a:p>
        </p:txBody>
      </p:sp>
      <p:sp>
        <p:nvSpPr>
          <p:cNvPr id="259" name="Google Shape;259;p9"/>
          <p:cNvSpPr/>
          <p:nvPr/>
        </p:nvSpPr>
        <p:spPr>
          <a:xfrm>
            <a:off x="6096000" y="2114550"/>
            <a:ext cx="4857750" cy="495300"/>
          </a:xfrm>
          <a:prstGeom prst="roundRect">
            <a:avLst>
              <a:gd fmla="val 15385" name="adj"/>
            </a:avLst>
          </a:prstGeom>
          <a:solidFill>
            <a:srgbClr val="FFFFFF"/>
          </a:solidFill>
          <a:ln cap="flat" cmpd="sng" w="9525">
            <a:solidFill>
              <a:srgbClr val="D9E5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9"/>
          <p:cNvSpPr/>
          <p:nvPr/>
        </p:nvSpPr>
        <p:spPr>
          <a:xfrm>
            <a:off x="6286500" y="2200275"/>
            <a:ext cx="20002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0B1F33"/>
                </a:solidFill>
              </a:rPr>
              <a:t>Tiempo disponible</a:t>
            </a:r>
            <a:endParaRPr/>
          </a:p>
        </p:txBody>
      </p:sp>
      <p:sp>
        <p:nvSpPr>
          <p:cNvPr id="261" name="Google Shape;261;p9"/>
          <p:cNvSpPr/>
          <p:nvPr/>
        </p:nvSpPr>
        <p:spPr>
          <a:xfrm>
            <a:off x="8401050" y="2200275"/>
            <a:ext cx="2333625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2962FF"/>
                </a:solidFill>
              </a:rPr>
              <a:t>Carta Gantt + alcance definido</a:t>
            </a:r>
            <a:endParaRPr/>
          </a:p>
        </p:txBody>
      </p:sp>
      <p:sp>
        <p:nvSpPr>
          <p:cNvPr id="262" name="Google Shape;262;p9"/>
          <p:cNvSpPr/>
          <p:nvPr/>
        </p:nvSpPr>
        <p:spPr>
          <a:xfrm>
            <a:off x="6096000" y="2771775"/>
            <a:ext cx="4857750" cy="495300"/>
          </a:xfrm>
          <a:prstGeom prst="roundRect">
            <a:avLst>
              <a:gd fmla="val 15385" name="adj"/>
            </a:avLst>
          </a:prstGeom>
          <a:solidFill>
            <a:srgbClr val="FFFFFF"/>
          </a:solidFill>
          <a:ln cap="flat" cmpd="sng" w="9525">
            <a:solidFill>
              <a:srgbClr val="D9E5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9"/>
          <p:cNvSpPr/>
          <p:nvPr/>
        </p:nvSpPr>
        <p:spPr>
          <a:xfrm>
            <a:off x="6286500" y="2857500"/>
            <a:ext cx="20002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0B1F33"/>
                </a:solidFill>
              </a:rPr>
              <a:t>Integración Web–App–API</a:t>
            </a:r>
            <a:endParaRPr/>
          </a:p>
        </p:txBody>
      </p:sp>
      <p:sp>
        <p:nvSpPr>
          <p:cNvPr id="264" name="Google Shape;264;p9"/>
          <p:cNvSpPr/>
          <p:nvPr/>
        </p:nvSpPr>
        <p:spPr>
          <a:xfrm>
            <a:off x="8401050" y="2857500"/>
            <a:ext cx="2333625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2962FF"/>
                </a:solidFill>
              </a:rPr>
              <a:t>Pruebas progresivas</a:t>
            </a:r>
            <a:endParaRPr/>
          </a:p>
        </p:txBody>
      </p:sp>
      <p:sp>
        <p:nvSpPr>
          <p:cNvPr id="265" name="Google Shape;265;p9"/>
          <p:cNvSpPr/>
          <p:nvPr/>
        </p:nvSpPr>
        <p:spPr>
          <a:xfrm>
            <a:off x="6096000" y="3429000"/>
            <a:ext cx="4857750" cy="495300"/>
          </a:xfrm>
          <a:prstGeom prst="roundRect">
            <a:avLst>
              <a:gd fmla="val 15385" name="adj"/>
            </a:avLst>
          </a:prstGeom>
          <a:solidFill>
            <a:srgbClr val="FFFFFF"/>
          </a:solidFill>
          <a:ln cap="flat" cmpd="sng" w="9525">
            <a:solidFill>
              <a:srgbClr val="D9E5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9"/>
          <p:cNvSpPr/>
          <p:nvPr/>
        </p:nvSpPr>
        <p:spPr>
          <a:xfrm>
            <a:off x="6286500" y="3514725"/>
            <a:ext cx="20002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0B1F33"/>
                </a:solidFill>
              </a:rPr>
              <a:t>Coordinación</a:t>
            </a:r>
            <a:endParaRPr/>
          </a:p>
        </p:txBody>
      </p:sp>
      <p:sp>
        <p:nvSpPr>
          <p:cNvPr id="267" name="Google Shape;267;p9"/>
          <p:cNvSpPr/>
          <p:nvPr/>
        </p:nvSpPr>
        <p:spPr>
          <a:xfrm>
            <a:off x="8401050" y="3514725"/>
            <a:ext cx="2333625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2962FF"/>
                </a:solidFill>
              </a:rPr>
              <a:t>Repositorio + reuniones</a:t>
            </a:r>
            <a:endParaRPr/>
          </a:p>
        </p:txBody>
      </p:sp>
      <p:sp>
        <p:nvSpPr>
          <p:cNvPr id="268" name="Google Shape;268;p9"/>
          <p:cNvSpPr/>
          <p:nvPr/>
        </p:nvSpPr>
        <p:spPr>
          <a:xfrm>
            <a:off x="6096000" y="4086225"/>
            <a:ext cx="4857750" cy="495300"/>
          </a:xfrm>
          <a:prstGeom prst="roundRect">
            <a:avLst>
              <a:gd fmla="val 15385" name="adj"/>
            </a:avLst>
          </a:prstGeom>
          <a:solidFill>
            <a:srgbClr val="FFFFFF"/>
          </a:solidFill>
          <a:ln cap="flat" cmpd="sng" w="9525">
            <a:solidFill>
              <a:srgbClr val="D9E5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9"/>
          <p:cNvSpPr/>
          <p:nvPr/>
        </p:nvSpPr>
        <p:spPr>
          <a:xfrm>
            <a:off x="6286500" y="4171950"/>
            <a:ext cx="20002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0B1F33"/>
                </a:solidFill>
              </a:rPr>
              <a:t>APIs externas</a:t>
            </a:r>
            <a:endParaRPr/>
          </a:p>
        </p:txBody>
      </p:sp>
      <p:sp>
        <p:nvSpPr>
          <p:cNvPr id="270" name="Google Shape;270;p9"/>
          <p:cNvSpPr/>
          <p:nvPr/>
        </p:nvSpPr>
        <p:spPr>
          <a:xfrm>
            <a:off x="8401050" y="4171950"/>
            <a:ext cx="2333625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2962FF"/>
                </a:solidFill>
              </a:rPr>
              <a:t>Servicios alternativos</a:t>
            </a:r>
            <a:endParaRPr/>
          </a:p>
        </p:txBody>
      </p:sp>
      <p:sp>
        <p:nvSpPr>
          <p:cNvPr id="271" name="Google Shape;271;p9"/>
          <p:cNvSpPr/>
          <p:nvPr/>
        </p:nvSpPr>
        <p:spPr>
          <a:xfrm>
            <a:off x="609600" y="5619750"/>
            <a:ext cx="10344150" cy="438150"/>
          </a:xfrm>
          <a:prstGeom prst="roundRect">
            <a:avLst>
              <a:gd fmla="val 17391" name="adj"/>
            </a:avLst>
          </a:prstGeom>
          <a:solidFill>
            <a:srgbClr val="FFF2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9"/>
          <p:cNvSpPr/>
          <p:nvPr/>
        </p:nvSpPr>
        <p:spPr>
          <a:xfrm>
            <a:off x="800100" y="5676900"/>
            <a:ext cx="99631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84560B"/>
                </a:solidFill>
              </a:rPr>
              <a:t>Fuera del alcance: pagos, facturación, marketplace e IA compleja.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6B8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0"/>
          <p:cNvSpPr/>
          <p:nvPr/>
        </p:nvSpPr>
        <p:spPr>
          <a:xfrm>
            <a:off x="609600" y="333375"/>
            <a:ext cx="5238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6B8D4"/>
                </a:solidFill>
              </a:rPr>
              <a:t>OBJETIVOS</a:t>
            </a:r>
            <a:endParaRPr/>
          </a:p>
        </p:txBody>
      </p:sp>
      <p:sp>
        <p:nvSpPr>
          <p:cNvPr id="280" name="Google Shape;280;p10"/>
          <p:cNvSpPr/>
          <p:nvPr/>
        </p:nvSpPr>
        <p:spPr>
          <a:xfrm>
            <a:off x="609600" y="647700"/>
            <a:ext cx="108585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0B1F33"/>
                </a:solidFill>
              </a:rPr>
              <a:t>Los objetivos conducen desde el análisis hasta la validación</a:t>
            </a:r>
            <a:endParaRPr/>
          </a:p>
        </p:txBody>
      </p:sp>
      <p:sp>
        <p:nvSpPr>
          <p:cNvPr id="281" name="Google Shape;281;p10"/>
          <p:cNvSpPr/>
          <p:nvPr/>
        </p:nvSpPr>
        <p:spPr>
          <a:xfrm>
            <a:off x="609600" y="1285875"/>
            <a:ext cx="666750" cy="38100"/>
          </a:xfrm>
          <a:prstGeom prst="rect">
            <a:avLst/>
          </a:prstGeom>
          <a:solidFill>
            <a:srgbClr val="16B8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0"/>
          <p:cNvSpPr/>
          <p:nvPr/>
        </p:nvSpPr>
        <p:spPr>
          <a:xfrm>
            <a:off x="11144250" y="6381750"/>
            <a:ext cx="4191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637586"/>
                </a:solidFill>
              </a:rPr>
              <a:t>10</a:t>
            </a:r>
            <a:endParaRPr/>
          </a:p>
        </p:txBody>
      </p:sp>
      <p:sp>
        <p:nvSpPr>
          <p:cNvPr id="283" name="Google Shape;283;p10"/>
          <p:cNvSpPr/>
          <p:nvPr/>
        </p:nvSpPr>
        <p:spPr>
          <a:xfrm>
            <a:off x="609600" y="1600200"/>
            <a:ext cx="10572750" cy="914400"/>
          </a:xfrm>
          <a:prstGeom prst="roundRect">
            <a:avLst>
              <a:gd fmla="val 8333" name="adj"/>
            </a:avLst>
          </a:prstGeom>
          <a:solidFill>
            <a:srgbClr val="DF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0"/>
          <p:cNvSpPr/>
          <p:nvPr/>
        </p:nvSpPr>
        <p:spPr>
          <a:xfrm>
            <a:off x="838200" y="1752600"/>
            <a:ext cx="17621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2962FF"/>
                </a:solidFill>
              </a:rPr>
              <a:t>OBJETIVO GENERAL</a:t>
            </a:r>
            <a:endParaRPr/>
          </a:p>
        </p:txBody>
      </p:sp>
      <p:sp>
        <p:nvSpPr>
          <p:cNvPr id="285" name="Google Shape;285;p10"/>
          <p:cNvSpPr/>
          <p:nvPr/>
        </p:nvSpPr>
        <p:spPr>
          <a:xfrm>
            <a:off x="2781300" y="1724025"/>
            <a:ext cx="80200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Desarrollar una solución Web y móvil integrada que centralice y optimice la gestión de servicios técnicos a domicilio.</a:t>
            </a:r>
            <a:endParaRPr/>
          </a:p>
        </p:txBody>
      </p:sp>
      <p:sp>
        <p:nvSpPr>
          <p:cNvPr id="286" name="Google Shape;286;p10"/>
          <p:cNvSpPr/>
          <p:nvPr/>
        </p:nvSpPr>
        <p:spPr>
          <a:xfrm>
            <a:off x="609600" y="3028950"/>
            <a:ext cx="2400300" cy="876300"/>
          </a:xfrm>
          <a:prstGeom prst="roundRect">
            <a:avLst>
              <a:gd fmla="val 8696" name="adj"/>
            </a:avLst>
          </a:prstGeom>
          <a:solidFill>
            <a:srgbClr val="FFFFFF"/>
          </a:solidFill>
          <a:ln cap="flat" cmpd="sng" w="9525">
            <a:solidFill>
              <a:srgbClr val="D9E5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0"/>
          <p:cNvSpPr/>
          <p:nvPr/>
        </p:nvSpPr>
        <p:spPr>
          <a:xfrm>
            <a:off x="762000" y="3152775"/>
            <a:ext cx="3238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6B8D4"/>
                </a:solidFill>
              </a:rPr>
              <a:t>01</a:t>
            </a:r>
            <a:endParaRPr/>
          </a:p>
        </p:txBody>
      </p:sp>
      <p:sp>
        <p:nvSpPr>
          <p:cNvPr id="288" name="Google Shape;288;p10"/>
          <p:cNvSpPr/>
          <p:nvPr/>
        </p:nvSpPr>
        <p:spPr>
          <a:xfrm>
            <a:off x="1123950" y="3162300"/>
            <a:ext cx="1695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B1F33"/>
                </a:solidFill>
              </a:rPr>
              <a:t>Analizar requerimientos y actores</a:t>
            </a:r>
            <a:endParaRPr/>
          </a:p>
        </p:txBody>
      </p:sp>
      <p:sp>
        <p:nvSpPr>
          <p:cNvPr id="289" name="Google Shape;289;p10"/>
          <p:cNvSpPr/>
          <p:nvPr/>
        </p:nvSpPr>
        <p:spPr>
          <a:xfrm>
            <a:off x="3257550" y="3028950"/>
            <a:ext cx="2400300" cy="876300"/>
          </a:xfrm>
          <a:prstGeom prst="roundRect">
            <a:avLst>
              <a:gd fmla="val 8696" name="adj"/>
            </a:avLst>
          </a:prstGeom>
          <a:solidFill>
            <a:srgbClr val="FFFFFF"/>
          </a:solidFill>
          <a:ln cap="flat" cmpd="sng" w="9525">
            <a:solidFill>
              <a:srgbClr val="D9E5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0"/>
          <p:cNvSpPr/>
          <p:nvPr/>
        </p:nvSpPr>
        <p:spPr>
          <a:xfrm>
            <a:off x="3409950" y="3152775"/>
            <a:ext cx="3238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6B8D4"/>
                </a:solidFill>
              </a:rPr>
              <a:t>02</a:t>
            </a:r>
            <a:endParaRPr/>
          </a:p>
        </p:txBody>
      </p:sp>
      <p:sp>
        <p:nvSpPr>
          <p:cNvPr id="291" name="Google Shape;291;p10"/>
          <p:cNvSpPr/>
          <p:nvPr/>
        </p:nvSpPr>
        <p:spPr>
          <a:xfrm>
            <a:off x="3771900" y="3162300"/>
            <a:ext cx="1695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B1F33"/>
                </a:solidFill>
              </a:rPr>
              <a:t>Diseñar BD, API y arquitectura</a:t>
            </a:r>
            <a:endParaRPr/>
          </a:p>
        </p:txBody>
      </p:sp>
      <p:sp>
        <p:nvSpPr>
          <p:cNvPr id="292" name="Google Shape;292;p10"/>
          <p:cNvSpPr/>
          <p:nvPr/>
        </p:nvSpPr>
        <p:spPr>
          <a:xfrm>
            <a:off x="5905500" y="3028950"/>
            <a:ext cx="2400300" cy="876300"/>
          </a:xfrm>
          <a:prstGeom prst="roundRect">
            <a:avLst>
              <a:gd fmla="val 8696" name="adj"/>
            </a:avLst>
          </a:prstGeom>
          <a:solidFill>
            <a:srgbClr val="FFFFFF"/>
          </a:solidFill>
          <a:ln cap="flat" cmpd="sng" w="9525">
            <a:solidFill>
              <a:srgbClr val="D9E5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0"/>
          <p:cNvSpPr/>
          <p:nvPr/>
        </p:nvSpPr>
        <p:spPr>
          <a:xfrm>
            <a:off x="6057900" y="3152775"/>
            <a:ext cx="3238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6B8D4"/>
                </a:solidFill>
              </a:rPr>
              <a:t>03</a:t>
            </a:r>
            <a:endParaRPr/>
          </a:p>
        </p:txBody>
      </p:sp>
      <p:sp>
        <p:nvSpPr>
          <p:cNvPr id="294" name="Google Shape;294;p10"/>
          <p:cNvSpPr/>
          <p:nvPr/>
        </p:nvSpPr>
        <p:spPr>
          <a:xfrm>
            <a:off x="6419850" y="3162300"/>
            <a:ext cx="1695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B1F33"/>
                </a:solidFill>
              </a:rPr>
              <a:t>Desarrollar plataforma Web</a:t>
            </a:r>
            <a:endParaRPr/>
          </a:p>
        </p:txBody>
      </p:sp>
      <p:sp>
        <p:nvSpPr>
          <p:cNvPr id="295" name="Google Shape;295;p10"/>
          <p:cNvSpPr/>
          <p:nvPr/>
        </p:nvSpPr>
        <p:spPr>
          <a:xfrm>
            <a:off x="8553450" y="3028950"/>
            <a:ext cx="2400300" cy="876300"/>
          </a:xfrm>
          <a:prstGeom prst="roundRect">
            <a:avLst>
              <a:gd fmla="val 8696" name="adj"/>
            </a:avLst>
          </a:prstGeom>
          <a:solidFill>
            <a:srgbClr val="FFFFFF"/>
          </a:solidFill>
          <a:ln cap="flat" cmpd="sng" w="9525">
            <a:solidFill>
              <a:srgbClr val="D9E5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0"/>
          <p:cNvSpPr/>
          <p:nvPr/>
        </p:nvSpPr>
        <p:spPr>
          <a:xfrm>
            <a:off x="8705850" y="3152775"/>
            <a:ext cx="3238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6B8D4"/>
                </a:solidFill>
              </a:rPr>
              <a:t>04</a:t>
            </a:r>
            <a:endParaRPr/>
          </a:p>
        </p:txBody>
      </p:sp>
      <p:sp>
        <p:nvSpPr>
          <p:cNvPr id="297" name="Google Shape;297;p10"/>
          <p:cNvSpPr/>
          <p:nvPr/>
        </p:nvSpPr>
        <p:spPr>
          <a:xfrm>
            <a:off x="9067800" y="3162300"/>
            <a:ext cx="1695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B1F33"/>
                </a:solidFill>
              </a:rPr>
              <a:t>Implementar aplicación móvil</a:t>
            </a:r>
            <a:endParaRPr/>
          </a:p>
        </p:txBody>
      </p:sp>
      <p:sp>
        <p:nvSpPr>
          <p:cNvPr id="298" name="Google Shape;298;p10"/>
          <p:cNvSpPr/>
          <p:nvPr/>
        </p:nvSpPr>
        <p:spPr>
          <a:xfrm>
            <a:off x="609600" y="4229100"/>
            <a:ext cx="2400300" cy="876300"/>
          </a:xfrm>
          <a:prstGeom prst="roundRect">
            <a:avLst>
              <a:gd fmla="val 8696" name="adj"/>
            </a:avLst>
          </a:prstGeom>
          <a:solidFill>
            <a:srgbClr val="FFFFFF"/>
          </a:solidFill>
          <a:ln cap="flat" cmpd="sng" w="9525">
            <a:solidFill>
              <a:srgbClr val="D9E5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0"/>
          <p:cNvSpPr/>
          <p:nvPr/>
        </p:nvSpPr>
        <p:spPr>
          <a:xfrm>
            <a:off x="762000" y="4352925"/>
            <a:ext cx="3238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6B8D4"/>
                </a:solidFill>
              </a:rPr>
              <a:t>05</a:t>
            </a:r>
            <a:endParaRPr/>
          </a:p>
        </p:txBody>
      </p:sp>
      <p:sp>
        <p:nvSpPr>
          <p:cNvPr id="300" name="Google Shape;300;p10"/>
          <p:cNvSpPr/>
          <p:nvPr/>
        </p:nvSpPr>
        <p:spPr>
          <a:xfrm>
            <a:off x="1123950" y="4362450"/>
            <a:ext cx="1695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B1F33"/>
                </a:solidFill>
              </a:rPr>
              <a:t>Incorporar recomendación y códigos</a:t>
            </a:r>
            <a:endParaRPr/>
          </a:p>
        </p:txBody>
      </p:sp>
      <p:sp>
        <p:nvSpPr>
          <p:cNvPr id="301" name="Google Shape;301;p10"/>
          <p:cNvSpPr/>
          <p:nvPr/>
        </p:nvSpPr>
        <p:spPr>
          <a:xfrm>
            <a:off x="3257550" y="4229100"/>
            <a:ext cx="2400300" cy="876300"/>
          </a:xfrm>
          <a:prstGeom prst="roundRect">
            <a:avLst>
              <a:gd fmla="val 8696" name="adj"/>
            </a:avLst>
          </a:prstGeom>
          <a:solidFill>
            <a:srgbClr val="FFFFFF"/>
          </a:solidFill>
          <a:ln cap="flat" cmpd="sng" w="9525">
            <a:solidFill>
              <a:srgbClr val="D9E5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0"/>
          <p:cNvSpPr/>
          <p:nvPr/>
        </p:nvSpPr>
        <p:spPr>
          <a:xfrm>
            <a:off x="3409950" y="4352925"/>
            <a:ext cx="3238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6B8D4"/>
                </a:solidFill>
              </a:rPr>
              <a:t>06</a:t>
            </a:r>
            <a:endParaRPr/>
          </a:p>
        </p:txBody>
      </p:sp>
      <p:sp>
        <p:nvSpPr>
          <p:cNvPr id="303" name="Google Shape;303;p10"/>
          <p:cNvSpPr/>
          <p:nvPr/>
        </p:nvSpPr>
        <p:spPr>
          <a:xfrm>
            <a:off x="3771900" y="4362450"/>
            <a:ext cx="1695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B1F33"/>
                </a:solidFill>
              </a:rPr>
              <a:t>Crear dashboard e integraciones</a:t>
            </a:r>
            <a:endParaRPr/>
          </a:p>
        </p:txBody>
      </p:sp>
      <p:sp>
        <p:nvSpPr>
          <p:cNvPr id="304" name="Google Shape;304;p10"/>
          <p:cNvSpPr/>
          <p:nvPr/>
        </p:nvSpPr>
        <p:spPr>
          <a:xfrm>
            <a:off x="5905500" y="4229100"/>
            <a:ext cx="2400300" cy="876300"/>
          </a:xfrm>
          <a:prstGeom prst="roundRect">
            <a:avLst>
              <a:gd fmla="val 8696" name="adj"/>
            </a:avLst>
          </a:prstGeom>
          <a:solidFill>
            <a:srgbClr val="FFFFFF"/>
          </a:solidFill>
          <a:ln cap="flat" cmpd="sng" w="9525">
            <a:solidFill>
              <a:srgbClr val="D9E5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0"/>
          <p:cNvSpPr/>
          <p:nvPr/>
        </p:nvSpPr>
        <p:spPr>
          <a:xfrm>
            <a:off x="6057900" y="4352925"/>
            <a:ext cx="3238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6B8D4"/>
                </a:solidFill>
              </a:rPr>
              <a:t>07</a:t>
            </a:r>
            <a:endParaRPr/>
          </a:p>
        </p:txBody>
      </p:sp>
      <p:sp>
        <p:nvSpPr>
          <p:cNvPr id="306" name="Google Shape;306;p10"/>
          <p:cNvSpPr/>
          <p:nvPr/>
        </p:nvSpPr>
        <p:spPr>
          <a:xfrm>
            <a:off x="6419850" y="4362450"/>
            <a:ext cx="1695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B1F33"/>
                </a:solidFill>
              </a:rPr>
              <a:t>Probar el flujo completo</a:t>
            </a:r>
            <a:endParaRPr/>
          </a:p>
        </p:txBody>
      </p:sp>
      <p:sp>
        <p:nvSpPr>
          <p:cNvPr id="307" name="Google Shape;307;p10"/>
          <p:cNvSpPr/>
          <p:nvPr/>
        </p:nvSpPr>
        <p:spPr>
          <a:xfrm>
            <a:off x="609600" y="5667375"/>
            <a:ext cx="9525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2962FF"/>
                </a:solidFill>
              </a:rPr>
              <a:t>Cada objetivo produce una evidencia verificable.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6B8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1"/>
          <p:cNvSpPr/>
          <p:nvPr/>
        </p:nvSpPr>
        <p:spPr>
          <a:xfrm>
            <a:off x="609600" y="333375"/>
            <a:ext cx="5238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6B8D4"/>
                </a:solidFill>
              </a:rPr>
              <a:t>METODOLOGÍA</a:t>
            </a:r>
            <a:endParaRPr/>
          </a:p>
        </p:txBody>
      </p:sp>
      <p:sp>
        <p:nvSpPr>
          <p:cNvPr id="315" name="Google Shape;315;p11"/>
          <p:cNvSpPr/>
          <p:nvPr/>
        </p:nvSpPr>
        <p:spPr>
          <a:xfrm>
            <a:off x="609600" y="647700"/>
            <a:ext cx="108585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0B1F33"/>
                </a:solidFill>
              </a:rPr>
              <a:t>Waterfall ordena el avance mediante entregables revisables</a:t>
            </a:r>
            <a:endParaRPr/>
          </a:p>
        </p:txBody>
      </p:sp>
      <p:sp>
        <p:nvSpPr>
          <p:cNvPr id="316" name="Google Shape;316;p11"/>
          <p:cNvSpPr/>
          <p:nvPr/>
        </p:nvSpPr>
        <p:spPr>
          <a:xfrm>
            <a:off x="609600" y="1285875"/>
            <a:ext cx="666750" cy="38100"/>
          </a:xfrm>
          <a:prstGeom prst="rect">
            <a:avLst/>
          </a:prstGeom>
          <a:solidFill>
            <a:srgbClr val="16B8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1"/>
          <p:cNvSpPr/>
          <p:nvPr/>
        </p:nvSpPr>
        <p:spPr>
          <a:xfrm>
            <a:off x="11144250" y="6381750"/>
            <a:ext cx="4191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637586"/>
                </a:solidFill>
              </a:rPr>
              <a:t>11</a:t>
            </a:r>
            <a:endParaRPr/>
          </a:p>
        </p:txBody>
      </p:sp>
      <p:sp>
        <p:nvSpPr>
          <p:cNvPr id="318" name="Google Shape;318;p11"/>
          <p:cNvSpPr/>
          <p:nvPr/>
        </p:nvSpPr>
        <p:spPr>
          <a:xfrm>
            <a:off x="2095500" y="2628900"/>
            <a:ext cx="704850" cy="38100"/>
          </a:xfrm>
          <a:prstGeom prst="rect">
            <a:avLst/>
          </a:prstGeom>
          <a:solidFill>
            <a:srgbClr val="D9E5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1"/>
          <p:cNvSpPr/>
          <p:nvPr/>
        </p:nvSpPr>
        <p:spPr>
          <a:xfrm>
            <a:off x="647700" y="2114550"/>
            <a:ext cx="1466850" cy="1047750"/>
          </a:xfrm>
          <a:prstGeom prst="roundRect">
            <a:avLst>
              <a:gd fmla="val 7273" name="adj"/>
            </a:avLst>
          </a:prstGeom>
          <a:solidFill>
            <a:srgbClr val="16B8D4"/>
          </a:solidFill>
          <a:ln cap="flat" cmpd="sng" w="9525">
            <a:solidFill>
              <a:srgbClr val="16B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1"/>
          <p:cNvSpPr/>
          <p:nvPr/>
        </p:nvSpPr>
        <p:spPr>
          <a:xfrm>
            <a:off x="819150" y="2276475"/>
            <a:ext cx="3048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0B1F33"/>
                </a:solidFill>
              </a:rPr>
              <a:t>1</a:t>
            </a:r>
            <a:endParaRPr/>
          </a:p>
        </p:txBody>
      </p:sp>
      <p:sp>
        <p:nvSpPr>
          <p:cNvPr id="321" name="Google Shape;321;p11"/>
          <p:cNvSpPr/>
          <p:nvPr/>
        </p:nvSpPr>
        <p:spPr>
          <a:xfrm>
            <a:off x="790575" y="2647950"/>
            <a:ext cx="1181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0B1F33"/>
                </a:solidFill>
              </a:rPr>
              <a:t>REQUISITOS</a:t>
            </a:r>
            <a:endParaRPr/>
          </a:p>
        </p:txBody>
      </p:sp>
      <p:sp>
        <p:nvSpPr>
          <p:cNvPr id="322" name="Google Shape;322;p11"/>
          <p:cNvSpPr/>
          <p:nvPr/>
        </p:nvSpPr>
        <p:spPr>
          <a:xfrm>
            <a:off x="4248150" y="2628900"/>
            <a:ext cx="704850" cy="38100"/>
          </a:xfrm>
          <a:prstGeom prst="rect">
            <a:avLst/>
          </a:prstGeom>
          <a:solidFill>
            <a:srgbClr val="D9E5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1"/>
          <p:cNvSpPr/>
          <p:nvPr/>
        </p:nvSpPr>
        <p:spPr>
          <a:xfrm>
            <a:off x="2800350" y="2114550"/>
            <a:ext cx="1466850" cy="1047750"/>
          </a:xfrm>
          <a:prstGeom prst="roundRect">
            <a:avLst>
              <a:gd fmla="val 7273" name="adj"/>
            </a:avLst>
          </a:prstGeom>
          <a:solidFill>
            <a:srgbClr val="FFFFFF"/>
          </a:solidFill>
          <a:ln cap="flat" cmpd="sng" w="9525">
            <a:solidFill>
              <a:srgbClr val="D9E5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1"/>
          <p:cNvSpPr/>
          <p:nvPr/>
        </p:nvSpPr>
        <p:spPr>
          <a:xfrm>
            <a:off x="2971800" y="2276475"/>
            <a:ext cx="3048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2962FF"/>
                </a:solidFill>
              </a:rPr>
              <a:t>2</a:t>
            </a:r>
            <a:endParaRPr/>
          </a:p>
        </p:txBody>
      </p:sp>
      <p:sp>
        <p:nvSpPr>
          <p:cNvPr id="325" name="Google Shape;325;p11"/>
          <p:cNvSpPr/>
          <p:nvPr/>
        </p:nvSpPr>
        <p:spPr>
          <a:xfrm>
            <a:off x="2943225" y="2647950"/>
            <a:ext cx="1181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0B1F33"/>
                </a:solidFill>
              </a:rPr>
              <a:t>DISEÑO</a:t>
            </a:r>
            <a:endParaRPr/>
          </a:p>
        </p:txBody>
      </p:sp>
      <p:sp>
        <p:nvSpPr>
          <p:cNvPr id="326" name="Google Shape;326;p11"/>
          <p:cNvSpPr/>
          <p:nvPr/>
        </p:nvSpPr>
        <p:spPr>
          <a:xfrm>
            <a:off x="6400800" y="2628900"/>
            <a:ext cx="704850" cy="38100"/>
          </a:xfrm>
          <a:prstGeom prst="rect">
            <a:avLst/>
          </a:prstGeom>
          <a:solidFill>
            <a:srgbClr val="D9E5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1"/>
          <p:cNvSpPr/>
          <p:nvPr/>
        </p:nvSpPr>
        <p:spPr>
          <a:xfrm>
            <a:off x="4953000" y="2114550"/>
            <a:ext cx="1466850" cy="1047750"/>
          </a:xfrm>
          <a:prstGeom prst="roundRect">
            <a:avLst>
              <a:gd fmla="val 7273" name="adj"/>
            </a:avLst>
          </a:prstGeom>
          <a:solidFill>
            <a:srgbClr val="FFFFFF"/>
          </a:solidFill>
          <a:ln cap="flat" cmpd="sng" w="9525">
            <a:solidFill>
              <a:srgbClr val="D9E5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1"/>
          <p:cNvSpPr/>
          <p:nvPr/>
        </p:nvSpPr>
        <p:spPr>
          <a:xfrm>
            <a:off x="5124450" y="2276475"/>
            <a:ext cx="3048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2962FF"/>
                </a:solidFill>
              </a:rPr>
              <a:t>3</a:t>
            </a:r>
            <a:endParaRPr/>
          </a:p>
        </p:txBody>
      </p:sp>
      <p:sp>
        <p:nvSpPr>
          <p:cNvPr id="329" name="Google Shape;329;p11"/>
          <p:cNvSpPr/>
          <p:nvPr/>
        </p:nvSpPr>
        <p:spPr>
          <a:xfrm>
            <a:off x="5095875" y="2647950"/>
            <a:ext cx="1181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0B1F33"/>
                </a:solidFill>
              </a:rPr>
              <a:t>IMPLEMENTACIÓN</a:t>
            </a:r>
            <a:endParaRPr/>
          </a:p>
        </p:txBody>
      </p:sp>
      <p:sp>
        <p:nvSpPr>
          <p:cNvPr id="330" name="Google Shape;330;p11"/>
          <p:cNvSpPr/>
          <p:nvPr/>
        </p:nvSpPr>
        <p:spPr>
          <a:xfrm>
            <a:off x="8553450" y="2628900"/>
            <a:ext cx="704850" cy="38100"/>
          </a:xfrm>
          <a:prstGeom prst="rect">
            <a:avLst/>
          </a:prstGeom>
          <a:solidFill>
            <a:srgbClr val="D9E5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1"/>
          <p:cNvSpPr/>
          <p:nvPr/>
        </p:nvSpPr>
        <p:spPr>
          <a:xfrm>
            <a:off x="7105650" y="2114550"/>
            <a:ext cx="1466850" cy="1047750"/>
          </a:xfrm>
          <a:prstGeom prst="roundRect">
            <a:avLst>
              <a:gd fmla="val 7273" name="adj"/>
            </a:avLst>
          </a:prstGeom>
          <a:solidFill>
            <a:srgbClr val="FFFFFF"/>
          </a:solidFill>
          <a:ln cap="flat" cmpd="sng" w="9525">
            <a:solidFill>
              <a:srgbClr val="D9E5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1"/>
          <p:cNvSpPr/>
          <p:nvPr/>
        </p:nvSpPr>
        <p:spPr>
          <a:xfrm>
            <a:off x="7277100" y="2276475"/>
            <a:ext cx="3048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2962FF"/>
                </a:solidFill>
              </a:rPr>
              <a:t>4</a:t>
            </a:r>
            <a:endParaRPr/>
          </a:p>
        </p:txBody>
      </p:sp>
      <p:sp>
        <p:nvSpPr>
          <p:cNvPr id="333" name="Google Shape;333;p11"/>
          <p:cNvSpPr/>
          <p:nvPr/>
        </p:nvSpPr>
        <p:spPr>
          <a:xfrm>
            <a:off x="7248525" y="2647950"/>
            <a:ext cx="1181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0B1F33"/>
                </a:solidFill>
              </a:rPr>
              <a:t>PRUEBAS</a:t>
            </a:r>
            <a:endParaRPr/>
          </a:p>
        </p:txBody>
      </p:sp>
      <p:sp>
        <p:nvSpPr>
          <p:cNvPr id="334" name="Google Shape;334;p11"/>
          <p:cNvSpPr/>
          <p:nvPr/>
        </p:nvSpPr>
        <p:spPr>
          <a:xfrm>
            <a:off x="9258300" y="2114550"/>
            <a:ext cx="1466850" cy="1047750"/>
          </a:xfrm>
          <a:prstGeom prst="roundRect">
            <a:avLst>
              <a:gd fmla="val 7273" name="adj"/>
            </a:avLst>
          </a:prstGeom>
          <a:solidFill>
            <a:srgbClr val="FFFFFF"/>
          </a:solidFill>
          <a:ln cap="flat" cmpd="sng" w="9525">
            <a:solidFill>
              <a:srgbClr val="D9E5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1"/>
          <p:cNvSpPr/>
          <p:nvPr/>
        </p:nvSpPr>
        <p:spPr>
          <a:xfrm>
            <a:off x="9429750" y="2276475"/>
            <a:ext cx="3048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2962FF"/>
                </a:solidFill>
              </a:rPr>
              <a:t>5</a:t>
            </a:r>
            <a:endParaRPr/>
          </a:p>
        </p:txBody>
      </p:sp>
      <p:sp>
        <p:nvSpPr>
          <p:cNvPr id="336" name="Google Shape;336;p11"/>
          <p:cNvSpPr/>
          <p:nvPr/>
        </p:nvSpPr>
        <p:spPr>
          <a:xfrm>
            <a:off x="9401175" y="2647950"/>
            <a:ext cx="1181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0B1F33"/>
                </a:solidFill>
              </a:rPr>
              <a:t>INTEGRACIÓN</a:t>
            </a:r>
            <a:endParaRPr/>
          </a:p>
        </p:txBody>
      </p:sp>
      <p:sp>
        <p:nvSpPr>
          <p:cNvPr id="337" name="Google Shape;337;p11"/>
          <p:cNvSpPr/>
          <p:nvPr/>
        </p:nvSpPr>
        <p:spPr>
          <a:xfrm>
            <a:off x="609600" y="3867150"/>
            <a:ext cx="4857750" cy="1428750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 cap="flat" cmpd="sng" w="9525">
            <a:solidFill>
              <a:srgbClr val="D9E5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1"/>
          <p:cNvSpPr/>
          <p:nvPr/>
        </p:nvSpPr>
        <p:spPr>
          <a:xfrm>
            <a:off x="609600" y="3867150"/>
            <a:ext cx="66675" cy="1428750"/>
          </a:xfrm>
          <a:prstGeom prst="rect">
            <a:avLst/>
          </a:prstGeom>
          <a:solidFill>
            <a:srgbClr val="16B8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1"/>
          <p:cNvSpPr/>
          <p:nvPr/>
        </p:nvSpPr>
        <p:spPr>
          <a:xfrm>
            <a:off x="847725" y="4038600"/>
            <a:ext cx="44291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B1F33"/>
                </a:solidFill>
              </a:rPr>
              <a:t>Criterio de avance</a:t>
            </a:r>
            <a:endParaRPr/>
          </a:p>
        </p:txBody>
      </p:sp>
      <p:sp>
        <p:nvSpPr>
          <p:cNvPr id="340" name="Google Shape;340;p11"/>
          <p:cNvSpPr/>
          <p:nvPr/>
        </p:nvSpPr>
        <p:spPr>
          <a:xfrm>
            <a:off x="847725" y="4410075"/>
            <a:ext cx="4429125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637586"/>
                </a:solidFill>
              </a:rPr>
              <a:t>Cada etapa comienza después de revisar el entregable anterior y conservar la trazabilidad.</a:t>
            </a:r>
            <a:endParaRPr/>
          </a:p>
        </p:txBody>
      </p:sp>
      <p:sp>
        <p:nvSpPr>
          <p:cNvPr id="341" name="Google Shape;341;p11"/>
          <p:cNvSpPr/>
          <p:nvPr/>
        </p:nvSpPr>
        <p:spPr>
          <a:xfrm>
            <a:off x="5905500" y="3867150"/>
            <a:ext cx="5276850" cy="1428750"/>
          </a:xfrm>
          <a:prstGeom prst="roundRect">
            <a:avLst>
              <a:gd fmla="val 5333" name="adj"/>
            </a:avLst>
          </a:prstGeom>
          <a:solidFill>
            <a:srgbClr val="0B1F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1"/>
          <p:cNvSpPr/>
          <p:nvPr/>
        </p:nvSpPr>
        <p:spPr>
          <a:xfrm>
            <a:off x="6191250" y="4076700"/>
            <a:ext cx="4381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6B8D4"/>
                </a:solidFill>
              </a:rPr>
              <a:t>¿POR QUÉ CASCADA?</a:t>
            </a:r>
            <a:endParaRPr/>
          </a:p>
        </p:txBody>
      </p:sp>
      <p:sp>
        <p:nvSpPr>
          <p:cNvPr id="343" name="Google Shape;343;p11"/>
          <p:cNvSpPr/>
          <p:nvPr/>
        </p:nvSpPr>
        <p:spPr>
          <a:xfrm>
            <a:off x="6191250" y="4429125"/>
            <a:ext cx="44767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FFFFFF"/>
                </a:solidFill>
              </a:rPr>
              <a:t>El alcance requiere documentación previa y coordinación entre componentes dependientes.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2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6B8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2"/>
          <p:cNvSpPr/>
          <p:nvPr/>
        </p:nvSpPr>
        <p:spPr>
          <a:xfrm>
            <a:off x="609600" y="333375"/>
            <a:ext cx="5238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6B8D4"/>
                </a:solidFill>
              </a:rPr>
              <a:t>PLAN DE TRABAJO</a:t>
            </a:r>
            <a:endParaRPr/>
          </a:p>
        </p:txBody>
      </p:sp>
      <p:sp>
        <p:nvSpPr>
          <p:cNvPr id="351" name="Google Shape;351;p12"/>
          <p:cNvSpPr/>
          <p:nvPr/>
        </p:nvSpPr>
        <p:spPr>
          <a:xfrm>
            <a:off x="609600" y="647700"/>
            <a:ext cx="108585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0B1F33"/>
                </a:solidFill>
              </a:rPr>
              <a:t>El proyecto se desarrolla de agosto a diciembre de 2026</a:t>
            </a:r>
            <a:endParaRPr/>
          </a:p>
        </p:txBody>
      </p:sp>
      <p:sp>
        <p:nvSpPr>
          <p:cNvPr id="352" name="Google Shape;352;p12"/>
          <p:cNvSpPr/>
          <p:nvPr/>
        </p:nvSpPr>
        <p:spPr>
          <a:xfrm>
            <a:off x="609600" y="1285875"/>
            <a:ext cx="666750" cy="38100"/>
          </a:xfrm>
          <a:prstGeom prst="rect">
            <a:avLst/>
          </a:prstGeom>
          <a:solidFill>
            <a:srgbClr val="16B8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2"/>
          <p:cNvSpPr/>
          <p:nvPr/>
        </p:nvSpPr>
        <p:spPr>
          <a:xfrm>
            <a:off x="11144250" y="6381750"/>
            <a:ext cx="4191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637586"/>
                </a:solidFill>
              </a:rPr>
              <a:t>12</a:t>
            </a:r>
            <a:endParaRPr/>
          </a:p>
        </p:txBody>
      </p:sp>
      <p:sp>
        <p:nvSpPr>
          <p:cNvPr id="354" name="Google Shape;354;p12"/>
          <p:cNvSpPr/>
          <p:nvPr/>
        </p:nvSpPr>
        <p:spPr>
          <a:xfrm>
            <a:off x="1106350" y="1619200"/>
            <a:ext cx="29529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637586"/>
                </a:solidFill>
              </a:rPr>
              <a:t>ACTIVIDAD</a:t>
            </a:r>
            <a:endParaRPr/>
          </a:p>
        </p:txBody>
      </p:sp>
      <p:sp>
        <p:nvSpPr>
          <p:cNvPr id="355" name="Google Shape;355;p12"/>
          <p:cNvSpPr/>
          <p:nvPr/>
        </p:nvSpPr>
        <p:spPr>
          <a:xfrm>
            <a:off x="4554400" y="1619200"/>
            <a:ext cx="14289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637586"/>
                </a:solidFill>
              </a:rPr>
              <a:t>SEPTIEMBRE</a:t>
            </a:r>
            <a:endParaRPr/>
          </a:p>
        </p:txBody>
      </p:sp>
      <p:sp>
        <p:nvSpPr>
          <p:cNvPr id="356" name="Google Shape;356;p12"/>
          <p:cNvSpPr/>
          <p:nvPr/>
        </p:nvSpPr>
        <p:spPr>
          <a:xfrm>
            <a:off x="6307000" y="1619200"/>
            <a:ext cx="14289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637586"/>
                </a:solidFill>
              </a:rPr>
              <a:t>OCTUBRE</a:t>
            </a:r>
            <a:endParaRPr/>
          </a:p>
        </p:txBody>
      </p:sp>
      <p:sp>
        <p:nvSpPr>
          <p:cNvPr id="357" name="Google Shape;357;p12"/>
          <p:cNvSpPr/>
          <p:nvPr/>
        </p:nvSpPr>
        <p:spPr>
          <a:xfrm>
            <a:off x="8059600" y="1619200"/>
            <a:ext cx="14289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637586"/>
                </a:solidFill>
              </a:rPr>
              <a:t>NOVIEMBRE</a:t>
            </a:r>
            <a:endParaRPr/>
          </a:p>
        </p:txBody>
      </p:sp>
      <p:sp>
        <p:nvSpPr>
          <p:cNvPr id="358" name="Google Shape;358;p12"/>
          <p:cNvSpPr/>
          <p:nvPr/>
        </p:nvSpPr>
        <p:spPr>
          <a:xfrm>
            <a:off x="9812200" y="1619200"/>
            <a:ext cx="14289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637586"/>
                </a:solidFill>
              </a:rPr>
              <a:t>DICIEMBRE</a:t>
            </a:r>
            <a:endParaRPr/>
          </a:p>
        </p:txBody>
      </p:sp>
      <p:sp>
        <p:nvSpPr>
          <p:cNvPr id="359" name="Google Shape;359;p12"/>
          <p:cNvSpPr/>
          <p:nvPr/>
        </p:nvSpPr>
        <p:spPr>
          <a:xfrm>
            <a:off x="609600" y="1971675"/>
            <a:ext cx="3048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0B1F33"/>
                </a:solidFill>
              </a:rPr>
              <a:t>Análisis y requerimientos</a:t>
            </a:r>
            <a:endParaRPr/>
          </a:p>
        </p:txBody>
      </p:sp>
      <p:sp>
        <p:nvSpPr>
          <p:cNvPr id="360" name="Google Shape;360;p12"/>
          <p:cNvSpPr/>
          <p:nvPr/>
        </p:nvSpPr>
        <p:spPr>
          <a:xfrm>
            <a:off x="2998950" y="1971638"/>
            <a:ext cx="1428900" cy="276300"/>
          </a:xfrm>
          <a:prstGeom prst="roundRect">
            <a:avLst>
              <a:gd fmla="val 27586" name="adj"/>
            </a:avLst>
          </a:prstGeom>
          <a:solidFill>
            <a:srgbClr val="16B8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2"/>
          <p:cNvSpPr/>
          <p:nvPr/>
        </p:nvSpPr>
        <p:spPr>
          <a:xfrm>
            <a:off x="2998800" y="2462163"/>
            <a:ext cx="1428900" cy="276300"/>
          </a:xfrm>
          <a:prstGeom prst="roundRect">
            <a:avLst>
              <a:gd fmla="val 27586" name="adj"/>
            </a:avLst>
          </a:prstGeom>
          <a:solidFill>
            <a:srgbClr val="E5ED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2"/>
          <p:cNvSpPr/>
          <p:nvPr/>
        </p:nvSpPr>
        <p:spPr>
          <a:xfrm>
            <a:off x="6504150" y="1971638"/>
            <a:ext cx="1428900" cy="276300"/>
          </a:xfrm>
          <a:prstGeom prst="roundRect">
            <a:avLst>
              <a:gd fmla="val 27586" name="adj"/>
            </a:avLst>
          </a:prstGeom>
          <a:solidFill>
            <a:srgbClr val="E5ED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2"/>
          <p:cNvSpPr/>
          <p:nvPr/>
        </p:nvSpPr>
        <p:spPr>
          <a:xfrm>
            <a:off x="8256750" y="1971638"/>
            <a:ext cx="1428900" cy="276300"/>
          </a:xfrm>
          <a:prstGeom prst="roundRect">
            <a:avLst>
              <a:gd fmla="val 27586" name="adj"/>
            </a:avLst>
          </a:prstGeom>
          <a:solidFill>
            <a:srgbClr val="E5ED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2"/>
          <p:cNvSpPr/>
          <p:nvPr/>
        </p:nvSpPr>
        <p:spPr>
          <a:xfrm>
            <a:off x="609600" y="2438400"/>
            <a:ext cx="3048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0B1F33"/>
                </a:solidFill>
              </a:rPr>
              <a:t>Arquitectura y base de datos</a:t>
            </a:r>
            <a:endParaRPr/>
          </a:p>
        </p:txBody>
      </p:sp>
      <p:sp>
        <p:nvSpPr>
          <p:cNvPr id="365" name="Google Shape;365;p12"/>
          <p:cNvSpPr/>
          <p:nvPr/>
        </p:nvSpPr>
        <p:spPr>
          <a:xfrm>
            <a:off x="4751475" y="2438325"/>
            <a:ext cx="1428900" cy="276300"/>
          </a:xfrm>
          <a:prstGeom prst="roundRect">
            <a:avLst>
              <a:gd fmla="val 27586" name="adj"/>
            </a:avLst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2"/>
          <p:cNvSpPr/>
          <p:nvPr/>
        </p:nvSpPr>
        <p:spPr>
          <a:xfrm>
            <a:off x="6504150" y="2438363"/>
            <a:ext cx="1428900" cy="276300"/>
          </a:xfrm>
          <a:prstGeom prst="roundRect">
            <a:avLst>
              <a:gd fmla="val 27586" name="adj"/>
            </a:avLst>
          </a:prstGeom>
          <a:solidFill>
            <a:srgbClr val="E5ED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2"/>
          <p:cNvSpPr/>
          <p:nvPr/>
        </p:nvSpPr>
        <p:spPr>
          <a:xfrm>
            <a:off x="8256750" y="2438363"/>
            <a:ext cx="1428900" cy="276300"/>
          </a:xfrm>
          <a:prstGeom prst="roundRect">
            <a:avLst>
              <a:gd fmla="val 27586" name="adj"/>
            </a:avLst>
          </a:prstGeom>
          <a:solidFill>
            <a:srgbClr val="E5ED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2"/>
          <p:cNvSpPr/>
          <p:nvPr/>
        </p:nvSpPr>
        <p:spPr>
          <a:xfrm>
            <a:off x="609600" y="2905125"/>
            <a:ext cx="3048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0B1F33"/>
                </a:solidFill>
              </a:rPr>
              <a:t>Backend y plataforma Web</a:t>
            </a:r>
            <a:endParaRPr/>
          </a:p>
        </p:txBody>
      </p:sp>
      <p:sp>
        <p:nvSpPr>
          <p:cNvPr id="369" name="Google Shape;369;p12"/>
          <p:cNvSpPr/>
          <p:nvPr/>
        </p:nvSpPr>
        <p:spPr>
          <a:xfrm>
            <a:off x="2998800" y="2905038"/>
            <a:ext cx="1428900" cy="276300"/>
          </a:xfrm>
          <a:prstGeom prst="roundRect">
            <a:avLst>
              <a:gd fmla="val 27586" name="adj"/>
            </a:avLst>
          </a:prstGeom>
          <a:solidFill>
            <a:srgbClr val="E5ED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2"/>
          <p:cNvSpPr/>
          <p:nvPr/>
        </p:nvSpPr>
        <p:spPr>
          <a:xfrm>
            <a:off x="4751550" y="2905088"/>
            <a:ext cx="1428900" cy="276300"/>
          </a:xfrm>
          <a:prstGeom prst="roundRect">
            <a:avLst>
              <a:gd fmla="val 27586" name="adj"/>
            </a:avLst>
          </a:prstGeom>
          <a:solidFill>
            <a:srgbClr val="16B8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2"/>
          <p:cNvSpPr/>
          <p:nvPr/>
        </p:nvSpPr>
        <p:spPr>
          <a:xfrm>
            <a:off x="6504150" y="2905088"/>
            <a:ext cx="1428900" cy="276300"/>
          </a:xfrm>
          <a:prstGeom prst="roundRect">
            <a:avLst>
              <a:gd fmla="val 27586" name="adj"/>
            </a:avLst>
          </a:prstGeom>
          <a:solidFill>
            <a:srgbClr val="16B8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2"/>
          <p:cNvSpPr/>
          <p:nvPr/>
        </p:nvSpPr>
        <p:spPr>
          <a:xfrm>
            <a:off x="8256750" y="2905088"/>
            <a:ext cx="1428900" cy="276300"/>
          </a:xfrm>
          <a:prstGeom prst="roundRect">
            <a:avLst>
              <a:gd fmla="val 27586" name="adj"/>
            </a:avLst>
          </a:prstGeom>
          <a:solidFill>
            <a:srgbClr val="E5ED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2"/>
          <p:cNvSpPr/>
          <p:nvPr/>
        </p:nvSpPr>
        <p:spPr>
          <a:xfrm>
            <a:off x="609600" y="3371850"/>
            <a:ext cx="3048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0B1F33"/>
                </a:solidFill>
              </a:rPr>
              <a:t>Aplicación móvil</a:t>
            </a:r>
            <a:endParaRPr/>
          </a:p>
        </p:txBody>
      </p:sp>
      <p:sp>
        <p:nvSpPr>
          <p:cNvPr id="374" name="Google Shape;374;p12"/>
          <p:cNvSpPr/>
          <p:nvPr/>
        </p:nvSpPr>
        <p:spPr>
          <a:xfrm>
            <a:off x="2998950" y="3371813"/>
            <a:ext cx="1428900" cy="276300"/>
          </a:xfrm>
          <a:prstGeom prst="roundRect">
            <a:avLst>
              <a:gd fmla="val 27586" name="adj"/>
            </a:avLst>
          </a:prstGeom>
          <a:solidFill>
            <a:srgbClr val="E5ED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2"/>
          <p:cNvSpPr/>
          <p:nvPr/>
        </p:nvSpPr>
        <p:spPr>
          <a:xfrm>
            <a:off x="4751550" y="3371813"/>
            <a:ext cx="1428900" cy="276300"/>
          </a:xfrm>
          <a:prstGeom prst="roundRect">
            <a:avLst>
              <a:gd fmla="val 27586" name="adj"/>
            </a:avLst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2"/>
          <p:cNvSpPr/>
          <p:nvPr/>
        </p:nvSpPr>
        <p:spPr>
          <a:xfrm>
            <a:off x="6504150" y="3371813"/>
            <a:ext cx="1428900" cy="276300"/>
          </a:xfrm>
          <a:prstGeom prst="roundRect">
            <a:avLst>
              <a:gd fmla="val 27586" name="adj"/>
            </a:avLst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2"/>
          <p:cNvSpPr/>
          <p:nvPr/>
        </p:nvSpPr>
        <p:spPr>
          <a:xfrm>
            <a:off x="8256750" y="3371813"/>
            <a:ext cx="1428900" cy="276300"/>
          </a:xfrm>
          <a:prstGeom prst="roundRect">
            <a:avLst>
              <a:gd fmla="val 27586" name="adj"/>
            </a:avLst>
          </a:prstGeom>
          <a:solidFill>
            <a:srgbClr val="E5ED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2"/>
          <p:cNvSpPr/>
          <p:nvPr/>
        </p:nvSpPr>
        <p:spPr>
          <a:xfrm>
            <a:off x="609600" y="3838575"/>
            <a:ext cx="3048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0B1F33"/>
                </a:solidFill>
              </a:rPr>
              <a:t>Integraciones y dashboard</a:t>
            </a:r>
            <a:endParaRPr/>
          </a:p>
        </p:txBody>
      </p:sp>
      <p:sp>
        <p:nvSpPr>
          <p:cNvPr id="379" name="Google Shape;379;p12"/>
          <p:cNvSpPr/>
          <p:nvPr/>
        </p:nvSpPr>
        <p:spPr>
          <a:xfrm>
            <a:off x="2998950" y="3838538"/>
            <a:ext cx="1428900" cy="276300"/>
          </a:xfrm>
          <a:prstGeom prst="roundRect">
            <a:avLst>
              <a:gd fmla="val 27586" name="adj"/>
            </a:avLst>
          </a:prstGeom>
          <a:solidFill>
            <a:srgbClr val="E5ED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2"/>
          <p:cNvSpPr/>
          <p:nvPr/>
        </p:nvSpPr>
        <p:spPr>
          <a:xfrm>
            <a:off x="4751550" y="3838538"/>
            <a:ext cx="1428900" cy="276300"/>
          </a:xfrm>
          <a:prstGeom prst="roundRect">
            <a:avLst>
              <a:gd fmla="val 27586" name="adj"/>
            </a:avLst>
          </a:prstGeom>
          <a:solidFill>
            <a:srgbClr val="E5ED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2"/>
          <p:cNvSpPr/>
          <p:nvPr/>
        </p:nvSpPr>
        <p:spPr>
          <a:xfrm>
            <a:off x="6504150" y="3838538"/>
            <a:ext cx="1428900" cy="276300"/>
          </a:xfrm>
          <a:prstGeom prst="roundRect">
            <a:avLst>
              <a:gd fmla="val 27586" name="adj"/>
            </a:avLst>
          </a:prstGeom>
          <a:solidFill>
            <a:srgbClr val="16B8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2"/>
          <p:cNvSpPr/>
          <p:nvPr/>
        </p:nvSpPr>
        <p:spPr>
          <a:xfrm>
            <a:off x="8256750" y="3838538"/>
            <a:ext cx="1428900" cy="276300"/>
          </a:xfrm>
          <a:prstGeom prst="roundRect">
            <a:avLst>
              <a:gd fmla="val 27586" name="adj"/>
            </a:avLst>
          </a:prstGeom>
          <a:solidFill>
            <a:srgbClr val="E5ED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2"/>
          <p:cNvSpPr/>
          <p:nvPr/>
        </p:nvSpPr>
        <p:spPr>
          <a:xfrm>
            <a:off x="609600" y="4305300"/>
            <a:ext cx="3048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0B1F33"/>
                </a:solidFill>
              </a:rPr>
              <a:t>Pruebas y documentación</a:t>
            </a:r>
            <a:endParaRPr/>
          </a:p>
        </p:txBody>
      </p:sp>
      <p:sp>
        <p:nvSpPr>
          <p:cNvPr id="384" name="Google Shape;384;p12"/>
          <p:cNvSpPr/>
          <p:nvPr/>
        </p:nvSpPr>
        <p:spPr>
          <a:xfrm>
            <a:off x="2998950" y="4305263"/>
            <a:ext cx="1428900" cy="276300"/>
          </a:xfrm>
          <a:prstGeom prst="roundRect">
            <a:avLst>
              <a:gd fmla="val 27586" name="adj"/>
            </a:avLst>
          </a:prstGeom>
          <a:solidFill>
            <a:srgbClr val="E5ED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2"/>
          <p:cNvSpPr/>
          <p:nvPr/>
        </p:nvSpPr>
        <p:spPr>
          <a:xfrm>
            <a:off x="4751550" y="4305263"/>
            <a:ext cx="1428900" cy="276300"/>
          </a:xfrm>
          <a:prstGeom prst="roundRect">
            <a:avLst>
              <a:gd fmla="val 27586" name="adj"/>
            </a:avLst>
          </a:prstGeom>
          <a:solidFill>
            <a:srgbClr val="E5ED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2"/>
          <p:cNvSpPr/>
          <p:nvPr/>
        </p:nvSpPr>
        <p:spPr>
          <a:xfrm>
            <a:off x="6504150" y="4305263"/>
            <a:ext cx="1428900" cy="276300"/>
          </a:xfrm>
          <a:prstGeom prst="roundRect">
            <a:avLst>
              <a:gd fmla="val 27586" name="adj"/>
            </a:avLst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2"/>
          <p:cNvSpPr/>
          <p:nvPr/>
        </p:nvSpPr>
        <p:spPr>
          <a:xfrm>
            <a:off x="8256750" y="4305263"/>
            <a:ext cx="1428900" cy="276300"/>
          </a:xfrm>
          <a:prstGeom prst="roundRect">
            <a:avLst>
              <a:gd fmla="val 27586" name="adj"/>
            </a:avLst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2"/>
          <p:cNvSpPr/>
          <p:nvPr/>
        </p:nvSpPr>
        <p:spPr>
          <a:xfrm>
            <a:off x="609600" y="4772025"/>
            <a:ext cx="3048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0B1F33"/>
                </a:solidFill>
              </a:rPr>
              <a:t>Entrega y defensa final</a:t>
            </a:r>
            <a:endParaRPr/>
          </a:p>
        </p:txBody>
      </p:sp>
      <p:sp>
        <p:nvSpPr>
          <p:cNvPr id="389" name="Google Shape;389;p12"/>
          <p:cNvSpPr/>
          <p:nvPr/>
        </p:nvSpPr>
        <p:spPr>
          <a:xfrm>
            <a:off x="2998950" y="4771988"/>
            <a:ext cx="1428900" cy="276300"/>
          </a:xfrm>
          <a:prstGeom prst="roundRect">
            <a:avLst>
              <a:gd fmla="val 27586" name="adj"/>
            </a:avLst>
          </a:prstGeom>
          <a:solidFill>
            <a:srgbClr val="E5ED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2"/>
          <p:cNvSpPr/>
          <p:nvPr/>
        </p:nvSpPr>
        <p:spPr>
          <a:xfrm>
            <a:off x="4751550" y="4771988"/>
            <a:ext cx="1428900" cy="276300"/>
          </a:xfrm>
          <a:prstGeom prst="roundRect">
            <a:avLst>
              <a:gd fmla="val 27586" name="adj"/>
            </a:avLst>
          </a:prstGeom>
          <a:solidFill>
            <a:srgbClr val="E5ED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2"/>
          <p:cNvSpPr/>
          <p:nvPr/>
        </p:nvSpPr>
        <p:spPr>
          <a:xfrm>
            <a:off x="6504150" y="4771988"/>
            <a:ext cx="1428900" cy="276300"/>
          </a:xfrm>
          <a:prstGeom prst="roundRect">
            <a:avLst>
              <a:gd fmla="val 27586" name="adj"/>
            </a:avLst>
          </a:prstGeom>
          <a:solidFill>
            <a:srgbClr val="E5ED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2"/>
          <p:cNvSpPr/>
          <p:nvPr/>
        </p:nvSpPr>
        <p:spPr>
          <a:xfrm>
            <a:off x="8256750" y="4771988"/>
            <a:ext cx="1428900" cy="276300"/>
          </a:xfrm>
          <a:prstGeom prst="roundRect">
            <a:avLst>
              <a:gd fmla="val 27586" name="adj"/>
            </a:avLst>
          </a:prstGeom>
          <a:solidFill>
            <a:srgbClr val="16B8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2"/>
          <p:cNvSpPr/>
          <p:nvPr/>
        </p:nvSpPr>
        <p:spPr>
          <a:xfrm>
            <a:off x="609600" y="5476875"/>
            <a:ext cx="10572750" cy="600075"/>
          </a:xfrm>
          <a:prstGeom prst="roundRect">
            <a:avLst>
              <a:gd fmla="val 12698" name="adj"/>
            </a:avLst>
          </a:prstGeom>
          <a:solidFill>
            <a:srgbClr val="0B1F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2"/>
          <p:cNvSpPr/>
          <p:nvPr/>
        </p:nvSpPr>
        <p:spPr>
          <a:xfrm>
            <a:off x="800100" y="5657875"/>
            <a:ext cx="10191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6B8D4"/>
                </a:solidFill>
              </a:rPr>
              <a:t>Duración: Agosto–diciembre 2026  ·  Entrega final: última semana de diciembre</a:t>
            </a:r>
            <a:endParaRPr/>
          </a:p>
        </p:txBody>
      </p:sp>
      <p:sp>
        <p:nvSpPr>
          <p:cNvPr id="395" name="Google Shape;395;p12"/>
          <p:cNvSpPr/>
          <p:nvPr/>
        </p:nvSpPr>
        <p:spPr>
          <a:xfrm>
            <a:off x="3068175" y="1619125"/>
            <a:ext cx="14289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637586"/>
                </a:solidFill>
              </a:rPr>
              <a:t>AGOSTO</a:t>
            </a:r>
            <a:endParaRPr/>
          </a:p>
        </p:txBody>
      </p:sp>
      <p:sp>
        <p:nvSpPr>
          <p:cNvPr id="396" name="Google Shape;396;p12"/>
          <p:cNvSpPr/>
          <p:nvPr/>
        </p:nvSpPr>
        <p:spPr>
          <a:xfrm>
            <a:off x="10009350" y="1971625"/>
            <a:ext cx="1428900" cy="276300"/>
          </a:xfrm>
          <a:prstGeom prst="roundRect">
            <a:avLst>
              <a:gd fmla="val 27586" name="adj"/>
            </a:avLst>
          </a:prstGeom>
          <a:solidFill>
            <a:srgbClr val="E5ED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2"/>
          <p:cNvSpPr/>
          <p:nvPr/>
        </p:nvSpPr>
        <p:spPr>
          <a:xfrm>
            <a:off x="10009350" y="2438350"/>
            <a:ext cx="1428900" cy="276300"/>
          </a:xfrm>
          <a:prstGeom prst="roundRect">
            <a:avLst>
              <a:gd fmla="val 27586" name="adj"/>
            </a:avLst>
          </a:prstGeom>
          <a:solidFill>
            <a:srgbClr val="E5ED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2"/>
          <p:cNvSpPr/>
          <p:nvPr/>
        </p:nvSpPr>
        <p:spPr>
          <a:xfrm>
            <a:off x="10009350" y="2905075"/>
            <a:ext cx="1428900" cy="276300"/>
          </a:xfrm>
          <a:prstGeom prst="roundRect">
            <a:avLst>
              <a:gd fmla="val 27586" name="adj"/>
            </a:avLst>
          </a:prstGeom>
          <a:solidFill>
            <a:srgbClr val="E5ED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2"/>
          <p:cNvSpPr/>
          <p:nvPr/>
        </p:nvSpPr>
        <p:spPr>
          <a:xfrm>
            <a:off x="10009350" y="3371800"/>
            <a:ext cx="1428900" cy="276300"/>
          </a:xfrm>
          <a:prstGeom prst="roundRect">
            <a:avLst>
              <a:gd fmla="val 27586" name="adj"/>
            </a:avLst>
          </a:prstGeom>
          <a:solidFill>
            <a:srgbClr val="E5ED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2"/>
          <p:cNvSpPr/>
          <p:nvPr/>
        </p:nvSpPr>
        <p:spPr>
          <a:xfrm>
            <a:off x="10009350" y="3838525"/>
            <a:ext cx="1428900" cy="276300"/>
          </a:xfrm>
          <a:prstGeom prst="roundRect">
            <a:avLst>
              <a:gd fmla="val 27586" name="adj"/>
            </a:avLst>
          </a:prstGeom>
          <a:solidFill>
            <a:srgbClr val="E5ED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2"/>
          <p:cNvSpPr/>
          <p:nvPr/>
        </p:nvSpPr>
        <p:spPr>
          <a:xfrm>
            <a:off x="10009350" y="4771975"/>
            <a:ext cx="1428900" cy="276300"/>
          </a:xfrm>
          <a:prstGeom prst="roundRect">
            <a:avLst>
              <a:gd fmla="val 27586" name="adj"/>
            </a:avLst>
          </a:prstGeom>
          <a:solidFill>
            <a:srgbClr val="16B8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2"/>
          <p:cNvSpPr/>
          <p:nvPr/>
        </p:nvSpPr>
        <p:spPr>
          <a:xfrm>
            <a:off x="10039200" y="4343375"/>
            <a:ext cx="1428900" cy="276300"/>
          </a:xfrm>
          <a:prstGeom prst="roundRect">
            <a:avLst>
              <a:gd fmla="val 27586" name="adj"/>
            </a:avLst>
          </a:prstGeom>
          <a:solidFill>
            <a:srgbClr val="E5ED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2"/>
          <p:cNvSpPr/>
          <p:nvPr/>
        </p:nvSpPr>
        <p:spPr>
          <a:xfrm>
            <a:off x="4751550" y="1995450"/>
            <a:ext cx="1428900" cy="276300"/>
          </a:xfrm>
          <a:prstGeom prst="roundRect">
            <a:avLst>
              <a:gd fmla="val 27586" name="adj"/>
            </a:avLst>
          </a:prstGeom>
          <a:solidFill>
            <a:srgbClr val="E5ED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3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6B8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3"/>
          <p:cNvSpPr/>
          <p:nvPr/>
        </p:nvSpPr>
        <p:spPr>
          <a:xfrm>
            <a:off x="609600" y="333375"/>
            <a:ext cx="5238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6B8D4"/>
                </a:solidFill>
              </a:rPr>
              <a:t>EVIDENCIAS</a:t>
            </a:r>
            <a:endParaRPr/>
          </a:p>
        </p:txBody>
      </p:sp>
      <p:sp>
        <p:nvSpPr>
          <p:cNvPr id="411" name="Google Shape;411;p13"/>
          <p:cNvSpPr/>
          <p:nvPr/>
        </p:nvSpPr>
        <p:spPr>
          <a:xfrm>
            <a:off x="609600" y="647700"/>
            <a:ext cx="108585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0B1F33"/>
                </a:solidFill>
              </a:rPr>
              <a:t>Cada entrega demuestra avance, integración y calidad</a:t>
            </a:r>
            <a:endParaRPr/>
          </a:p>
        </p:txBody>
      </p:sp>
      <p:sp>
        <p:nvSpPr>
          <p:cNvPr id="412" name="Google Shape;412;p13"/>
          <p:cNvSpPr/>
          <p:nvPr/>
        </p:nvSpPr>
        <p:spPr>
          <a:xfrm>
            <a:off x="609600" y="1285875"/>
            <a:ext cx="666750" cy="38100"/>
          </a:xfrm>
          <a:prstGeom prst="rect">
            <a:avLst/>
          </a:prstGeom>
          <a:solidFill>
            <a:srgbClr val="16B8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3"/>
          <p:cNvSpPr/>
          <p:nvPr/>
        </p:nvSpPr>
        <p:spPr>
          <a:xfrm>
            <a:off x="11144250" y="6381750"/>
            <a:ext cx="4191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637586"/>
                </a:solidFill>
              </a:rPr>
              <a:t>13</a:t>
            </a:r>
            <a:endParaRPr/>
          </a:p>
        </p:txBody>
      </p:sp>
      <p:sp>
        <p:nvSpPr>
          <p:cNvPr id="414" name="Google Shape;414;p13"/>
          <p:cNvSpPr/>
          <p:nvPr/>
        </p:nvSpPr>
        <p:spPr>
          <a:xfrm>
            <a:off x="619125" y="1657350"/>
            <a:ext cx="476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16B8D4"/>
                </a:solidFill>
              </a:rPr>
              <a:t>01</a:t>
            </a:r>
            <a:endParaRPr/>
          </a:p>
        </p:txBody>
      </p:sp>
      <p:sp>
        <p:nvSpPr>
          <p:cNvPr id="415" name="Google Shape;415;p13"/>
          <p:cNvSpPr/>
          <p:nvPr/>
        </p:nvSpPr>
        <p:spPr>
          <a:xfrm>
            <a:off x="1219200" y="1609725"/>
            <a:ext cx="2667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0B1F33"/>
                </a:solidFill>
              </a:rPr>
              <a:t>ERS Y DISEÑO</a:t>
            </a:r>
            <a:endParaRPr/>
          </a:p>
        </p:txBody>
      </p:sp>
      <p:sp>
        <p:nvSpPr>
          <p:cNvPr id="416" name="Google Shape;416;p13"/>
          <p:cNvSpPr/>
          <p:nvPr/>
        </p:nvSpPr>
        <p:spPr>
          <a:xfrm>
            <a:off x="4095750" y="1609725"/>
            <a:ext cx="65722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637586"/>
                </a:solidFill>
              </a:rPr>
              <a:t>Alcance, actores, requisitos, reglas y prototipos.</a:t>
            </a:r>
            <a:endParaRPr/>
          </a:p>
        </p:txBody>
      </p:sp>
      <p:sp>
        <p:nvSpPr>
          <p:cNvPr id="417" name="Google Shape;417;p13"/>
          <p:cNvSpPr/>
          <p:nvPr/>
        </p:nvSpPr>
        <p:spPr>
          <a:xfrm>
            <a:off x="1219200" y="2209800"/>
            <a:ext cx="9429750" cy="9525"/>
          </a:xfrm>
          <a:prstGeom prst="rect">
            <a:avLst/>
          </a:prstGeom>
          <a:solidFill>
            <a:srgbClr val="D9E5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3"/>
          <p:cNvSpPr/>
          <p:nvPr/>
        </p:nvSpPr>
        <p:spPr>
          <a:xfrm>
            <a:off x="619125" y="2638425"/>
            <a:ext cx="476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16B8D4"/>
                </a:solidFill>
              </a:rPr>
              <a:t>02</a:t>
            </a:r>
            <a:endParaRPr/>
          </a:p>
        </p:txBody>
      </p:sp>
      <p:sp>
        <p:nvSpPr>
          <p:cNvPr id="419" name="Google Shape;419;p13"/>
          <p:cNvSpPr/>
          <p:nvPr/>
        </p:nvSpPr>
        <p:spPr>
          <a:xfrm>
            <a:off x="1219200" y="2590800"/>
            <a:ext cx="2667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0B1F33"/>
                </a:solidFill>
              </a:rPr>
              <a:t>MODELO Y ARQUITECTURA</a:t>
            </a:r>
            <a:endParaRPr/>
          </a:p>
        </p:txBody>
      </p:sp>
      <p:sp>
        <p:nvSpPr>
          <p:cNvPr id="420" name="Google Shape;420;p13"/>
          <p:cNvSpPr/>
          <p:nvPr/>
        </p:nvSpPr>
        <p:spPr>
          <a:xfrm>
            <a:off x="4095750" y="2590800"/>
            <a:ext cx="65722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637586"/>
                </a:solidFill>
              </a:rPr>
              <a:t>Base de datos, API y comunicación entre componentes.</a:t>
            </a:r>
            <a:endParaRPr/>
          </a:p>
        </p:txBody>
      </p:sp>
      <p:sp>
        <p:nvSpPr>
          <p:cNvPr id="421" name="Google Shape;421;p13"/>
          <p:cNvSpPr/>
          <p:nvPr/>
        </p:nvSpPr>
        <p:spPr>
          <a:xfrm>
            <a:off x="1219200" y="3190875"/>
            <a:ext cx="9429750" cy="9525"/>
          </a:xfrm>
          <a:prstGeom prst="rect">
            <a:avLst/>
          </a:prstGeom>
          <a:solidFill>
            <a:srgbClr val="D9E5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3"/>
          <p:cNvSpPr/>
          <p:nvPr/>
        </p:nvSpPr>
        <p:spPr>
          <a:xfrm>
            <a:off x="619125" y="3619500"/>
            <a:ext cx="476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16B8D4"/>
                </a:solidFill>
              </a:rPr>
              <a:t>03</a:t>
            </a:r>
            <a:endParaRPr/>
          </a:p>
        </p:txBody>
      </p:sp>
      <p:sp>
        <p:nvSpPr>
          <p:cNvPr id="423" name="Google Shape;423;p13"/>
          <p:cNvSpPr/>
          <p:nvPr/>
        </p:nvSpPr>
        <p:spPr>
          <a:xfrm>
            <a:off x="1219200" y="3571875"/>
            <a:ext cx="2667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0B1F33"/>
                </a:solidFill>
              </a:rPr>
              <a:t>PROTOTIPO FUNCIONAL</a:t>
            </a:r>
            <a:endParaRPr/>
          </a:p>
        </p:txBody>
      </p:sp>
      <p:sp>
        <p:nvSpPr>
          <p:cNvPr id="424" name="Google Shape;424;p13"/>
          <p:cNvSpPr/>
          <p:nvPr/>
        </p:nvSpPr>
        <p:spPr>
          <a:xfrm>
            <a:off x="4095750" y="3571875"/>
            <a:ext cx="65722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637586"/>
                </a:solidFill>
              </a:rPr>
              <a:t>Web, app, backend y BD en el flujo principal.</a:t>
            </a:r>
            <a:endParaRPr/>
          </a:p>
        </p:txBody>
      </p:sp>
      <p:sp>
        <p:nvSpPr>
          <p:cNvPr id="425" name="Google Shape;425;p13"/>
          <p:cNvSpPr/>
          <p:nvPr/>
        </p:nvSpPr>
        <p:spPr>
          <a:xfrm>
            <a:off x="1219200" y="4171950"/>
            <a:ext cx="9429750" cy="9525"/>
          </a:xfrm>
          <a:prstGeom prst="rect">
            <a:avLst/>
          </a:prstGeom>
          <a:solidFill>
            <a:srgbClr val="D9E5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3"/>
          <p:cNvSpPr/>
          <p:nvPr/>
        </p:nvSpPr>
        <p:spPr>
          <a:xfrm>
            <a:off x="619125" y="4600575"/>
            <a:ext cx="476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16B8D4"/>
                </a:solidFill>
              </a:rPr>
              <a:t>04</a:t>
            </a:r>
            <a:endParaRPr/>
          </a:p>
        </p:txBody>
      </p:sp>
      <p:sp>
        <p:nvSpPr>
          <p:cNvPr id="427" name="Google Shape;427;p13"/>
          <p:cNvSpPr/>
          <p:nvPr/>
        </p:nvSpPr>
        <p:spPr>
          <a:xfrm>
            <a:off x="1219200" y="4552950"/>
            <a:ext cx="2667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0B1F33"/>
                </a:solidFill>
              </a:rPr>
              <a:t>PRUEBAS Y DEFENSA</a:t>
            </a:r>
            <a:endParaRPr/>
          </a:p>
        </p:txBody>
      </p:sp>
      <p:sp>
        <p:nvSpPr>
          <p:cNvPr id="428" name="Google Shape;428;p13"/>
          <p:cNvSpPr/>
          <p:nvPr/>
        </p:nvSpPr>
        <p:spPr>
          <a:xfrm>
            <a:off x="4095750" y="4552950"/>
            <a:ext cx="65722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637586"/>
                </a:solidFill>
              </a:rPr>
              <a:t>Casos, resultados, dashboard, manual y presentación.</a:t>
            </a:r>
            <a:endParaRPr/>
          </a:p>
        </p:txBody>
      </p:sp>
      <p:sp>
        <p:nvSpPr>
          <p:cNvPr id="429" name="Google Shape;429;p13"/>
          <p:cNvSpPr/>
          <p:nvPr/>
        </p:nvSpPr>
        <p:spPr>
          <a:xfrm>
            <a:off x="1219200" y="5153025"/>
            <a:ext cx="9429750" cy="9525"/>
          </a:xfrm>
          <a:prstGeom prst="rect">
            <a:avLst/>
          </a:prstGeom>
          <a:solidFill>
            <a:srgbClr val="D9E5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3"/>
          <p:cNvSpPr/>
          <p:nvPr/>
        </p:nvSpPr>
        <p:spPr>
          <a:xfrm>
            <a:off x="1600200" y="5753100"/>
            <a:ext cx="8572500" cy="381000"/>
          </a:xfrm>
          <a:prstGeom prst="roundRect">
            <a:avLst>
              <a:gd fmla="val 20000" name="adj"/>
            </a:avLst>
          </a:prstGeom>
          <a:solidFill>
            <a:srgbClr val="DF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3"/>
          <p:cNvSpPr/>
          <p:nvPr/>
        </p:nvSpPr>
        <p:spPr>
          <a:xfrm>
            <a:off x="1790700" y="5800725"/>
            <a:ext cx="8191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2962FF"/>
                </a:solidFill>
              </a:rPr>
              <a:t>Requisito → diseño → implementación → caso de prueba → evidencia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14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6B8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4"/>
          <p:cNvSpPr/>
          <p:nvPr/>
        </p:nvSpPr>
        <p:spPr>
          <a:xfrm>
            <a:off x="609600" y="333375"/>
            <a:ext cx="5238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6B8D4"/>
                </a:solidFill>
              </a:rPr>
              <a:t>COLABORACIÓN Y EQUIPO</a:t>
            </a:r>
            <a:endParaRPr/>
          </a:p>
        </p:txBody>
      </p:sp>
      <p:sp>
        <p:nvSpPr>
          <p:cNvPr id="439" name="Google Shape;439;p14"/>
          <p:cNvSpPr/>
          <p:nvPr/>
        </p:nvSpPr>
        <p:spPr>
          <a:xfrm>
            <a:off x="609600" y="647700"/>
            <a:ext cx="108585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0B1F33"/>
                </a:solidFill>
              </a:rPr>
              <a:t>Responsabilidades claras, calidad compartida</a:t>
            </a:r>
            <a:endParaRPr/>
          </a:p>
        </p:txBody>
      </p:sp>
      <p:sp>
        <p:nvSpPr>
          <p:cNvPr id="440" name="Google Shape;440;p14"/>
          <p:cNvSpPr/>
          <p:nvPr/>
        </p:nvSpPr>
        <p:spPr>
          <a:xfrm>
            <a:off x="609600" y="1285875"/>
            <a:ext cx="666750" cy="38100"/>
          </a:xfrm>
          <a:prstGeom prst="rect">
            <a:avLst/>
          </a:prstGeom>
          <a:solidFill>
            <a:srgbClr val="16B8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4"/>
          <p:cNvSpPr/>
          <p:nvPr/>
        </p:nvSpPr>
        <p:spPr>
          <a:xfrm>
            <a:off x="11144250" y="6381750"/>
            <a:ext cx="4191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637586"/>
                </a:solidFill>
              </a:rPr>
              <a:t>14</a:t>
            </a:r>
            <a:endParaRPr/>
          </a:p>
        </p:txBody>
      </p:sp>
      <p:sp>
        <p:nvSpPr>
          <p:cNvPr id="442" name="Google Shape;442;p14"/>
          <p:cNvSpPr/>
          <p:nvPr/>
        </p:nvSpPr>
        <p:spPr>
          <a:xfrm>
            <a:off x="609600" y="1752600"/>
            <a:ext cx="3219450" cy="2952750"/>
          </a:xfrm>
          <a:prstGeom prst="roundRect">
            <a:avLst>
              <a:gd fmla="val 2581" name="adj"/>
            </a:avLst>
          </a:prstGeom>
          <a:solidFill>
            <a:srgbClr val="FFFFFF"/>
          </a:solidFill>
          <a:ln cap="flat" cmpd="sng" w="9525">
            <a:solidFill>
              <a:srgbClr val="D9E5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4"/>
          <p:cNvSpPr/>
          <p:nvPr/>
        </p:nvSpPr>
        <p:spPr>
          <a:xfrm>
            <a:off x="876300" y="2019300"/>
            <a:ext cx="533400" cy="533400"/>
          </a:xfrm>
          <a:prstGeom prst="ellipse">
            <a:avLst/>
          </a:prstGeom>
          <a:solidFill>
            <a:srgbClr val="29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4"/>
          <p:cNvSpPr/>
          <p:nvPr/>
        </p:nvSpPr>
        <p:spPr>
          <a:xfrm>
            <a:off x="876300" y="2800350"/>
            <a:ext cx="26860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B1F33"/>
                </a:solidFill>
              </a:rPr>
              <a:t>SEBASTIÁN VALDÉS</a:t>
            </a:r>
            <a:endParaRPr/>
          </a:p>
        </p:txBody>
      </p:sp>
      <p:sp>
        <p:nvSpPr>
          <p:cNvPr id="445" name="Google Shape;445;p14"/>
          <p:cNvSpPr/>
          <p:nvPr/>
        </p:nvSpPr>
        <p:spPr>
          <a:xfrm>
            <a:off x="876300" y="3171825"/>
            <a:ext cx="26860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2962FF"/>
                </a:solidFill>
              </a:rPr>
              <a:t>Líder de proyecto</a:t>
            </a:r>
            <a:endParaRPr/>
          </a:p>
        </p:txBody>
      </p:sp>
      <p:sp>
        <p:nvSpPr>
          <p:cNvPr id="446" name="Google Shape;446;p14"/>
          <p:cNvSpPr/>
          <p:nvPr/>
        </p:nvSpPr>
        <p:spPr>
          <a:xfrm>
            <a:off x="876300" y="3600450"/>
            <a:ext cx="2686050" cy="7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637586"/>
                </a:solidFill>
              </a:rPr>
              <a:t>Coordinación, alcance, plazos y validación.</a:t>
            </a:r>
            <a:endParaRPr/>
          </a:p>
        </p:txBody>
      </p:sp>
      <p:sp>
        <p:nvSpPr>
          <p:cNvPr id="447" name="Google Shape;447;p14"/>
          <p:cNvSpPr/>
          <p:nvPr/>
        </p:nvSpPr>
        <p:spPr>
          <a:xfrm>
            <a:off x="4133850" y="1752600"/>
            <a:ext cx="3219450" cy="2952750"/>
          </a:xfrm>
          <a:prstGeom prst="roundRect">
            <a:avLst>
              <a:gd fmla="val 2581" name="adj"/>
            </a:avLst>
          </a:prstGeom>
          <a:solidFill>
            <a:srgbClr val="FFFFFF"/>
          </a:solidFill>
          <a:ln cap="flat" cmpd="sng" w="9525">
            <a:solidFill>
              <a:srgbClr val="D9E5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4"/>
          <p:cNvSpPr/>
          <p:nvPr/>
        </p:nvSpPr>
        <p:spPr>
          <a:xfrm>
            <a:off x="4400550" y="2019300"/>
            <a:ext cx="533400" cy="533400"/>
          </a:xfrm>
          <a:prstGeom prst="ellipse">
            <a:avLst/>
          </a:prstGeom>
          <a:solidFill>
            <a:srgbClr val="16B8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4"/>
          <p:cNvSpPr/>
          <p:nvPr/>
        </p:nvSpPr>
        <p:spPr>
          <a:xfrm>
            <a:off x="4400550" y="2800350"/>
            <a:ext cx="26860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B1F33"/>
                </a:solidFill>
              </a:rPr>
              <a:t>JOSÉ HERRERA</a:t>
            </a:r>
            <a:endParaRPr/>
          </a:p>
        </p:txBody>
      </p:sp>
      <p:sp>
        <p:nvSpPr>
          <p:cNvPr id="450" name="Google Shape;450;p14"/>
          <p:cNvSpPr/>
          <p:nvPr/>
        </p:nvSpPr>
        <p:spPr>
          <a:xfrm>
            <a:off x="4400550" y="3171825"/>
            <a:ext cx="26860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6B8D4"/>
                </a:solidFill>
              </a:rPr>
              <a:t>Desarrollador</a:t>
            </a:r>
            <a:endParaRPr/>
          </a:p>
        </p:txBody>
      </p:sp>
      <p:sp>
        <p:nvSpPr>
          <p:cNvPr id="451" name="Google Shape;451;p14"/>
          <p:cNvSpPr/>
          <p:nvPr/>
        </p:nvSpPr>
        <p:spPr>
          <a:xfrm>
            <a:off x="4400550" y="3600450"/>
            <a:ext cx="2686050" cy="7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637586"/>
                </a:solidFill>
              </a:rPr>
              <a:t>Web, app móvil, lógica e integración.</a:t>
            </a:r>
            <a:endParaRPr/>
          </a:p>
        </p:txBody>
      </p:sp>
      <p:sp>
        <p:nvSpPr>
          <p:cNvPr id="452" name="Google Shape;452;p14"/>
          <p:cNvSpPr/>
          <p:nvPr/>
        </p:nvSpPr>
        <p:spPr>
          <a:xfrm>
            <a:off x="7658100" y="1752600"/>
            <a:ext cx="3219450" cy="2952750"/>
          </a:xfrm>
          <a:prstGeom prst="roundRect">
            <a:avLst>
              <a:gd fmla="val 2581" name="adj"/>
            </a:avLst>
          </a:prstGeom>
          <a:solidFill>
            <a:srgbClr val="FFFFFF"/>
          </a:solidFill>
          <a:ln cap="flat" cmpd="sng" w="9525">
            <a:solidFill>
              <a:srgbClr val="D9E5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4"/>
          <p:cNvSpPr/>
          <p:nvPr/>
        </p:nvSpPr>
        <p:spPr>
          <a:xfrm>
            <a:off x="7924800" y="2019300"/>
            <a:ext cx="533400" cy="533400"/>
          </a:xfrm>
          <a:prstGeom prst="ellipse">
            <a:avLst/>
          </a:prstGeom>
          <a:solidFill>
            <a:srgbClr val="55C0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14"/>
          <p:cNvSpPr/>
          <p:nvPr/>
        </p:nvSpPr>
        <p:spPr>
          <a:xfrm>
            <a:off x="7924800" y="2800350"/>
            <a:ext cx="26860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B1F33"/>
                </a:solidFill>
              </a:rPr>
              <a:t>JOSÉ ESPINOZA</a:t>
            </a:r>
            <a:endParaRPr/>
          </a:p>
        </p:txBody>
      </p:sp>
      <p:sp>
        <p:nvSpPr>
          <p:cNvPr id="455" name="Google Shape;455;p14"/>
          <p:cNvSpPr/>
          <p:nvPr/>
        </p:nvSpPr>
        <p:spPr>
          <a:xfrm>
            <a:off x="7924800" y="3171825"/>
            <a:ext cx="26860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55C08A"/>
                </a:solidFill>
              </a:rPr>
              <a:t>BD y arquitectura</a:t>
            </a:r>
            <a:endParaRPr/>
          </a:p>
        </p:txBody>
      </p:sp>
      <p:sp>
        <p:nvSpPr>
          <p:cNvPr id="456" name="Google Shape;456;p14"/>
          <p:cNvSpPr/>
          <p:nvPr/>
        </p:nvSpPr>
        <p:spPr>
          <a:xfrm>
            <a:off x="7924800" y="3600450"/>
            <a:ext cx="2686050" cy="7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637586"/>
                </a:solidFill>
              </a:rPr>
              <a:t>Modelo de datos, arquitectura y comunicación.</a:t>
            </a:r>
            <a:endParaRPr/>
          </a:p>
        </p:txBody>
      </p:sp>
      <p:sp>
        <p:nvSpPr>
          <p:cNvPr id="457" name="Google Shape;457;p14"/>
          <p:cNvSpPr/>
          <p:nvPr/>
        </p:nvSpPr>
        <p:spPr>
          <a:xfrm>
            <a:off x="609600" y="5219700"/>
            <a:ext cx="10267950" cy="666750"/>
          </a:xfrm>
          <a:prstGeom prst="roundRect">
            <a:avLst>
              <a:gd fmla="val 11429" name="adj"/>
            </a:avLst>
          </a:prstGeom>
          <a:solidFill>
            <a:srgbClr val="0B1F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14"/>
          <p:cNvSpPr/>
          <p:nvPr/>
        </p:nvSpPr>
        <p:spPr>
          <a:xfrm>
            <a:off x="838200" y="5314950"/>
            <a:ext cx="23812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6B8D4"/>
                </a:solidFill>
              </a:rPr>
              <a:t>RESPONSABILIDAD CONJUNTA</a:t>
            </a:r>
            <a:endParaRPr/>
          </a:p>
        </p:txBody>
      </p:sp>
      <p:sp>
        <p:nvSpPr>
          <p:cNvPr id="459" name="Google Shape;459;p14"/>
          <p:cNvSpPr/>
          <p:nvPr/>
        </p:nvSpPr>
        <p:spPr>
          <a:xfrm>
            <a:off x="3429000" y="5286375"/>
            <a:ext cx="71437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FFFFFF"/>
                </a:solidFill>
              </a:rPr>
              <a:t>Análisis · revisiones · integración · pruebas · GitHub · reuniones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3"/>
        </a:solidFill>
      </p:bgPr>
    </p:bg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16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16B8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16"/>
          <p:cNvSpPr/>
          <p:nvPr/>
        </p:nvSpPr>
        <p:spPr>
          <a:xfrm>
            <a:off x="685800" y="428625"/>
            <a:ext cx="28575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16B8D4"/>
                </a:solidFill>
              </a:rPr>
              <a:t>CONCLUSIÓN</a:t>
            </a:r>
            <a:endParaRPr/>
          </a:p>
        </p:txBody>
      </p:sp>
      <p:sp>
        <p:nvSpPr>
          <p:cNvPr id="467" name="Google Shape;467;p16"/>
          <p:cNvSpPr/>
          <p:nvPr/>
        </p:nvSpPr>
        <p:spPr>
          <a:xfrm>
            <a:off x="685800" y="866775"/>
            <a:ext cx="101917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FFFFFF"/>
                </a:solidFill>
              </a:rPr>
              <a:t>Cada problema identificado recibe una respuesta concreta</a:t>
            </a:r>
            <a:endParaRPr/>
          </a:p>
        </p:txBody>
      </p:sp>
      <p:sp>
        <p:nvSpPr>
          <p:cNvPr id="468" name="Google Shape;468;p16"/>
          <p:cNvSpPr/>
          <p:nvPr/>
        </p:nvSpPr>
        <p:spPr>
          <a:xfrm>
            <a:off x="685800" y="1752600"/>
            <a:ext cx="21907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16B8D4"/>
                </a:solidFill>
              </a:rPr>
              <a:t>INFORMACIÓN DISPERSA</a:t>
            </a:r>
            <a:endParaRPr/>
          </a:p>
        </p:txBody>
      </p:sp>
      <p:sp>
        <p:nvSpPr>
          <p:cNvPr id="469" name="Google Shape;469;p16"/>
          <p:cNvSpPr/>
          <p:nvPr/>
        </p:nvSpPr>
        <p:spPr>
          <a:xfrm>
            <a:off x="2933700" y="1790700"/>
            <a:ext cx="381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16B8D4"/>
                </a:solidFill>
              </a:rPr>
              <a:t>→</a:t>
            </a:r>
            <a:endParaRPr/>
          </a:p>
        </p:txBody>
      </p:sp>
      <p:sp>
        <p:nvSpPr>
          <p:cNvPr id="470" name="Google Shape;470;p16"/>
          <p:cNvSpPr/>
          <p:nvPr/>
        </p:nvSpPr>
        <p:spPr>
          <a:xfrm>
            <a:off x="3476625" y="1724025"/>
            <a:ext cx="2476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FFFFFF"/>
                </a:solidFill>
              </a:rPr>
              <a:t>Base de datos centralizada</a:t>
            </a:r>
            <a:endParaRPr/>
          </a:p>
        </p:txBody>
      </p:sp>
      <p:sp>
        <p:nvSpPr>
          <p:cNvPr id="471" name="Google Shape;471;p16"/>
          <p:cNvSpPr/>
          <p:nvPr/>
        </p:nvSpPr>
        <p:spPr>
          <a:xfrm>
            <a:off x="6191250" y="1695450"/>
            <a:ext cx="5191125" cy="581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CADAE6"/>
                </a:solidFill>
              </a:rPr>
              <a:t>Solicitudes, órdenes, clientes y evidencias quedan disponibles en un único sistema.</a:t>
            </a:r>
            <a:endParaRPr/>
          </a:p>
        </p:txBody>
      </p:sp>
      <p:sp>
        <p:nvSpPr>
          <p:cNvPr id="472" name="Google Shape;472;p16"/>
          <p:cNvSpPr/>
          <p:nvPr/>
        </p:nvSpPr>
        <p:spPr>
          <a:xfrm>
            <a:off x="685800" y="2533650"/>
            <a:ext cx="10696575" cy="9525"/>
          </a:xfrm>
          <a:prstGeom prst="rect">
            <a:avLst/>
          </a:prstGeom>
          <a:solidFill>
            <a:srgbClr val="2944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16"/>
          <p:cNvSpPr/>
          <p:nvPr/>
        </p:nvSpPr>
        <p:spPr>
          <a:xfrm>
            <a:off x="685800" y="3009900"/>
            <a:ext cx="21907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16B8D4"/>
                </a:solidFill>
              </a:rPr>
              <a:t>GESTIÓN MANUAL</a:t>
            </a:r>
            <a:endParaRPr/>
          </a:p>
        </p:txBody>
      </p:sp>
      <p:sp>
        <p:nvSpPr>
          <p:cNvPr id="474" name="Google Shape;474;p16"/>
          <p:cNvSpPr/>
          <p:nvPr/>
        </p:nvSpPr>
        <p:spPr>
          <a:xfrm>
            <a:off x="2933700" y="3048000"/>
            <a:ext cx="381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16B8D4"/>
                </a:solidFill>
              </a:rPr>
              <a:t>→</a:t>
            </a:r>
            <a:endParaRPr/>
          </a:p>
        </p:txBody>
      </p:sp>
      <p:sp>
        <p:nvSpPr>
          <p:cNvPr id="475" name="Google Shape;475;p16"/>
          <p:cNvSpPr/>
          <p:nvPr/>
        </p:nvSpPr>
        <p:spPr>
          <a:xfrm>
            <a:off x="3476625" y="2981325"/>
            <a:ext cx="2476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FFFFFF"/>
                </a:solidFill>
              </a:rPr>
              <a:t>Flujo Web + App + API</a:t>
            </a:r>
            <a:endParaRPr/>
          </a:p>
        </p:txBody>
      </p:sp>
      <p:sp>
        <p:nvSpPr>
          <p:cNvPr id="476" name="Google Shape;476;p16"/>
          <p:cNvSpPr/>
          <p:nvPr/>
        </p:nvSpPr>
        <p:spPr>
          <a:xfrm>
            <a:off x="6191250" y="2952750"/>
            <a:ext cx="5191125" cy="581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CADAE6"/>
                </a:solidFill>
              </a:rPr>
              <a:t>El gestor asigna, el técnico actualiza estados y cada actor consulta la información que necesita.</a:t>
            </a:r>
            <a:endParaRPr/>
          </a:p>
        </p:txBody>
      </p:sp>
      <p:sp>
        <p:nvSpPr>
          <p:cNvPr id="477" name="Google Shape;477;p16"/>
          <p:cNvSpPr/>
          <p:nvPr/>
        </p:nvSpPr>
        <p:spPr>
          <a:xfrm>
            <a:off x="685800" y="3790950"/>
            <a:ext cx="10696575" cy="9525"/>
          </a:xfrm>
          <a:prstGeom prst="rect">
            <a:avLst/>
          </a:prstGeom>
          <a:solidFill>
            <a:srgbClr val="2944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16"/>
          <p:cNvSpPr/>
          <p:nvPr/>
        </p:nvSpPr>
        <p:spPr>
          <a:xfrm>
            <a:off x="685800" y="4267200"/>
            <a:ext cx="21907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16B8D4"/>
                </a:solidFill>
              </a:rPr>
              <a:t>BAJA TRAZABILIDAD</a:t>
            </a:r>
            <a:endParaRPr/>
          </a:p>
        </p:txBody>
      </p:sp>
      <p:sp>
        <p:nvSpPr>
          <p:cNvPr id="479" name="Google Shape;479;p16"/>
          <p:cNvSpPr/>
          <p:nvPr/>
        </p:nvSpPr>
        <p:spPr>
          <a:xfrm>
            <a:off x="2933700" y="4305300"/>
            <a:ext cx="381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16B8D4"/>
                </a:solidFill>
              </a:rPr>
              <a:t>→</a:t>
            </a:r>
            <a:endParaRPr/>
          </a:p>
        </p:txBody>
      </p:sp>
      <p:sp>
        <p:nvSpPr>
          <p:cNvPr id="480" name="Google Shape;480;p16"/>
          <p:cNvSpPr/>
          <p:nvPr/>
        </p:nvSpPr>
        <p:spPr>
          <a:xfrm>
            <a:off x="3476625" y="4238625"/>
            <a:ext cx="2476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FFFFFF"/>
                </a:solidFill>
              </a:rPr>
              <a:t>Códigos, estados e historial</a:t>
            </a:r>
            <a:endParaRPr/>
          </a:p>
        </p:txBody>
      </p:sp>
      <p:sp>
        <p:nvSpPr>
          <p:cNvPr id="481" name="Google Shape;481;p16"/>
          <p:cNvSpPr/>
          <p:nvPr/>
        </p:nvSpPr>
        <p:spPr>
          <a:xfrm>
            <a:off x="6191250" y="4210050"/>
            <a:ext cx="5191125" cy="581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CADAE6"/>
                </a:solidFill>
              </a:rPr>
              <a:t>El inicio, ejecución y cierre quedan verificados, fechados y respaldados con observaciones y fotografías.</a:t>
            </a:r>
            <a:endParaRPr/>
          </a:p>
        </p:txBody>
      </p:sp>
      <p:sp>
        <p:nvSpPr>
          <p:cNvPr id="482" name="Google Shape;482;p16"/>
          <p:cNvSpPr/>
          <p:nvPr/>
        </p:nvSpPr>
        <p:spPr>
          <a:xfrm>
            <a:off x="685800" y="5048250"/>
            <a:ext cx="10696575" cy="9525"/>
          </a:xfrm>
          <a:prstGeom prst="rect">
            <a:avLst/>
          </a:prstGeom>
          <a:solidFill>
            <a:srgbClr val="2944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16"/>
          <p:cNvSpPr/>
          <p:nvPr/>
        </p:nvSpPr>
        <p:spPr>
          <a:xfrm>
            <a:off x="685800" y="5705475"/>
            <a:ext cx="7524750" cy="552450"/>
          </a:xfrm>
          <a:prstGeom prst="roundRect">
            <a:avLst>
              <a:gd fmla="val 13793" name="adj"/>
            </a:avLst>
          </a:prstGeom>
          <a:solidFill>
            <a:srgbClr val="16B8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16"/>
          <p:cNvSpPr/>
          <p:nvPr/>
        </p:nvSpPr>
        <p:spPr>
          <a:xfrm>
            <a:off x="895350" y="5791200"/>
            <a:ext cx="71056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B1F33"/>
                </a:solidFill>
              </a:rPr>
              <a:t>Resultado: una operación centralizada, coordinada y trazable.</a:t>
            </a:r>
            <a:endParaRPr/>
          </a:p>
        </p:txBody>
      </p:sp>
      <p:sp>
        <p:nvSpPr>
          <p:cNvPr id="485" name="Google Shape;485;p16"/>
          <p:cNvSpPr/>
          <p:nvPr/>
        </p:nvSpPr>
        <p:spPr>
          <a:xfrm>
            <a:off x="11144250" y="6438900"/>
            <a:ext cx="4191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637586"/>
                </a:solidFill>
              </a:rPr>
              <a:t>16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Tecnico Ya">
      <a:dk1>
        <a:srgbClr val="071521"/>
      </a:dk1>
      <a:lt1>
        <a:srgbClr val="FFFFFF"/>
      </a:lt1>
      <a:dk2>
        <a:srgbClr val="153047"/>
      </a:dk2>
      <a:lt2>
        <a:srgbClr val="DCE7EF"/>
      </a:lt2>
      <a:accent1>
        <a:srgbClr val="16B8D4"/>
      </a:accent1>
      <a:accent2>
        <a:srgbClr val="2962FF"/>
      </a:accent2>
      <a:accent3>
        <a:srgbClr val="F5B63C"/>
      </a:accent3>
      <a:accent4>
        <a:srgbClr val="55C08A"/>
      </a:accent4>
      <a:accent5>
        <a:srgbClr val="9F7AEA"/>
      </a:accent5>
      <a:accent6>
        <a:srgbClr val="FF6B6B"/>
      </a:accent6>
      <a:hlink>
        <a:srgbClr val="16B8D4"/>
      </a:hlink>
      <a:folHlink>
        <a:srgbClr val="9F7AE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Tecnico Ya">
      <a:dk1>
        <a:srgbClr val="071521"/>
      </a:dk1>
      <a:lt1>
        <a:srgbClr val="FFFFFF"/>
      </a:lt1>
      <a:dk2>
        <a:srgbClr val="153047"/>
      </a:dk2>
      <a:lt2>
        <a:srgbClr val="DCE7EF"/>
      </a:lt2>
      <a:accent1>
        <a:srgbClr val="16B8D4"/>
      </a:accent1>
      <a:accent2>
        <a:srgbClr val="2962FF"/>
      </a:accent2>
      <a:accent3>
        <a:srgbClr val="F5B63C"/>
      </a:accent3>
      <a:accent4>
        <a:srgbClr val="55C08A"/>
      </a:accent4>
      <a:accent5>
        <a:srgbClr val="9F7AEA"/>
      </a:accent5>
      <a:accent6>
        <a:srgbClr val="FF6B6B"/>
      </a:accent6>
      <a:hlink>
        <a:srgbClr val="16B8D4"/>
      </a:hlink>
      <a:folHlink>
        <a:srgbClr val="9F7AE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