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98f32edda04ffa" /><Relationship Type="http://schemas.openxmlformats.org/officeDocument/2006/relationships/extended-properties" Target="/docProps/app.xml" Id="R45d48c96e2a74a0c" /><Relationship Type="http://schemas.openxmlformats.org/officeDocument/2006/relationships/officeDocument" Target="/ppt/presentation.xml" Id="R0fcec579c79f42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b8c2a7c6714a4b"/>
  </p:sldMasterIdLst>
  <p:notesMasterIdLst>
    <p:notesMasterId xmlns:r="http://schemas.openxmlformats.org/officeDocument/2006/relationships" r:id="R192e6377beb0421b"/>
  </p:notesMasterIdLst>
  <p:sldIdLst>
    <p:sldId xmlns:r="http://schemas.openxmlformats.org/officeDocument/2006/relationships" id="256" r:id="Ref23e5b78cb94946"/>
    <p:sldId xmlns:r="http://schemas.openxmlformats.org/officeDocument/2006/relationships" id="257" r:id="Rfa2fc5b516df46be"/>
    <p:sldId xmlns:r="http://schemas.openxmlformats.org/officeDocument/2006/relationships" id="258" r:id="Rb3d424934f1f4c9d"/>
    <p:sldId xmlns:r="http://schemas.openxmlformats.org/officeDocument/2006/relationships" id="259" r:id="R6daea4cc3af2410c"/>
    <p:sldId xmlns:r="http://schemas.openxmlformats.org/officeDocument/2006/relationships" id="260" r:id="R8f2e616c33484099"/>
    <p:sldId xmlns:r="http://schemas.openxmlformats.org/officeDocument/2006/relationships" id="261" r:id="R5a82c7f1226a4062"/>
    <p:sldId xmlns:r="http://schemas.openxmlformats.org/officeDocument/2006/relationships" id="262" r:id="R430a5ba331b449e5"/>
    <p:sldId xmlns:r="http://schemas.openxmlformats.org/officeDocument/2006/relationships" id="263" r:id="R6f93da2da8a14b8c"/>
    <p:sldId xmlns:r="http://schemas.openxmlformats.org/officeDocument/2006/relationships" id="264" r:id="R8b3a397367344955"/>
    <p:sldId xmlns:r="http://schemas.openxmlformats.org/officeDocument/2006/relationships" id="265" r:id="R82f55a2cc4aa4b44"/>
    <p:sldId xmlns:r="http://schemas.openxmlformats.org/officeDocument/2006/relationships" id="266" r:id="Rfb2da4a466724998"/>
    <p:sldId xmlns:r="http://schemas.openxmlformats.org/officeDocument/2006/relationships" id="267" r:id="Rd636f9979ff8491f"/>
    <p:sldId xmlns:r="http://schemas.openxmlformats.org/officeDocument/2006/relationships" id="268" r:id="Rd0cc3363c20b41cc"/>
    <p:sldId xmlns:r="http://schemas.openxmlformats.org/officeDocument/2006/relationships" id="269" r:id="R10a24682b116461e"/>
    <p:sldId xmlns:r="http://schemas.openxmlformats.org/officeDocument/2006/relationships" id="270" r:id="R6be7ff2a4b11474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843788bdb948c4" /><Relationship Type="http://schemas.openxmlformats.org/officeDocument/2006/relationships/slideMaster" Target="/ppt/slideMasters/slideMaster1.xml" Id="Ra2b8c2a7c6714a4b" /><Relationship Type="http://schemas.openxmlformats.org/officeDocument/2006/relationships/notesMaster" Target="/ppt/notesMasters/notesMaster1.xml" Id="R192e6377beb0421b" /><Relationship Type="http://schemas.openxmlformats.org/officeDocument/2006/relationships/presProps" Target="/ppt/presProps.xml" Id="Rf7c9f6bcad4f455f" /><Relationship Type="http://schemas.openxmlformats.org/officeDocument/2006/relationships/tableStyles" Target="/ppt/tableStyles.xml" Id="R7989d4f99da742e8" /><Relationship Type="http://schemas.openxmlformats.org/officeDocument/2006/relationships/slide" Target="/ppt/slides/slide1.xml" Id="Ref23e5b78cb94946" /><Relationship Type="http://schemas.openxmlformats.org/officeDocument/2006/relationships/slide" Target="/ppt/slides/slide2.xml" Id="Rfa2fc5b516df46be" /><Relationship Type="http://schemas.openxmlformats.org/officeDocument/2006/relationships/slide" Target="/ppt/slides/slide3.xml" Id="Rb3d424934f1f4c9d" /><Relationship Type="http://schemas.openxmlformats.org/officeDocument/2006/relationships/slide" Target="/ppt/slides/slide4.xml" Id="R6daea4cc3af2410c" /><Relationship Type="http://schemas.openxmlformats.org/officeDocument/2006/relationships/slide" Target="/ppt/slides/slide5.xml" Id="R8f2e616c33484099" /><Relationship Type="http://schemas.openxmlformats.org/officeDocument/2006/relationships/slide" Target="/ppt/slides/slide6.xml" Id="R5a82c7f1226a4062" /><Relationship Type="http://schemas.openxmlformats.org/officeDocument/2006/relationships/slide" Target="/ppt/slides/slide7.xml" Id="R430a5ba331b449e5" /><Relationship Type="http://schemas.openxmlformats.org/officeDocument/2006/relationships/slide" Target="/ppt/slides/slide8.xml" Id="R6f93da2da8a14b8c" /><Relationship Type="http://schemas.openxmlformats.org/officeDocument/2006/relationships/slide" Target="/ppt/slides/slide9.xml" Id="R8b3a397367344955" /><Relationship Type="http://schemas.openxmlformats.org/officeDocument/2006/relationships/slide" Target="/ppt/slides/slide10.xml" Id="R82f55a2cc4aa4b44" /><Relationship Type="http://schemas.openxmlformats.org/officeDocument/2006/relationships/slide" Target="/ppt/slides/slide11.xml" Id="Rfb2da4a466724998" /><Relationship Type="http://schemas.openxmlformats.org/officeDocument/2006/relationships/slide" Target="/ppt/slides/slide12.xml" Id="Rd636f9979ff8491f" /><Relationship Type="http://schemas.openxmlformats.org/officeDocument/2006/relationships/slide" Target="/ppt/slides/slide13.xml" Id="Rd0cc3363c20b41cc" /><Relationship Type="http://schemas.openxmlformats.org/officeDocument/2006/relationships/slide" Target="/ppt/slides/slide14.xml" Id="R10a24682b116461e" /><Relationship Type="http://schemas.openxmlformats.org/officeDocument/2006/relationships/slide" Target="/ppt/slides/slide15.xml" Id="R6be7ff2a4b1147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bc73a2f1ce741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Tecnico Ya">
      <a:dk1>
        <a:srgbClr val="071521"/>
      </a:dk1>
      <a:lt1>
        <a:srgbClr val="FFFFFF"/>
      </a:lt1>
      <a:dk2>
        <a:srgbClr val="153047"/>
      </a:dk2>
      <a:lt2>
        <a:srgbClr val="DCE7EF"/>
      </a:lt2>
      <a:accent1>
        <a:srgbClr val="16B8D4"/>
      </a:accent1>
      <a:accent2>
        <a:srgbClr val="2962FF"/>
      </a:accent2>
      <a:accent3>
        <a:srgbClr val="F5B63C"/>
      </a:accent3>
      <a:accent4>
        <a:srgbClr val="55C08A"/>
      </a:accent4>
      <a:accent5>
        <a:srgbClr val="9F7AEA"/>
      </a:accent5>
      <a:accent6>
        <a:srgbClr val="FF6B6B"/>
      </a:accent6>
      <a:hlink>
        <a:srgbClr val="16B8D4"/>
      </a:hlink>
      <a:folHlink>
        <a:srgbClr val="9F7AE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ecnico Ya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8047ce3020e40dc" /><Relationship Type="http://schemas.openxmlformats.org/officeDocument/2006/relationships/notesMaster" Target="/ppt/notesMasters/notesMaster1.xml" Id="R293bae87dfec48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ee14f985274327" /><Relationship Type="http://schemas.openxmlformats.org/officeDocument/2006/relationships/notesMaster" Target="/ppt/notesMasters/notesMaster1.xml" Id="R3de374de9c754f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f3012567c5542e6" /><Relationship Type="http://schemas.openxmlformats.org/officeDocument/2006/relationships/notesMaster" Target="/ppt/notesMasters/notesMaster1.xml" Id="R3280d51f2633458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285550f237e44dc" /><Relationship Type="http://schemas.openxmlformats.org/officeDocument/2006/relationships/notesMaster" Target="/ppt/notesMasters/notesMaster1.xml" Id="Rd622d28af8794c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1e8aa7ca724f34" /><Relationship Type="http://schemas.openxmlformats.org/officeDocument/2006/relationships/notesMaster" Target="/ppt/notesMasters/notesMaster1.xml" Id="Reca290b1dca2407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9b59da790e4b93" /><Relationship Type="http://schemas.openxmlformats.org/officeDocument/2006/relationships/notesMaster" Target="/ppt/notesMasters/notesMaster1.xml" Id="R66ab1ebb70cb459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6c685ddfab64137" /><Relationship Type="http://schemas.openxmlformats.org/officeDocument/2006/relationships/notesMaster" Target="/ppt/notesMasters/notesMaster1.xml" Id="R5fd39ffacc7a447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e9cf1b3e91f429c" /><Relationship Type="http://schemas.openxmlformats.org/officeDocument/2006/relationships/notesMaster" Target="/ppt/notesMasters/notesMaster1.xml" Id="Rdb89128993b447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c12fbab48c84da6" /><Relationship Type="http://schemas.openxmlformats.org/officeDocument/2006/relationships/notesMaster" Target="/ppt/notesMasters/notesMaster1.xml" Id="R5fb94f2c356a436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b6b600301e14e77" /><Relationship Type="http://schemas.openxmlformats.org/officeDocument/2006/relationships/notesMaster" Target="/ppt/notesMasters/notesMaster1.xml" Id="R4b3381da5263442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d392a04ddaa4285" /><Relationship Type="http://schemas.openxmlformats.org/officeDocument/2006/relationships/notesMaster" Target="/ppt/notesMasters/notesMaster1.xml" Id="R6e051ebf54a8437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3852a71ed9f47af" /><Relationship Type="http://schemas.openxmlformats.org/officeDocument/2006/relationships/notesMaster" Target="/ppt/notesMasters/notesMaster1.xml" Id="R223db053341c44f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950338c9a054a87" /><Relationship Type="http://schemas.openxmlformats.org/officeDocument/2006/relationships/notesMaster" Target="/ppt/notesMasters/notesMaster1.xml" Id="R3fac27cad446450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5ea4d3da0d14c87" /><Relationship Type="http://schemas.openxmlformats.org/officeDocument/2006/relationships/notesMaster" Target="/ppt/notesMasters/notesMaster1.xml" Id="Rfda5f23efc8a49b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3c167f258d4458d" /><Relationship Type="http://schemas.openxmlformats.org/officeDocument/2006/relationships/notesMaster" Target="/ppt/notesMasters/notesMaster1.xml" Id="Rea71f1aff3cd4be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Presentar el nombre del proyecto y explicar en una frase que integra la operación completa de los servicios técnicos.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- 1.5_GuiaEstudiante_Fase 1_Definicion Proyecto APT.docx</a:t>
            </a:r>
          </a:p>
          <a:p xmlns:a="http://schemas.openxmlformats.org/drawingml/2006/main">
            <a:r>
              <a:t>- ERS (2)(1).docx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que el problema no es la falta de demanda, sino la ausencia de un flujo centralizado y trazable.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- 1.5_GuiaEstudiante_Fase 1_Definicion Proyecto APT.docx</a:t>
            </a:r>
          </a:p>
          <a:p xmlns:a="http://schemas.openxmlformats.org/drawingml/2006/main">
            <a:r>
              <a:t>- ERS (2)(1).docx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Contar este caso como una historia breve. El flujo muestra cómo una solicitud desordenada se convierte en un servicio coordinado y trazable.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- 1.5_GuiaEstudiante_Fase 1_Definicion Proyecto APT.docx</a:t>
            </a:r>
          </a:p>
          <a:p xmlns:a="http://schemas.openxmlformats.org/drawingml/2006/main">
            <a:r>
              <a:t>- ERS (2)(1).docx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Recorrer el flujo de izquierda a derecha y destacar que todos los actores trabajan sobre información centralizada.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- 1.5_GuiaEstudiante_Fase 1_Definicion Proyecto APT.docx</a:t>
            </a:r>
          </a:p>
          <a:p xmlns:a="http://schemas.openxmlformats.org/drawingml/2006/main">
            <a:r>
              <a:t>- ERS (2)(1).docx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Diferenciar interfaz, lógica y persistencia. La separación facilita integración, seguridad y mantenibilidad.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- 1.5_GuiaEstudiante_Fase 1_Definicion Proyecto APT.docx</a:t>
            </a:r>
          </a:p>
          <a:p xmlns:a="http://schemas.openxmlformats.org/drawingml/2006/main">
            <a:r>
              <a:t>- ERS (2)(1).docx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Relacionar cada etapa del proyecto con competencias del perfil de egreso y con una evidencia concreta.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- 1.5_GuiaEstudiante_Fase 1_Definicion Proyecto APT.docx</a:t>
            </a:r>
          </a:p>
          <a:p xmlns:a="http://schemas.openxmlformats.org/drawingml/2006/main">
            <a:r>
              <a:t>- ERS (2)(1).docx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Conectar el proyecto con los intereses del equipo: desarrollo integral, móvil, datos e integración.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- 1.5_GuiaEstudiante_Fase 1_Definicion Proyecto APT.docx</a:t>
            </a:r>
          </a:p>
          <a:p xmlns:a="http://schemas.openxmlformats.org/drawingml/2006/main">
            <a:r>
              <a:t>- ERS (2)(1).docx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Defender la factibilidad con alcance, conocimientos, herramientas y respuestas concretas a los riesgos.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- 1.5_GuiaEstudiante_Fase 1_Definicion Proyecto APT.docx</a:t>
            </a:r>
          </a:p>
          <a:p xmlns:a="http://schemas.openxmlformats.org/drawingml/2006/main">
            <a:r>
              <a:t>- ERS (2)(1).docx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Presentar el objetivo general y resumir los objetivos específicos como una secuencia de resultados verificables.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- 1.5_GuiaEstudiante_Fase 1_Definicion Proyecto APT.docx</a:t>
            </a:r>
          </a:p>
          <a:p xmlns:a="http://schemas.openxmlformats.org/drawingml/2006/main">
            <a:r>
              <a:t>- ERS (2)(1).docx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que la metodología permite revisión formal de cada entregable y control de dependencias.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- 1.5_GuiaEstudiante_Fase 1_Definicion Proyecto APT.docx</a:t>
            </a:r>
          </a:p>
          <a:p xmlns:a="http://schemas.openxmlformats.org/drawingml/2006/main">
            <a:r>
              <a:t>- ERS (2)(1).docx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Mostrar que el trabajo avanza por capas, con integración y pruebas concentradas al final pero validaciones durante todo el proceso.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- 1.5_GuiaEstudiante_Fase 1_Definicion Proyecto APT.docx</a:t>
            </a:r>
          </a:p>
          <a:p xmlns:a="http://schemas.openxmlformats.org/drawingml/2006/main">
            <a:r>
              <a:t>- ERS (2)(1).docx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Justificar que las evidencias permiten verificar tanto el producto final como el proceso de desarrollo.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- 1.5_GuiaEstudiante_Fase 1_Definicion Proyecto APT.docx</a:t>
            </a:r>
          </a:p>
          <a:p xmlns:a="http://schemas.openxmlformats.org/drawingml/2006/main">
            <a:r>
              <a:t>- ERS (2)(1).docx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Aclarar que los roles ordenan el trabajo, pero la revisión, integración y calidad son responsabilidades compartidas.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- 1.5_GuiaEstudiante_Fase 1_Definicion Proyecto APT.docx</a:t>
            </a:r>
          </a:p>
          <a:p xmlns:a="http://schemas.openxmlformats.org/drawingml/2006/main">
            <a:r>
              <a:t>- ERS (2)(1).docx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Indicar que el contenido de la presentación se construyó desde la guía oficial y la ERS definitiva del proyecto.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- 1.5_GuiaEstudiante_Fase 1_Definicion Proyecto APT.docx</a:t>
            </a:r>
          </a:p>
          <a:p xmlns:a="http://schemas.openxmlformats.org/drawingml/2006/main">
            <a:r>
              <a:t>- ERS (2)(1).docx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Cerrar retomando el problema inicial: la propuesta centraliza, coordina y genera trazabilidad. Invitar preguntas.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- 1.5_GuiaEstudiante_Fase 1_Definicion Proyecto APT.docx</a:t>
            </a:r>
          </a:p>
          <a:p xmlns:a="http://schemas.openxmlformats.org/drawingml/2006/main">
            <a:r>
              <a:t>- ERS (2)(1).docx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56c18c966746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03c36e074c457b" /><Relationship Type="http://schemas.openxmlformats.org/officeDocument/2006/relationships/slideLayout" Target="/ppt/slideLayouts/slideLayout1.xml" Id="R97a435ed2402465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a435ed2402465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Tecnico Ya">
      <a:dk1>
        <a:srgbClr val="071521"/>
      </a:dk1>
      <a:lt1>
        <a:srgbClr val="FFFFFF"/>
      </a:lt1>
      <a:dk2>
        <a:srgbClr val="153047"/>
      </a:dk2>
      <a:lt2>
        <a:srgbClr val="DCE7EF"/>
      </a:lt2>
      <a:accent1>
        <a:srgbClr val="16B8D4"/>
      </a:accent1>
      <a:accent2>
        <a:srgbClr val="2962FF"/>
      </a:accent2>
      <a:accent3>
        <a:srgbClr val="F5B63C"/>
      </a:accent3>
      <a:accent4>
        <a:srgbClr val="55C08A"/>
      </a:accent4>
      <a:accent5>
        <a:srgbClr val="9F7AEA"/>
      </a:accent5>
      <a:accent6>
        <a:srgbClr val="FF6B6B"/>
      </a:accent6>
      <a:hlink>
        <a:srgbClr val="16B8D4"/>
      </a:hlink>
      <a:folHlink>
        <a:srgbClr val="9F7AE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ecnico Ya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9313f1d0bd4e0b" /><Relationship Type="http://schemas.openxmlformats.org/officeDocument/2006/relationships/notesSlide" Target="/ppt/notesSlides/notesSlide1.xml" Id="R4c6a28ac1b8f47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c6da3afcb74912" /><Relationship Type="http://schemas.openxmlformats.org/officeDocument/2006/relationships/notesSlide" Target="/ppt/notesSlides/notesSlide2.xml" Id="R357b9950d9e041d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ece3cdc9814538" /><Relationship Type="http://schemas.openxmlformats.org/officeDocument/2006/relationships/notesSlide" Target="/ppt/notesSlides/notesSlide3.xml" Id="R1fae03a65db342d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f220375c44418" /><Relationship Type="http://schemas.openxmlformats.org/officeDocument/2006/relationships/notesSlide" Target="/ppt/notesSlides/notesSlide4.xml" Id="R78b9211c16a546b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1d04bd9d8345d9" /><Relationship Type="http://schemas.openxmlformats.org/officeDocument/2006/relationships/notesSlide" Target="/ppt/notesSlides/notesSlide5.xml" Id="R5d2ebdcc2bee47b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0c1fe6ee2344ae" /><Relationship Type="http://schemas.openxmlformats.org/officeDocument/2006/relationships/notesSlide" Target="/ppt/notesSlides/notesSlide6.xml" Id="R2cbe6f2eddae48f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0c9fc5f7124086" /><Relationship Type="http://schemas.openxmlformats.org/officeDocument/2006/relationships/notesSlide" Target="/ppt/notesSlides/notesSlide7.xml" Id="Rd128a7364e564cf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beeec05782487b" /><Relationship Type="http://schemas.openxmlformats.org/officeDocument/2006/relationships/notesSlide" Target="/ppt/notesSlides/notesSlide8.xml" Id="R98dff2cc75894ab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5f6dbf4d2044f2" /><Relationship Type="http://schemas.openxmlformats.org/officeDocument/2006/relationships/notesSlide" Target="/ppt/notesSlides/notesSlide9.xml" Id="R4c06249e34194a1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1a1d91704d4667" /><Relationship Type="http://schemas.openxmlformats.org/officeDocument/2006/relationships/notesSlide" Target="/ppt/notesSlides/notesSlide10.xml" Id="R8bc2af6c3652475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477a99b3c448d1" /><Relationship Type="http://schemas.openxmlformats.org/officeDocument/2006/relationships/notesSlide" Target="/ppt/notesSlides/notesSlide11.xml" Id="Red434fd2cf0644c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616f7e30fc48e4" /><Relationship Type="http://schemas.openxmlformats.org/officeDocument/2006/relationships/notesSlide" Target="/ppt/notesSlides/notesSlide12.xml" Id="Re78d5c341d7946d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898b31d03a4748" /><Relationship Type="http://schemas.openxmlformats.org/officeDocument/2006/relationships/notesSlide" Target="/ppt/notesSlides/notesSlide13.xml" Id="R7309df887f284e0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7a17be1c084687" /><Relationship Type="http://schemas.openxmlformats.org/officeDocument/2006/relationships/notesSlide" Target="/ppt/notesSlides/notesSlide14.xml" Id="R2f314269165e4ed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7067490e80439f" /><Relationship Type="http://schemas.openxmlformats.org/officeDocument/2006/relationships/notesSlide" Target="/ppt/notesSlides/notesSlide15.xml" Id="Rc594d71863d3427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2AC21E-8CF1-49CA-96FE-D95DA8E4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36665C-6E74-4E86-9280-8B5808B9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0"/>
            <a:ext cx="3333750" cy="2857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45195E-0F5E-4FD6-A374-566EC302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1619250" cy="1619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0EF49B-82FC-4195-BBC0-59091F3E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B8D4"/>
                </a:solidFill>
              </a:defRPr>
            </a:pPr>
            <a:r>
              <a:rPr sz="975" b="1">
                <a:solidFill>
                  <a:srgbClr val="16B8D4"/>
                </a:solidFill>
              </a:rPr>
              <a:t>PROYECTO APT · CAPSTONE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867102-874C-48BE-9A7E-C53DB4DC2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23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Técnico Ya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3B0407-2963-4476-A6E1-D3758B84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676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C8D8E5"/>
                </a:solidFill>
              </a:defRPr>
            </a:pPr>
            <a:r>
              <a:rPr sz="1875" b="0">
                <a:solidFill>
                  <a:srgbClr val="C8D8E5"/>
                </a:solidFill>
              </a:rPr>
              <a:t>Gestión inteligente de servicios técnicos a domicilio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98B52F-B4B2-4943-891D-EB1548A65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D4E95E-E063-4B75-8B65-BCB6B13F8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647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Web · App móvil · API · Base de datos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F044AE-716A-4BB3-BE8B-78BDA0C6E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8D8E5"/>
                </a:solidFill>
              </a:defRPr>
            </a:pPr>
            <a:r>
              <a:rPr sz="1200" b="0">
                <a:solidFill>
                  <a:srgbClr val="C8D8E5"/>
                </a:solidFill>
              </a:rPr>
              <a:t>José Espinoza  ·  José Herrera  ·  Sebastián Valdés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4F46B6-E779-4CE4-BD10-85852EB2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Empresa JJV · Septiembre 2026</a:t>
            </a:r>
          </a:p>
        </p:txBody>
      </p:sp>
    </p:spTree>
    <p:extLst>
      <p:ext uri="{BB962C8B-B14F-4D97-AF65-F5344CB8AC3E}">
        <p14:creationId xmlns:p14="http://schemas.microsoft.com/office/powerpoint/2010/main" val="5622103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E1534E-D442-4819-AE84-A5884816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0DE99-5D8E-440A-813C-CD9DFE21F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PROBLEMÁTICA Y RELEVANCIA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FDB27C-8E15-4F55-BE3A-93C459B37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33"/>
                </a:solidFill>
              </a:defRPr>
            </a:pPr>
            <a:r>
              <a:rPr sz="2550" b="1">
                <a:solidFill>
                  <a:srgbClr val="0B1F33"/>
                </a:solidFill>
              </a:rPr>
              <a:t>La operación dispersa limita el control del servicio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F03715-09BC-4082-B88E-3FB44322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1768DA-EB57-493A-B653-3A1E847D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586"/>
                </a:solidFill>
              </a:defRPr>
            </a:pPr>
            <a:r>
              <a:rPr sz="825" b="1">
                <a:solidFill>
                  <a:srgbClr val="637586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2903CD-07CB-4BCC-B689-A43572B4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095875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32D7CC-2CC7-419D-A6F8-C8B4817D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666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A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1C143-957E-4DF5-B75A-BF0EBAF6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1828800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</a:defRPr>
            </a:pPr>
            <a:r>
              <a:rPr sz="1500" b="1">
                <a:solidFill>
                  <a:srgbClr val="0B1F33"/>
                </a:solidFill>
              </a:rPr>
              <a:t>Situación actual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952783-D6BD-4F72-8A7E-3BD8ED0D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200275"/>
            <a:ext cx="46672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586"/>
                </a:solidFill>
              </a:defRPr>
            </a:pPr>
            <a:r>
              <a:rPr sz="1125" b="0">
                <a:solidFill>
                  <a:srgbClr val="637586"/>
                </a:solidFill>
              </a:rPr>
              <a:t>• Solicitudes por llamadas, WhatsApp y redes sociales.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637586"/>
                </a:solidFill>
              </a:defRPr>
            </a:pPr>
            <a:r>
              <a:rPr sz="1125" b="0">
                <a:solidFill>
                  <a:srgbClr val="637586"/>
                </a:solidFill>
              </a:rPr>
              <a:t>• Asignación y seguimiento realizados manualmente.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637586"/>
                </a:solidFill>
              </a:defRPr>
            </a:pPr>
            <a:r>
              <a:rPr sz="1125" b="0">
                <a:solidFill>
                  <a:srgbClr val="637586"/>
                </a:solidFill>
              </a:rPr>
              <a:t>• Información duplicada, incompleta o difícil de consultar.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65ACAF-9DBE-4F96-90E3-69E7AFAF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657350"/>
            <a:ext cx="5514975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322CB9-83F6-4C99-BC18-EFE75D69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43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B8D4"/>
                </a:solidFill>
              </a:defRPr>
            </a:pPr>
            <a:r>
              <a:rPr sz="1050" b="1">
                <a:solidFill>
                  <a:srgbClr val="16B8D4"/>
                </a:solidFill>
              </a:rPr>
              <a:t>IMPACTO OPERACIONAL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E708D4-E2A6-428C-868E-2D43A6B9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05075"/>
            <a:ext cx="361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046C65-BAF5-4588-82A2-03426AEF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352675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CLIENTES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318526-6919-48E7-A847-76A1A8A3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6098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Demoras y poca visibilidad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6CE1A6-F67B-47B7-ABF5-F1CF1BE3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43275"/>
            <a:ext cx="361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6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F9A90C-ADDD-495D-981D-E213AFED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190875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ADMINISTRACIÓN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03E9DF-2E40-422E-A04E-0D03D1DE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4480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Mayor carga y coordinación lenta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191455-FDA3-4748-A5B6-C0206218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81475"/>
            <a:ext cx="361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6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1061DD-1E11-4BA8-ADAC-7355C9B5B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029075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TÉCNICOS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1779F9-95E7-4386-A84F-1ABD2806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2862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Datos y órdenes sin centralizar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CC02AE-4855-4965-AA49-19B43580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962FF"/>
                </a:solidFill>
              </a:defRPr>
            </a:pPr>
            <a:r>
              <a:rPr sz="1350" b="1">
                <a:solidFill>
                  <a:srgbClr val="2962FF"/>
                </a:solidFill>
              </a:rPr>
              <a:t>Resolverlo aplica transformación digital e Ingeniería en Informática.</a:t>
            </a:r>
          </a:p>
        </p:txBody>
      </p:sp>
    </p:spTree>
    <p:extLst>
      <p:ext uri="{BB962C8B-B14F-4D97-AF65-F5344CB8AC3E}">
        <p14:creationId xmlns:p14="http://schemas.microsoft.com/office/powerpoint/2010/main" val="16720268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DACF50-1C3A-4FB7-B69E-3B78840B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C61B53-1ED5-4E30-B677-640DE72DE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CONTEXTO Y PROPUESTA DE VALOR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D20EFE-4F8B-47AE-808B-A4D2AD09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33"/>
                </a:solidFill>
              </a:defRPr>
            </a:pPr>
            <a:r>
              <a:rPr sz="2550" b="1">
                <a:solidFill>
                  <a:srgbClr val="0B1F33"/>
                </a:solidFill>
              </a:rPr>
              <a:t>Una solicitud cotidiana revela el valor de Técnico Ya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496CCD-4A2E-469E-BFD7-5512D6F1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C94273-2A41-4A3F-90C0-E0450BDB9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586"/>
                </a:solidFill>
              </a:defRPr>
            </a:pPr>
            <a:r>
              <a:rPr sz="825" b="1">
                <a:solidFill>
                  <a:srgbClr val="637586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69A1FC-EE31-4C10-967C-1C26A553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2419350" cy="3095625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740C50-917D-4880-B47F-B942DC71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812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962FF"/>
                </a:solidFill>
              </a:defRPr>
            </a:pPr>
            <a:r>
              <a:rPr sz="975" b="1">
                <a:solidFill>
                  <a:srgbClr val="2962FF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F29720-697E-4BED-8298-5BFA7DE3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05075"/>
            <a:ext cx="1952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</a:defRPr>
            </a:pPr>
            <a:r>
              <a:rPr sz="1500" b="1">
                <a:solidFill>
                  <a:srgbClr val="0B1F33"/>
                </a:solidFill>
              </a:rPr>
              <a:t>NECESIDAD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AEB16E-A9EB-4712-98E1-D9C79478E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57525"/>
            <a:ext cx="19526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586"/>
                </a:solidFill>
              </a:defRPr>
            </a:pPr>
            <a:r>
              <a:rPr sz="1200" b="0">
                <a:solidFill>
                  <a:srgbClr val="637586"/>
                </a:solidFill>
              </a:rPr>
              <a:t>Un cliente requiere una reparación y registra su solicitud.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29076E-C284-4F28-B1B9-7B621718F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0075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6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F043A1-4D4C-40BF-823C-AE87579A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743075"/>
            <a:ext cx="2419350" cy="3095625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05FB31-CFD3-41B7-B5AD-26BB8134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9812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B8D4"/>
                </a:solidFill>
              </a:defRPr>
            </a:pPr>
            <a:r>
              <a:rPr sz="975" b="1">
                <a:solidFill>
                  <a:srgbClr val="16B8D4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9E44A2-8861-434B-AE8C-DED6A393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505075"/>
            <a:ext cx="1952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COORDINACIÓN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767B33-6FB2-4CE3-9936-9EE291E3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57525"/>
            <a:ext cx="19526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CE8F1"/>
                </a:solidFill>
              </a:defRPr>
            </a:pPr>
            <a:r>
              <a:rPr sz="1200" b="0">
                <a:solidFill>
                  <a:srgbClr val="DCE8F1"/>
                </a:solidFill>
              </a:rPr>
              <a:t>El gestor revisa el caso y recibe técnicos recomendados.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D2C6C0-A073-4C4F-A92C-C571D724F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410075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65B446-3407-4167-A57B-EB05F746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43075"/>
            <a:ext cx="2419350" cy="3095625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789F19-2E1E-4916-97CD-7F547600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812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962FF"/>
                </a:solidFill>
              </a:defRPr>
            </a:pPr>
            <a:r>
              <a:rPr sz="975" b="1">
                <a:solidFill>
                  <a:srgbClr val="2962FF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A012D4-9FC6-4BED-B361-6A002087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05075"/>
            <a:ext cx="1952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</a:defRPr>
            </a:pPr>
            <a:r>
              <a:rPr sz="1500" b="1">
                <a:solidFill>
                  <a:srgbClr val="0B1F33"/>
                </a:solidFill>
              </a:rPr>
              <a:t>ATENCIÓN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116C77-C901-4653-9918-AE6885324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7525"/>
            <a:ext cx="19526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586"/>
                </a:solidFill>
              </a:defRPr>
            </a:pPr>
            <a:r>
              <a:rPr sz="1200" b="0">
                <a:solidFill>
                  <a:srgbClr val="637586"/>
                </a:solidFill>
              </a:rPr>
              <a:t>El técnico consulta la ruta, valida el inicio y registra evidencias.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9E5970-7691-4CFC-895C-965539374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10075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6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BC289F-FE1B-4108-9772-9A0DDAE2A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743075"/>
            <a:ext cx="2419350" cy="3095625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FEC2A9-98CC-493A-BF18-76C098F6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9812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962FF"/>
                </a:solidFill>
              </a:defRPr>
            </a:pPr>
            <a:r>
              <a:rPr sz="975" b="1">
                <a:solidFill>
                  <a:srgbClr val="2962FF"/>
                </a:solidFill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31C86D-9814-47AB-A6BD-0B0A74AE4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05075"/>
            <a:ext cx="1952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</a:defRPr>
            </a:pPr>
            <a:r>
              <a:rPr sz="1500" b="1">
                <a:solidFill>
                  <a:srgbClr val="0B1F33"/>
                </a:solidFill>
              </a:rPr>
              <a:t>CIERRE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3FE57F-4EDE-46ED-B68E-4F9CF9F99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057525"/>
            <a:ext cx="19526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586"/>
                </a:solidFill>
              </a:defRPr>
            </a:pPr>
            <a:r>
              <a:rPr sz="1200" b="0">
                <a:solidFill>
                  <a:srgbClr val="637586"/>
                </a:solidFill>
              </a:rPr>
              <a:t>El cliente confirma el término y la empresa conserva la trazabilidad.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369265-0A81-4A8C-94A1-312A79252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410075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0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E0C457-CEAE-42AE-9112-87AD4413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05425"/>
            <a:ext cx="9334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F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986DC1-4FC9-4708-A18F-4B8887C78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00675"/>
            <a:ext cx="8839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1F33"/>
                </a:solidFill>
              </a:defRPr>
            </a:pPr>
            <a:r>
              <a:rPr sz="1350" b="1">
                <a:solidFill>
                  <a:srgbClr val="0B1F33"/>
                </a:solidFill>
              </a:rPr>
              <a:t>Propuesta de valor: centralizar la gestión y entregar visibilidad a clientes, gestores y técnicos.</a:t>
            </a:r>
          </a:p>
        </p:txBody>
      </p:sp>
    </p:spTree>
    <p:extLst>
      <p:ext uri="{BB962C8B-B14F-4D97-AF65-F5344CB8AC3E}">
        <p14:creationId xmlns:p14="http://schemas.microsoft.com/office/powerpoint/2010/main" val="5715777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8BD5FE-1B58-48C8-B5EC-8AB78554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54B768-FA8A-4821-AA56-B649086EC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SOLUCIÓN PROPUESTA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DA3BA0-FCA7-4FC5-8610-0E23EEEF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33"/>
                </a:solidFill>
              </a:defRPr>
            </a:pPr>
            <a:r>
              <a:rPr sz="2550" b="1">
                <a:solidFill>
                  <a:srgbClr val="0B1F33"/>
                </a:solidFill>
              </a:rPr>
              <a:t>Una plataforma integrada acompaña todo el ciclo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5D34F-A9CF-4792-8698-F501F5C7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5AD28C-8A9A-4760-93C4-48D441C7F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586"/>
                </a:solidFill>
              </a:defRPr>
            </a:pPr>
            <a:r>
              <a:rPr sz="825" b="1">
                <a:solidFill>
                  <a:srgbClr val="637586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E16045-7D89-42BC-A6EE-6AF3291D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952750"/>
            <a:ext cx="895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38BBA3-318B-42E3-BC04-80A9540D0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52750"/>
            <a:ext cx="895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AD7B3B-4058-4A07-8CD9-FAE29184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895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A211FB-2030-4DDD-A6F3-2E3DE898E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52750"/>
            <a:ext cx="895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252E8E-F12E-449B-A248-EB31DFE8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55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357355-BF9F-40EC-A5B5-602A27A2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19375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962FF"/>
                </a:solidFill>
              </a:defRPr>
            </a:pPr>
            <a:r>
              <a:rPr sz="900" b="1">
                <a:solidFill>
                  <a:srgbClr val="2962FF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60B74A-E1E5-4C26-BB1E-0BF9C5E7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4766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</a:defRPr>
            </a:pPr>
            <a:r>
              <a:rPr sz="1200" b="1">
                <a:solidFill>
                  <a:srgbClr val="0B1F33"/>
                </a:solidFill>
              </a:rPr>
              <a:t>SOLICITUD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14EBE4-10BA-40AB-B7B9-2901C68D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9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586"/>
                </a:solidFill>
              </a:defRPr>
            </a:pPr>
            <a:r>
              <a:rPr sz="975" b="0">
                <a:solidFill>
                  <a:srgbClr val="637586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8257EE-9BC6-4F75-9155-847DD65B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4955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77B209-A05B-45EB-AF65-EBAF9730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19375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962FF"/>
                </a:solidFill>
              </a:defRPr>
            </a:pPr>
            <a:r>
              <a:rPr sz="900" b="1">
                <a:solidFill>
                  <a:srgbClr val="2962FF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3E2C57-4BE5-4DBA-933B-64F41DF72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766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</a:defRPr>
            </a:pPr>
            <a:r>
              <a:rPr sz="1200" b="1">
                <a:solidFill>
                  <a:srgbClr val="0B1F33"/>
                </a:solidFill>
              </a:rPr>
              <a:t>REVISIÓN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CCFF9C-D195-4336-9789-64CC9FAF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819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586"/>
                </a:solidFill>
              </a:defRPr>
            </a:pPr>
            <a:r>
              <a:rPr sz="975" b="0">
                <a:solidFill>
                  <a:srgbClr val="637586"/>
                </a:solidFill>
              </a:rPr>
              <a:t>Gestor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1DD2A9-DCE2-4A5C-98BC-F842E6A75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955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9525">
            <a:solidFill>
              <a:srgbClr val="16B8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BDD886-8758-42BB-B581-B00CB608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19375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B1F33"/>
                </a:solidFill>
              </a:defRPr>
            </a:pPr>
            <a:r>
              <a:rPr sz="900" b="1">
                <a:solidFill>
                  <a:srgbClr val="0B1F33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68588E-34DC-4FFB-9480-5CBA7A06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4766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</a:defRPr>
            </a:pPr>
            <a:r>
              <a:rPr sz="1200" b="1">
                <a:solidFill>
                  <a:srgbClr val="0B1F33"/>
                </a:solidFill>
              </a:rPr>
              <a:t>ASIGNACIÓN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07CDF0-EDAA-45C6-9B47-825502AC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819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586"/>
                </a:solidFill>
              </a:defRPr>
            </a:pPr>
            <a:r>
              <a:rPr sz="975" b="0">
                <a:solidFill>
                  <a:srgbClr val="637586"/>
                </a:solidFill>
              </a:rPr>
              <a:t>Sistema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1A2C06-3F59-4BBB-870D-F8C009ACB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955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92AE6C-2892-4A1A-B48E-F7A7D6BCF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619375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962FF"/>
                </a:solidFill>
              </a:defRPr>
            </a:pPr>
            <a:r>
              <a:rPr sz="900" b="1">
                <a:solidFill>
                  <a:srgbClr val="2962FF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543675-FD7C-4E92-820F-22FB8F77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4766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</a:defRPr>
            </a:pPr>
            <a:r>
              <a:rPr sz="1200" b="1">
                <a:solidFill>
                  <a:srgbClr val="0B1F33"/>
                </a:solidFill>
              </a:rPr>
              <a:t>EJECUCIÓN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119349-13E8-41EE-BF0A-968F4EBD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819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586"/>
                </a:solidFill>
              </a:defRPr>
            </a:pPr>
            <a:r>
              <a:rPr sz="975" b="0">
                <a:solidFill>
                  <a:srgbClr val="637586"/>
                </a:solidFill>
              </a:rPr>
              <a:t>Técnico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3F2D84-D7F3-4238-9455-A83A8473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4955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ABB31C-81E9-4AE7-8292-C83FCA85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619375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962FF"/>
                </a:solidFill>
              </a:defRPr>
            </a:pPr>
            <a:r>
              <a:rPr sz="900" b="1">
                <a:solidFill>
                  <a:srgbClr val="2962FF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CEC531-246F-4D04-866F-0B286813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766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</a:defRPr>
            </a:pPr>
            <a:r>
              <a:rPr sz="1200" b="1">
                <a:solidFill>
                  <a:srgbClr val="0B1F33"/>
                </a:solidFill>
              </a:rPr>
              <a:t>CIERRE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0D7556-E43F-4F21-8F83-9075AB60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819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586"/>
                </a:solidFill>
              </a:defRPr>
            </a:pPr>
            <a:r>
              <a:rPr sz="975" b="0">
                <a:solidFill>
                  <a:srgbClr val="637586"/>
                </a:solidFill>
              </a:rPr>
              <a:t>Empresa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D7F00B-E210-431F-962D-B8C4B510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05350"/>
            <a:ext cx="91440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DF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7A0574B-1E36-4605-ACC4-59B5DC74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3870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1F33"/>
                </a:solidFill>
              </a:defRPr>
            </a:pPr>
            <a:r>
              <a:rPr sz="1350" b="1">
                <a:solidFill>
                  <a:srgbClr val="0B1F33"/>
                </a:solidFill>
              </a:rPr>
              <a:t>Una sola base de datos mantiene la trazabilidad desde la solicitud hasta la finalización.</a:t>
            </a:r>
          </a:p>
        </p:txBody>
      </p:sp>
    </p:spTree>
    <p:extLst>
      <p:ext uri="{BB962C8B-B14F-4D97-AF65-F5344CB8AC3E}">
        <p14:creationId xmlns:p14="http://schemas.microsoft.com/office/powerpoint/2010/main" val="9432225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A1C689-A986-4004-9A0F-991E69A4E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117D7C-4CAD-4E90-BEC3-DA1EDA8EE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ARQUITECTURA FUNCIONAL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FD10F4-6BE9-40A4-A3AA-4CDA51336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33"/>
                </a:solidFill>
              </a:defRPr>
            </a:pPr>
            <a:r>
              <a:rPr sz="2550" b="1">
                <a:solidFill>
                  <a:srgbClr val="0B1F33"/>
                </a:solidFill>
              </a:rPr>
              <a:t>Cuatro componentes, una experiencia conectada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DAC4AA-92A2-4775-8DD6-8A0FB0AEA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56DDCA-3718-43CA-9DB1-025FEE7B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586"/>
                </a:solidFill>
              </a:defRPr>
            </a:pPr>
            <a:r>
              <a:rPr sz="825" b="1">
                <a:solidFill>
                  <a:srgbClr val="637586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4998F4-85C2-4A0E-BF2E-F650EA618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2419350" cy="3143250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0508A7-E307-4551-B757-CF73ECBF1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24193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6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41ED29-0BEB-471F-BEE3-8842916D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428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962FF"/>
                </a:solidFill>
              </a:defRPr>
            </a:pPr>
            <a:r>
              <a:rPr sz="975" b="1">
                <a:solidFill>
                  <a:srgbClr val="2962FF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50C9B7-BA80-41EF-85DF-AD8D6C4F6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146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3"/>
                </a:solidFill>
              </a:defRPr>
            </a:pPr>
            <a:r>
              <a:rPr sz="1575" b="1">
                <a:solidFill>
                  <a:srgbClr val="0B1F33"/>
                </a:solidFill>
              </a:rPr>
              <a:t>WEB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5DF0A4-627B-464C-8470-26BC6375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480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586"/>
                </a:solidFill>
              </a:defRPr>
            </a:pPr>
            <a:r>
              <a:rPr sz="1200" b="0">
                <a:solidFill>
                  <a:srgbClr val="637586"/>
                </a:solidFill>
              </a:rPr>
              <a:t>Solicitudes, clientes, servicios, asignaciones y dashboard.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1C5BDA-2A97-4775-B402-F4A5545B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76725"/>
            <a:ext cx="12192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96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DE7EB0-295A-4273-AB3E-1FA6E7555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577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B1F33"/>
                </a:solidFill>
              </a:defRPr>
            </a:pPr>
            <a:r>
              <a:rPr sz="975" b="1">
                <a:solidFill>
                  <a:srgbClr val="0B1F33"/>
                </a:solidFill>
              </a:rPr>
              <a:t>INTERFAZ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BD71C8-68F6-4073-AB10-B0970DE6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14500"/>
            <a:ext cx="2419350" cy="3143250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6F6F1F-1022-4FE3-A5A8-CD1998F3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14500"/>
            <a:ext cx="24193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D9A19B-7E44-46E2-B6CB-EE4B2DA4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19300"/>
            <a:ext cx="428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B8D4"/>
                </a:solidFill>
              </a:defRPr>
            </a:pPr>
            <a:r>
              <a:rPr sz="975" b="1">
                <a:solidFill>
                  <a:srgbClr val="16B8D4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DBFD14-6296-41A2-BA3E-912B87A7D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146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3"/>
                </a:solidFill>
              </a:defRPr>
            </a:pPr>
            <a:r>
              <a:rPr sz="1575" b="1">
                <a:solidFill>
                  <a:srgbClr val="0B1F33"/>
                </a:solidFill>
              </a:rPr>
              <a:t>APP MÓVIL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574ECB-06E4-4C2E-A9AE-EB17056E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480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586"/>
                </a:solidFill>
              </a:defRPr>
            </a:pPr>
            <a:r>
              <a:rPr sz="1200" b="0">
                <a:solidFill>
                  <a:srgbClr val="637586"/>
                </a:solidFill>
              </a:rPr>
              <a:t>Órdenes, mapas, códigos, estados y evidencias.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B7CA87-9C77-48A1-9A87-E0A0D863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276725"/>
            <a:ext cx="12192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408835-8C76-446D-AFE0-9166F2973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29577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B1F33"/>
                </a:solidFill>
              </a:defRPr>
            </a:pPr>
            <a:r>
              <a:rPr sz="975" b="1">
                <a:solidFill>
                  <a:srgbClr val="0B1F33"/>
                </a:solidFill>
              </a:rPr>
              <a:t>INTERFAZ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419A99-5BD1-4914-B121-3457F512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714500"/>
            <a:ext cx="2419350" cy="3143250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80D6E3-C854-43E4-889C-CBAD4D1C9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714500"/>
            <a:ext cx="24193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0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906A4C-B069-4B6D-911D-5D6E0C5A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19300"/>
            <a:ext cx="428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C08A"/>
                </a:solidFill>
              </a:defRPr>
            </a:pPr>
            <a:r>
              <a:rPr sz="975" b="1">
                <a:solidFill>
                  <a:srgbClr val="55C08A"/>
                </a:solidFill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7280CA-BB14-412F-889C-AC5A467A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146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3"/>
                </a:solidFill>
              </a:defRPr>
            </a:pPr>
            <a:r>
              <a:rPr sz="1575" b="1">
                <a:solidFill>
                  <a:srgbClr val="0B1F33"/>
                </a:solidFill>
              </a:rPr>
              <a:t>BACKEND / API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452C66-7B2F-4EF7-A778-B0EB58BF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480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586"/>
                </a:solidFill>
              </a:defRPr>
            </a:pPr>
            <a:r>
              <a:rPr sz="1200" b="0">
                <a:solidFill>
                  <a:srgbClr val="637586"/>
                </a:solidFill>
              </a:rPr>
              <a:t>Autenticación, permisos, reglas e integraciones.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F53E47-EE8C-486F-B883-5EC7CD76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76725"/>
            <a:ext cx="12192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55C0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8E50E8-A6DB-4DD7-800A-782AE36C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9577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B1F33"/>
                </a:solidFill>
              </a:defRPr>
            </a:pPr>
            <a:r>
              <a:rPr sz="975" b="1">
                <a:solidFill>
                  <a:srgbClr val="0B1F33"/>
                </a:solidFill>
              </a:rPr>
              <a:t>LÓGICA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4141D1-F334-46A4-A6EA-74CD9DE98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714500"/>
            <a:ext cx="2419350" cy="3143250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FCCBED-34E2-46A1-BDE5-EEA45970F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714500"/>
            <a:ext cx="24193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63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DB4172-C12D-4610-B51C-D7B4D415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19300"/>
            <a:ext cx="428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B63C"/>
                </a:solidFill>
              </a:defRPr>
            </a:pPr>
            <a:r>
              <a:rPr sz="975" b="1">
                <a:solidFill>
                  <a:srgbClr val="F5B63C"/>
                </a:solidFill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044C5E-837C-4158-B185-CC842A6C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5146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3"/>
                </a:solidFill>
              </a:defRPr>
            </a:pPr>
            <a:r>
              <a:rPr sz="1575" b="1">
                <a:solidFill>
                  <a:srgbClr val="0B1F33"/>
                </a:solidFill>
              </a:rPr>
              <a:t>BASE DE DATOS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3B41BA-4073-471F-8832-09ED4556D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0480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586"/>
                </a:solidFill>
              </a:defRPr>
            </a:pPr>
            <a:r>
              <a:rPr sz="1200" b="0">
                <a:solidFill>
                  <a:srgbClr val="637586"/>
                </a:solidFill>
              </a:rPr>
              <a:t>Usuarios, históricos, órdenes y evidencias.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3DF9D1-9B5D-4C67-B9E6-91CE57DD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276725"/>
            <a:ext cx="12192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B63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C5F313B-A9B3-48AA-A51D-3887EBC1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29577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B1F33"/>
                </a:solidFill>
              </a:defRPr>
            </a:pPr>
            <a:r>
              <a:rPr sz="975" b="1">
                <a:solidFill>
                  <a:srgbClr val="0B1F33"/>
                </a:solidFill>
              </a:rPr>
              <a:t>INFORMACIÓN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3B6659-8165-4EC7-A7B9-20DA894BC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3047"/>
                </a:solidFill>
              </a:defRPr>
            </a:pPr>
            <a:r>
              <a:rPr sz="1200" b="1">
                <a:solidFill>
                  <a:srgbClr val="153047"/>
                </a:solidFill>
              </a:rPr>
              <a:t>Servicios externos: mapas, geolocalización, notificaciones y almacenamiento de fotografías.</a:t>
            </a:r>
          </a:p>
        </p:txBody>
      </p:sp>
    </p:spTree>
    <p:extLst>
      <p:ext uri="{BB962C8B-B14F-4D97-AF65-F5344CB8AC3E}">
        <p14:creationId xmlns:p14="http://schemas.microsoft.com/office/powerpoint/2010/main" val="11606980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F271C9-EF4B-4F0B-A160-2A181075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D949DC-9891-4EBA-BB9B-2FAA2B91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PERFIL DE EGRESO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A3BA3C-15C5-4452-8F13-ED8BDA791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33"/>
                </a:solidFill>
              </a:defRPr>
            </a:pPr>
            <a:r>
              <a:rPr sz="2550" b="1">
                <a:solidFill>
                  <a:srgbClr val="0B1F33"/>
                </a:solidFill>
              </a:rPr>
              <a:t>El proyecto integra las competencias centrales de la carrera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899061-0A00-43F8-9714-D521D6C8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DB1931-15FA-4D04-9204-4711BB64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586"/>
                </a:solidFill>
              </a:defRPr>
            </a:pPr>
            <a:r>
              <a:rPr sz="825" b="1">
                <a:solidFill>
                  <a:srgbClr val="637586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CD9624-08FA-4479-9E1E-B71DA122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D9A31B-8C4C-440C-9790-38C289A2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3190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F33"/>
                </a:solidFill>
              </a:defRPr>
            </a:pPr>
            <a:r>
              <a:rPr sz="1350" b="1">
                <a:solidFill>
                  <a:srgbClr val="0B1F33"/>
                </a:solidFill>
              </a:rPr>
              <a:t>ANALIZAR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CFC3AF-0C28-4571-B163-E254AC345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586"/>
                </a:solidFill>
              </a:defRPr>
            </a:pPr>
            <a:r>
              <a:rPr sz="1125" b="0">
                <a:solidFill>
                  <a:srgbClr val="637586"/>
                </a:solidFill>
              </a:rPr>
              <a:t>Requerimientos, actores, procesos y reglas.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9AF6D-808E-42AB-801D-E86FFAEDF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75260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6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048652-FD05-42D6-924E-FCF70B52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924050"/>
            <a:ext cx="3190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F33"/>
                </a:solidFill>
              </a:defRPr>
            </a:pPr>
            <a:r>
              <a:rPr sz="1350" b="1">
                <a:solidFill>
                  <a:srgbClr val="0B1F33"/>
                </a:solidFill>
              </a:rPr>
              <a:t>DISEÑAR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66AB62-D497-47D5-B0EC-23B3D9D5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3050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586"/>
                </a:solidFill>
              </a:defRPr>
            </a:pPr>
            <a:r>
              <a:rPr sz="1125" b="0">
                <a:solidFill>
                  <a:srgbClr val="637586"/>
                </a:solidFill>
              </a:rPr>
              <a:t>Arquitectura, API, base de datos e interfaces.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B29466-765D-4687-8366-6BCB8AC0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75260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5376F4-4FF9-4287-9DB7-6927B4E5D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24050"/>
            <a:ext cx="3190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F33"/>
                </a:solidFill>
              </a:defRPr>
            </a:pPr>
            <a:r>
              <a:rPr sz="1350" b="1">
                <a:solidFill>
                  <a:srgbClr val="0B1F33"/>
                </a:solidFill>
              </a:rPr>
              <a:t>DESARROLLAR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875CE9-BD27-4E9F-804D-1FD92682B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050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586"/>
                </a:solidFill>
              </a:defRPr>
            </a:pPr>
            <a:r>
              <a:rPr sz="1125" b="0">
                <a:solidFill>
                  <a:srgbClr val="637586"/>
                </a:solidFill>
              </a:rPr>
              <a:t>Web, app móvil y lógica backend.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48EDB7-60BE-4B93-AA09-7BF72A3AD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6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BD8D61-4C62-4C8F-82F7-D047864E7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3190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F33"/>
                </a:solidFill>
              </a:defRPr>
            </a:pPr>
            <a:r>
              <a:rPr sz="1350" b="1">
                <a:solidFill>
                  <a:srgbClr val="0B1F33"/>
                </a:solidFill>
              </a:rPr>
              <a:t>INTEGRAR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8BECFD-6F7D-4810-9090-3B05DAE85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586"/>
                </a:solidFill>
              </a:defRPr>
            </a:pPr>
            <a:r>
              <a:rPr sz="1125" b="0">
                <a:solidFill>
                  <a:srgbClr val="637586"/>
                </a:solidFill>
              </a:rPr>
              <a:t>Servicios externos y fuente de datos común.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4C9B3B-040A-4888-B22E-E1087458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44805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52B586-31D5-4A39-A37E-446E294F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19500"/>
            <a:ext cx="3190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F33"/>
                </a:solidFill>
              </a:defRPr>
            </a:pPr>
            <a:r>
              <a:rPr sz="1350" b="1">
                <a:solidFill>
                  <a:srgbClr val="0B1F33"/>
                </a:solidFill>
              </a:rPr>
              <a:t>VALIDAR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9BC193-649A-4C00-AF1C-3390418C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0005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586"/>
                </a:solidFill>
              </a:defRPr>
            </a:pPr>
            <a:r>
              <a:rPr sz="1125" b="0">
                <a:solidFill>
                  <a:srgbClr val="637586"/>
                </a:solidFill>
              </a:rPr>
              <a:t>Seguridad, calidad, pruebas y trazabilidad.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B1711C-A328-4884-9AD9-214B94EC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44805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6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60C4AD-FC2A-4198-AD5C-C560A8C1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19500"/>
            <a:ext cx="3190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F33"/>
                </a:solidFill>
              </a:defRPr>
            </a:pPr>
            <a:r>
              <a:rPr sz="1350" b="1">
                <a:solidFill>
                  <a:srgbClr val="0B1F33"/>
                </a:solidFill>
              </a:rPr>
              <a:t>GESTIONAR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EF8D90-615E-4200-810A-CC80B442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005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586"/>
                </a:solidFill>
              </a:defRPr>
            </a:pPr>
            <a:r>
              <a:rPr sz="1125" b="0">
                <a:solidFill>
                  <a:srgbClr val="637586"/>
                </a:solidFill>
              </a:rPr>
              <a:t>Alcance, plazos, riesgos y colaboración.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77919C-6AC5-4CC3-9185-5A929B72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57275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397ED0-2B2C-4143-B4B7-17E3485A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05450"/>
            <a:ext cx="1019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Resultado: experiencia completa del ciclo de vida del software.</a:t>
            </a:r>
          </a:p>
        </p:txBody>
      </p:sp>
    </p:spTree>
    <p:extLst>
      <p:ext uri="{BB962C8B-B14F-4D97-AF65-F5344CB8AC3E}">
        <p14:creationId xmlns:p14="http://schemas.microsoft.com/office/powerpoint/2010/main" val="8941674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6A4D9F-9694-4928-9803-AF5DA809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276C5E-CB1D-4FF7-9477-79C6F229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INTERESES PROFESIONALES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EFAEBD-9DCA-476A-9CA4-5582B762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33"/>
                </a:solidFill>
              </a:defRPr>
            </a:pPr>
            <a:r>
              <a:rPr sz="2550" b="1">
                <a:solidFill>
                  <a:srgbClr val="0B1F33"/>
                </a:solidFill>
              </a:rPr>
              <a:t>Técnico Ya conecta aprendizaje, práctica e impacto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8F8188-D7EB-4E8C-8C43-B1E3D929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2709AD-283C-402C-8DBB-B491E1C09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586"/>
                </a:solidFill>
              </a:defRPr>
            </a:pPr>
            <a:r>
              <a:rPr sz="825" b="1">
                <a:solidFill>
                  <a:srgbClr val="637586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335DF4-1BA2-4162-A689-30A6D7158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4381500" cy="37338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B782B6-3584-4948-AA98-12FA28437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B8D4"/>
                </a:solidFill>
              </a:defRPr>
            </a:pPr>
            <a:r>
              <a:rPr sz="1050" b="1">
                <a:solidFill>
                  <a:srgbClr val="16B8D4"/>
                </a:solidFill>
              </a:rPr>
              <a:t>ÁREAS QUE QUEREMOS FORTALECER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1D03A2-E253-4915-95A3-6EB2BCBB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622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E7B5E1-74FF-41C9-B829-7C99E993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574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Desarrollo Full Stack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FF2733-24D6-4E21-BC60-8F519BD99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908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6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158208-B892-4EB8-B5DF-CB310092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861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Aplicaciones móviles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6E6CF7-62D2-4E40-9FB5-91FE89C3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195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61B799-BE80-48A7-AE8B-F1A7A2FE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147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APIs y bases de datos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43085E-6F95-458D-B182-24FB75B4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481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6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4157E1-47CA-4EF8-B6A1-F10D3EBD4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434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Integración y despliegue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4F4B0D-987B-48C7-9105-C0286AFB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7811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962FF"/>
                </a:solidFill>
              </a:defRPr>
            </a:pPr>
            <a:r>
              <a:rPr sz="1200" b="1">
                <a:solidFill>
                  <a:srgbClr val="2962FF"/>
                </a:solidFill>
              </a:rPr>
              <a:t>Aplicación profesional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D4F714-519F-4B2D-B079-B1B2B5A4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43125"/>
            <a:ext cx="5334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B1F33"/>
                </a:solidFill>
              </a:defRPr>
            </a:pPr>
            <a:r>
              <a:rPr sz="2025" b="1">
                <a:solidFill>
                  <a:srgbClr val="0B1F33"/>
                </a:solidFill>
              </a:rPr>
              <a:t>Convertir una problemática real en una solución funcional, documentada y comprobable.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0EC3CE-7F8E-4166-82CB-10960A7D9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571875"/>
            <a:ext cx="53340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F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484BAE-F161-448E-AA5B-DB773E095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52850"/>
            <a:ext cx="476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962FF"/>
                </a:solidFill>
              </a:defRPr>
            </a:pPr>
            <a:r>
              <a:rPr sz="975" b="1">
                <a:solidFill>
                  <a:srgbClr val="2962FF"/>
                </a:solidFill>
              </a:rPr>
              <a:t>VALOR LABORAL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0B1DDE-85E4-4C57-8302-B2F6A109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086225"/>
            <a:ext cx="466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3"/>
                </a:solidFill>
              </a:defRPr>
            </a:pPr>
            <a:r>
              <a:rPr sz="1425" b="1">
                <a:solidFill>
                  <a:srgbClr val="0B1F33"/>
                </a:solidFill>
              </a:rPr>
              <a:t>Experiencia similar a un proyecto real de transformación digital.</a:t>
            </a:r>
          </a:p>
        </p:txBody>
      </p:sp>
    </p:spTree>
    <p:extLst>
      <p:ext uri="{BB962C8B-B14F-4D97-AF65-F5344CB8AC3E}">
        <p14:creationId xmlns:p14="http://schemas.microsoft.com/office/powerpoint/2010/main" val="63075114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1E11EA-7CFD-447B-ABF9-4E3CA1A3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CA1739-273A-4056-88CE-3B857E42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FACTIBILIDAD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00D473-1DCE-4A07-8D16-1E8CA25F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33"/>
                </a:solidFill>
              </a:defRPr>
            </a:pPr>
            <a:r>
              <a:rPr sz="2550" b="1">
                <a:solidFill>
                  <a:srgbClr val="0B1F33"/>
                </a:solidFill>
              </a:rPr>
              <a:t>Un alcance acotado hace viable la entrega semestral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4ADCBB-B447-456F-81B3-8E61389B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93F2CE-60E5-40CD-9242-340FDBBE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586"/>
                </a:solidFill>
              </a:defRPr>
            </a:pPr>
            <a:r>
              <a:rPr sz="825" b="1">
                <a:solidFill>
                  <a:srgbClr val="637586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5E3EDE-96DF-41BE-BF43-B360BA815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962FF"/>
                </a:solidFill>
              </a:defRPr>
            </a:pPr>
            <a:r>
              <a:rPr sz="1125" b="1">
                <a:solidFill>
                  <a:srgbClr val="2962FF"/>
                </a:solidFill>
              </a:rPr>
              <a:t>FACILITADORES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86CDE5-0DC9-4266-A3B0-D8700E218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1932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0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A68C32-89D8-4FCC-96B0-C3A7C281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76450"/>
            <a:ext cx="419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33"/>
                </a:solidFill>
              </a:defRPr>
            </a:pPr>
            <a:r>
              <a:rPr sz="1275" b="1">
                <a:solidFill>
                  <a:srgbClr val="0B1F33"/>
                </a:solidFill>
              </a:rPr>
              <a:t>Equipo de tres integrantes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8E6B88-DF6A-4712-8C38-E088A4DA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0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248546-2A14-4690-91B6-599BDC81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76525"/>
            <a:ext cx="419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33"/>
                </a:solidFill>
              </a:defRPr>
            </a:pPr>
            <a:r>
              <a:rPr sz="1275" b="1">
                <a:solidFill>
                  <a:srgbClr val="0B1F33"/>
                </a:solidFill>
              </a:rPr>
              <a:t>Conocimientos previos en programación y SQL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9542FD-89AB-4A43-A729-8F26E3E2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194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0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B125AE-5E19-4867-81A8-59AD6125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76600"/>
            <a:ext cx="419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33"/>
                </a:solidFill>
              </a:defRPr>
            </a:pPr>
            <a:r>
              <a:rPr sz="1275" b="1">
                <a:solidFill>
                  <a:srgbClr val="0B1F33"/>
                </a:solidFill>
              </a:rPr>
              <a:t>Herramientas gratuitas o educativas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1DF2FC-F4A6-44B7-9FEA-672F62331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19550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0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83D16A-F1A2-490C-A0AB-26CCA3AA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76675"/>
            <a:ext cx="419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33"/>
                </a:solidFill>
              </a:defRPr>
            </a:pPr>
            <a:r>
              <a:rPr sz="1275" b="1">
                <a:solidFill>
                  <a:srgbClr val="0B1F33"/>
                </a:solidFill>
              </a:rPr>
              <a:t>Problema y alcance claramente definidos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7121B0-639F-4111-BE43-C0B43C5F9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1450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962FF"/>
                </a:solidFill>
              </a:defRPr>
            </a:pPr>
            <a:r>
              <a:rPr sz="1125" b="1">
                <a:solidFill>
                  <a:srgbClr val="2962FF"/>
                </a:solidFill>
              </a:rPr>
              <a:t>RIESGO → RESPUESTA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1C6A3A-B50A-482E-928F-C1BF9070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14550"/>
            <a:ext cx="4857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86FCC8-2626-4E09-A55D-C5434256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002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1F33"/>
                </a:solidFill>
              </a:defRPr>
            </a:pPr>
            <a:r>
              <a:rPr sz="1125" b="1">
                <a:solidFill>
                  <a:srgbClr val="0B1F33"/>
                </a:solidFill>
              </a:rPr>
              <a:t>Tiempo disponible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31D314-38EA-4795-9E60-CD40DACF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0027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962FF"/>
                </a:solidFill>
              </a:defRPr>
            </a:pPr>
            <a:r>
              <a:rPr sz="1125" b="1">
                <a:solidFill>
                  <a:srgbClr val="2962FF"/>
                </a:solidFill>
              </a:rPr>
              <a:t>Carta Gantt + MVP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FA1ECC-CF46-47DA-83BB-0FFCFDA6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71775"/>
            <a:ext cx="4857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B728F2-ABAD-42A3-BA16-558C5EDC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575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1F33"/>
                </a:solidFill>
              </a:defRPr>
            </a:pPr>
            <a:r>
              <a:rPr sz="1125" b="1">
                <a:solidFill>
                  <a:srgbClr val="0B1F33"/>
                </a:solidFill>
              </a:rPr>
              <a:t>Integración Web–App–API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CF9207-55A1-4D8A-966E-DA840922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857500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962FF"/>
                </a:solidFill>
              </a:defRPr>
            </a:pPr>
            <a:r>
              <a:rPr sz="1125" b="1">
                <a:solidFill>
                  <a:srgbClr val="2962FF"/>
                </a:solidFill>
              </a:rPr>
              <a:t>Pruebas progresivas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8217CC-E160-4DCE-B8B5-97FD6D077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29000"/>
            <a:ext cx="4857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F810AD-C4FA-48F5-B2B3-249DBD11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147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1F33"/>
                </a:solidFill>
              </a:defRPr>
            </a:pPr>
            <a:r>
              <a:rPr sz="1125" b="1">
                <a:solidFill>
                  <a:srgbClr val="0B1F33"/>
                </a:solidFill>
              </a:rPr>
              <a:t>Coordinación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65174F-622C-4BEA-B346-F50BB579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51472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962FF"/>
                </a:solidFill>
              </a:defRPr>
            </a:pPr>
            <a:r>
              <a:rPr sz="1125" b="1">
                <a:solidFill>
                  <a:srgbClr val="2962FF"/>
                </a:solidFill>
              </a:rPr>
              <a:t>Repositorio + reuniones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68BF72-1FA3-4764-80F7-0762373D3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86225"/>
            <a:ext cx="4857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65C35B-99DB-4637-8FA4-727178A0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719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1F33"/>
                </a:solidFill>
              </a:defRPr>
            </a:pPr>
            <a:r>
              <a:rPr sz="1125" b="1">
                <a:solidFill>
                  <a:srgbClr val="0B1F33"/>
                </a:solidFill>
              </a:rPr>
              <a:t>APIs externas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A4402A-1B3A-4A67-A65F-1CF6F91C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171950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962FF"/>
                </a:solidFill>
              </a:defRPr>
            </a:pPr>
            <a:r>
              <a:rPr sz="1125" b="1">
                <a:solidFill>
                  <a:srgbClr val="2962FF"/>
                </a:solidFill>
              </a:rPr>
              <a:t>Servicios alternativos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5C36D0-A2B3-440C-95BF-2711A097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344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2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A45EB9-3149-49C8-A2B0-26323960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76900"/>
            <a:ext cx="996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84560B"/>
                </a:solidFill>
              </a:defRPr>
            </a:pPr>
            <a:r>
              <a:rPr sz="1200" b="1">
                <a:solidFill>
                  <a:srgbClr val="84560B"/>
                </a:solidFill>
              </a:rPr>
              <a:t>Fuera del MVP: pagos, facturación, GPS permanente, marketplace e IA compleja.</a:t>
            </a:r>
          </a:p>
        </p:txBody>
      </p:sp>
    </p:spTree>
    <p:extLst>
      <p:ext uri="{BB962C8B-B14F-4D97-AF65-F5344CB8AC3E}">
        <p14:creationId xmlns:p14="http://schemas.microsoft.com/office/powerpoint/2010/main" val="11436320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9261EA-F2D6-4D5A-8550-1197B332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8D9364-1D6E-4976-8EFF-4D4BEDFE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OBJETIVOS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F162CE-F67D-4791-BC26-C6ECCAD7B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33"/>
                </a:solidFill>
              </a:defRPr>
            </a:pPr>
            <a:r>
              <a:rPr sz="2550" b="1">
                <a:solidFill>
                  <a:srgbClr val="0B1F33"/>
                </a:solidFill>
              </a:rPr>
              <a:t>Los objetivos conducen desde el análisis hasta la validación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03D417-0C76-4A15-85B2-D4D5D4767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311A95-0050-4E40-B3D9-2970DD84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586"/>
                </a:solidFill>
              </a:defRPr>
            </a:pPr>
            <a:r>
              <a:rPr sz="825" b="1">
                <a:solidFill>
                  <a:srgbClr val="637586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BEBC0C-2012-48F2-9DBD-C8BA66A8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0572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F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01FDC6-3118-4115-9587-A028C25A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5260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962FF"/>
                </a:solidFill>
              </a:defRPr>
            </a:pPr>
            <a:r>
              <a:rPr sz="975" b="1">
                <a:solidFill>
                  <a:srgbClr val="2962FF"/>
                </a:solidFill>
              </a:rPr>
              <a:t>OBJETIVO GENERAL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EBCC5D-94D9-45DB-8948-849263B8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724025"/>
            <a:ext cx="8020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</a:defRPr>
            </a:pPr>
            <a:r>
              <a:rPr sz="1650" b="1">
                <a:solidFill>
                  <a:srgbClr val="0B1F33"/>
                </a:solidFill>
              </a:rPr>
              <a:t>Desarrollar una solución Web y móvil integrada que centralice y optimice la gestión de servicios técnicos a domicilio.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187C7D-6448-4255-9776-284179FB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24003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7A3FB2-97BB-4A1B-A3B6-CECC79DD1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527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947295-01D4-422E-8C0A-158E53F2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6230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1F33"/>
                </a:solidFill>
              </a:defRPr>
            </a:pPr>
            <a:r>
              <a:rPr sz="1200" b="1">
                <a:solidFill>
                  <a:srgbClr val="0B1F33"/>
                </a:solidFill>
              </a:rPr>
              <a:t>Analizar requerimientos y actores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7A6DC1-33A7-41C4-9095-E79AAC6D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28950"/>
            <a:ext cx="24003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D4C6CA-CB51-4289-B004-61787650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527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711A55-73D2-4AB6-BCBD-A55D0077B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6230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1F33"/>
                </a:solidFill>
              </a:defRPr>
            </a:pPr>
            <a:r>
              <a:rPr sz="1200" b="1">
                <a:solidFill>
                  <a:srgbClr val="0B1F33"/>
                </a:solidFill>
              </a:rPr>
              <a:t>Diseñar BD, API y arquitectura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B59BF7-113D-4A6B-A23B-9A5D3384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28950"/>
            <a:ext cx="24003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1C7215-2BA8-41D9-8B60-E59C0FFB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527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469C82-726A-455A-8397-EA016B93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6230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1F33"/>
                </a:solidFill>
              </a:defRPr>
            </a:pPr>
            <a:r>
              <a:rPr sz="1200" b="1">
                <a:solidFill>
                  <a:srgbClr val="0B1F33"/>
                </a:solidFill>
              </a:rPr>
              <a:t>Desarrollar plataforma Web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01516A-B025-4597-9F7B-2C7269C7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028950"/>
            <a:ext cx="24003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7C388E-10C6-4C98-9035-71F99E170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527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F85693-F0A1-4B04-A3E1-B9E967DED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6230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1F33"/>
                </a:solidFill>
              </a:defRPr>
            </a:pPr>
            <a:r>
              <a:rPr sz="1200" b="1">
                <a:solidFill>
                  <a:srgbClr val="0B1F33"/>
                </a:solidFill>
              </a:rPr>
              <a:t>Implementar aplicación móvil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3C4943-A954-4736-94C2-6590B363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24003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51ED3F-9177-4D89-A11F-E80BF3F6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529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5AEC39-822C-42D8-9B0C-BE27C28D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624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1F33"/>
                </a:solidFill>
              </a:defRPr>
            </a:pPr>
            <a:r>
              <a:rPr sz="1200" b="1">
                <a:solidFill>
                  <a:srgbClr val="0B1F33"/>
                </a:solidFill>
              </a:rPr>
              <a:t>Incorporar recomendación y códigos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64CD00-E522-4D81-9856-1BAACAD4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229100"/>
            <a:ext cx="24003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0ECCD9-B94F-4079-A0C4-852920FA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3529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8DC06F-91DF-43EA-B590-F90A26F54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3624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1F33"/>
                </a:solidFill>
              </a:defRPr>
            </a:pPr>
            <a:r>
              <a:rPr sz="1200" b="1">
                <a:solidFill>
                  <a:srgbClr val="0B1F33"/>
                </a:solidFill>
              </a:rPr>
              <a:t>Crear dashboard e integraciones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CB2A68-B894-4CBD-B245-E523BEE4B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229100"/>
            <a:ext cx="24003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571ADE-B903-414C-87CC-C81CCFC09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529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07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9C76E7-E4B0-459C-8D3E-B77F9829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624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1F33"/>
                </a:solidFill>
              </a:defRPr>
            </a:pPr>
            <a:r>
              <a:rPr sz="1200" b="1">
                <a:solidFill>
                  <a:srgbClr val="0B1F33"/>
                </a:solidFill>
              </a:rPr>
              <a:t>Probar el flujo completo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D078DA-AFC4-4423-85F8-7DE485E6E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952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962FF"/>
                </a:solidFill>
              </a:defRPr>
            </a:pPr>
            <a:r>
              <a:rPr sz="1275" b="1">
                <a:solidFill>
                  <a:srgbClr val="2962FF"/>
                </a:solidFill>
              </a:rPr>
              <a:t>Cada objetivo produce una evidencia verificable.</a:t>
            </a:r>
          </a:p>
        </p:txBody>
      </p:sp>
    </p:spTree>
    <p:extLst>
      <p:ext uri="{BB962C8B-B14F-4D97-AF65-F5344CB8AC3E}">
        <p14:creationId xmlns:p14="http://schemas.microsoft.com/office/powerpoint/2010/main" val="17770401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EEBAAA-846E-4948-9E21-05AABFA5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63BBC4-3DC1-4CF0-B4CB-86FB21F6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METODOLOGÍA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A85B70-1FF2-4DC1-B60C-CB300B95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33"/>
                </a:solidFill>
              </a:defRPr>
            </a:pPr>
            <a:r>
              <a:rPr sz="2550" b="1">
                <a:solidFill>
                  <a:srgbClr val="0B1F33"/>
                </a:solidFill>
              </a:rPr>
              <a:t>Waterfall ordena el avance mediante entregables revisables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9DA203-4B33-4F08-B249-963A7B7F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3FEAE1-87A0-42A4-A18C-EBDBCB90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586"/>
                </a:solidFill>
              </a:defRPr>
            </a:pPr>
            <a:r>
              <a:rPr sz="825" b="1">
                <a:solidFill>
                  <a:srgbClr val="637586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E1539E-C7A2-41D2-97FF-18E5667F9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628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303846-DCF3-4FC2-9DE5-DB31ACAF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14668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6B8D4"/>
          </a:solidFill>
          <a:ln xmlns:a="http://schemas.openxmlformats.org/drawingml/2006/main" w="9525">
            <a:solidFill>
              <a:srgbClr val="16B8D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A02F15-34CB-4928-813D-961F76E09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76475"/>
            <a:ext cx="30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B1F33"/>
                </a:solidFill>
              </a:defRPr>
            </a:pPr>
            <a:r>
              <a:rPr sz="900" b="1">
                <a:solidFill>
                  <a:srgbClr val="0B1F33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5837A1-D2E4-4C08-92E5-223C49273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6479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B1F33"/>
                </a:solidFill>
              </a:defRPr>
            </a:pPr>
            <a:r>
              <a:rPr sz="1125" b="1">
                <a:solidFill>
                  <a:srgbClr val="0B1F33"/>
                </a:solidFill>
              </a:rPr>
              <a:t>REQUISITOS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62A2E7-34FB-4188-BBB7-116BD6F4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628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8FB5F4-4B6B-47DC-93D9-B00F7FAD8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114550"/>
            <a:ext cx="14668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DDCCE7-0609-4C54-8730-1ADDAB6C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276475"/>
            <a:ext cx="30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962FF"/>
                </a:solidFill>
              </a:defRPr>
            </a:pPr>
            <a:r>
              <a:rPr sz="900" b="1">
                <a:solidFill>
                  <a:srgbClr val="2962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3F857C-1B22-4774-9908-6BA5FAD79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26479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B1F33"/>
                </a:solidFill>
              </a:defRPr>
            </a:pPr>
            <a:r>
              <a:rPr sz="1125" b="1">
                <a:solidFill>
                  <a:srgbClr val="0B1F33"/>
                </a:solidFill>
              </a:rPr>
              <a:t>DISEÑO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AD3347-E090-40A5-8B7B-6FFD0E13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28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395606-DF98-43A4-AAB5-848DB692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14550"/>
            <a:ext cx="14668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1A9412-5058-4192-A8C5-7AB39F32B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276475"/>
            <a:ext cx="30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962FF"/>
                </a:solidFill>
              </a:defRPr>
            </a:pPr>
            <a:r>
              <a:rPr sz="900" b="1">
                <a:solidFill>
                  <a:srgbClr val="2962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8730D5-4A62-477B-A638-8AA9E3B1C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6479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B1F33"/>
                </a:solidFill>
              </a:defRPr>
            </a:pPr>
            <a:r>
              <a:rPr sz="1125" b="1">
                <a:solidFill>
                  <a:srgbClr val="0B1F33"/>
                </a:solidFill>
              </a:rPr>
              <a:t>IMPLEMENTACIÓN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736EBD-BEB5-4A4D-B4BD-A662C0BDE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28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84D05-348E-4AD5-B3FE-66B9C14A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14550"/>
            <a:ext cx="14668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8BC6B9-BCBB-4040-B2B3-0C3C7456E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276475"/>
            <a:ext cx="30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962FF"/>
                </a:solidFill>
              </a:defRPr>
            </a:pPr>
            <a:r>
              <a:rPr sz="900" b="1">
                <a:solidFill>
                  <a:srgbClr val="2962FF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2A9839-816F-4AEA-9627-FED31695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26479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B1F33"/>
                </a:solidFill>
              </a:defRPr>
            </a:pPr>
            <a:r>
              <a:rPr sz="1125" b="1">
                <a:solidFill>
                  <a:srgbClr val="0B1F33"/>
                </a:solidFill>
              </a:rPr>
              <a:t>PRUEBAS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775314-515B-44B8-9DD0-E4D4EEA98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114550"/>
            <a:ext cx="14668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6C6E14-18BF-4356-BCD6-3AFE13C7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276475"/>
            <a:ext cx="30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962FF"/>
                </a:solidFill>
              </a:defRPr>
            </a:pPr>
            <a:r>
              <a:rPr sz="900" b="1">
                <a:solidFill>
                  <a:srgbClr val="2962FF"/>
                </a:solidFill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095C93-13E6-4F6D-A06C-770FBC6CC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6479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B1F33"/>
                </a:solidFill>
              </a:defRPr>
            </a:pPr>
            <a:r>
              <a:rPr sz="1125" b="1">
                <a:solidFill>
                  <a:srgbClr val="0B1F33"/>
                </a:solidFill>
              </a:rPr>
              <a:t>INTEGRACIÓN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3A1D28-7575-4F0C-96B7-F6492617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4857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C13DA6-FB75-4FA8-9A08-926E75B8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F3FA5C-E4D7-412B-AFA6-15DE3BA2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038600"/>
            <a:ext cx="442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</a:defRPr>
            </a:pPr>
            <a:r>
              <a:rPr sz="1500" b="1">
                <a:solidFill>
                  <a:srgbClr val="0B1F33"/>
                </a:solidFill>
              </a:rPr>
              <a:t>Criterio de avance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18D976-7394-455D-BDFC-F30C53265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410075"/>
            <a:ext cx="4429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586"/>
                </a:solidFill>
              </a:defRPr>
            </a:pPr>
            <a:r>
              <a:rPr sz="1125" b="0">
                <a:solidFill>
                  <a:srgbClr val="637586"/>
                </a:solidFill>
              </a:rPr>
              <a:t>Cada etapa comienza después de revisar el entregable anterior y conservar la trazabilidad.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2A60A8-DDB2-4D7F-A098-A484F5D7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67150"/>
            <a:ext cx="52768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1DB0F8-4994-4923-BEC8-283778A7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B8D4"/>
                </a:solidFill>
              </a:defRPr>
            </a:pPr>
            <a:r>
              <a:rPr sz="1050" b="1">
                <a:solidFill>
                  <a:srgbClr val="16B8D4"/>
                </a:solidFill>
              </a:rPr>
              <a:t>¿POR QUÉ CASCADA?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DFFBBE-DBDA-4ED7-9309-1955D67A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29125"/>
            <a:ext cx="4476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El alcance requiere documentación previa y coordinación entre componentes dependientes.</a:t>
            </a:r>
          </a:p>
        </p:txBody>
      </p:sp>
    </p:spTree>
    <p:extLst>
      <p:ext uri="{BB962C8B-B14F-4D97-AF65-F5344CB8AC3E}">
        <p14:creationId xmlns:p14="http://schemas.microsoft.com/office/powerpoint/2010/main" val="16095500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5FFFE71-86BD-4850-8AD4-94C9EE16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C4069-5E04-4705-BE4A-8FBF38184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PLAN DE TRABAJO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9B89E8-63FA-4490-9B64-01659047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33"/>
                </a:solidFill>
              </a:defRPr>
            </a:pPr>
            <a:r>
              <a:rPr sz="2550" b="1">
                <a:solidFill>
                  <a:srgbClr val="0B1F33"/>
                </a:solidFill>
              </a:rPr>
              <a:t>Ocho semanas concentran el desarrollo y la validación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84F0B7-DDA4-43C8-8391-2AEC3DFF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F41528-4209-44B9-9B3E-45A928D7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586"/>
                </a:solidFill>
              </a:defRPr>
            </a:pPr>
            <a:r>
              <a:rPr sz="825" b="1">
                <a:solidFill>
                  <a:srgbClr val="637586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B38B95-C7DC-4955-845F-308B5CC7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37586"/>
                </a:solidFill>
              </a:defRPr>
            </a:pPr>
            <a:r>
              <a:rPr sz="975" b="1">
                <a:solidFill>
                  <a:srgbClr val="637586"/>
                </a:solidFill>
              </a:rPr>
              <a:t>ACTIVIDAD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C31529-6D9D-406A-BD68-72B287E9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6668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37586"/>
                </a:solidFill>
              </a:defRPr>
            </a:pPr>
            <a:r>
              <a:rPr sz="900" b="1">
                <a:solidFill>
                  <a:srgbClr val="637586"/>
                </a:solidFill>
              </a:rPr>
              <a:t>S1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F8735C-E34D-4F61-9174-17B534FF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37586"/>
                </a:solidFill>
              </a:defRPr>
            </a:pPr>
            <a:r>
              <a:rPr sz="900" b="1">
                <a:solidFill>
                  <a:srgbClr val="637586"/>
                </a:solidFill>
              </a:rPr>
              <a:t>S2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28D2E1-2A4B-4AA7-B7E5-C644581F7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16668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37586"/>
                </a:solidFill>
              </a:defRPr>
            </a:pPr>
            <a:r>
              <a:rPr sz="900" b="1">
                <a:solidFill>
                  <a:srgbClr val="637586"/>
                </a:solidFill>
              </a:rPr>
              <a:t>S3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FA3786-E730-425F-86CB-A888045DD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668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37586"/>
                </a:solidFill>
              </a:defRPr>
            </a:pPr>
            <a:r>
              <a:rPr sz="900" b="1">
                <a:solidFill>
                  <a:srgbClr val="637586"/>
                </a:solidFill>
              </a:rPr>
              <a:t>S4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843C52-A2D0-445A-883F-132BAA74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6668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37586"/>
                </a:solidFill>
              </a:defRPr>
            </a:pPr>
            <a:r>
              <a:rPr sz="900" b="1">
                <a:solidFill>
                  <a:srgbClr val="637586"/>
                </a:solidFill>
              </a:rPr>
              <a:t>S5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2B06CB-2EF5-4147-A172-1A4FEE64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16668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37586"/>
                </a:solidFill>
              </a:defRPr>
            </a:pPr>
            <a:r>
              <a:rPr sz="900" b="1">
                <a:solidFill>
                  <a:srgbClr val="637586"/>
                </a:solidFill>
              </a:rPr>
              <a:t>S6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63378F-156C-4211-81D0-0496B653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6668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37586"/>
                </a:solidFill>
              </a:defRPr>
            </a:pPr>
            <a:r>
              <a:rPr sz="900" b="1">
                <a:solidFill>
                  <a:srgbClr val="637586"/>
                </a:solidFill>
              </a:rPr>
              <a:t>S7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7B14B5-6C18-4C60-82AA-4073C9ED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6668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37586"/>
                </a:solidFill>
              </a:defRPr>
            </a:pPr>
            <a:r>
              <a:rPr sz="900" b="1">
                <a:solidFill>
                  <a:srgbClr val="637586"/>
                </a:solidFill>
              </a:rPr>
              <a:t>S8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BDC51D-2F15-4274-9532-59AB5027C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1F33"/>
                </a:solidFill>
              </a:defRPr>
            </a:pPr>
            <a:r>
              <a:rPr sz="1125" b="1">
                <a:solidFill>
                  <a:srgbClr val="0B1F33"/>
                </a:solidFill>
              </a:rPr>
              <a:t>Requerimientos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B257A1-F942-4A8A-99C0-9F57B218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0764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13E5D3-65CD-4E1A-B9E0-BBB41E8F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0764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D72C0D-CB98-451B-9B50-EFD4E48F6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0764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BF57E4-C534-41A6-B041-624706CF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20764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F04F3E-002B-47EA-818B-43A56CFCC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0764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9F7F15-C0CF-4527-A3D6-46B1C8D6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0764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4C0A33-2D57-4366-B9C1-B174D0CD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0764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07E3EE-EAF1-42D4-AE06-6AC09AF1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0764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D1B386-19C9-4893-82AA-29FD6E91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1F33"/>
                </a:solidFill>
              </a:defRPr>
            </a:pPr>
            <a:r>
              <a:rPr sz="1125" b="1">
                <a:solidFill>
                  <a:srgbClr val="0B1F33"/>
                </a:solidFill>
              </a:rPr>
              <a:t>Arquitectura y BD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84F871-26E4-4C9C-B6D0-761264A3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6289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E03D5E-A27E-46E2-91EE-480ACCE66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289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296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BEE4C3-CD77-4007-ABF5-6AD90CCF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6289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294626-6C7E-4520-A0B5-ADE3D557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26289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56F983-E417-4DD1-B343-4EC4A15EA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289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69E8B2-C78E-4ED4-99DC-9AF40BA8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6289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730790-67B6-4B57-9E42-85E16802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6289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765B73-B8A9-4CA5-9B63-617C89E23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6289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C9A891-C3F8-424F-9D93-5471E3E8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1F33"/>
                </a:solidFill>
              </a:defRPr>
            </a:pPr>
            <a:r>
              <a:rPr sz="1125" b="1">
                <a:solidFill>
                  <a:srgbClr val="0B1F33"/>
                </a:solidFill>
              </a:rPr>
              <a:t>Backend y Web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9DC0A6-CF8D-4418-8EB5-3F51DF1C7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1813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70413DD-3D72-4B92-9111-6EAF1F60D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1813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4AB5C95-B707-4FDC-B546-07D0E6E67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31813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E5F100E-EF6C-4293-B23F-D0D330F30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31813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795A849-1855-4986-883C-0746E0B3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1813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7012F0-0C60-42FF-AFC6-54459A42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1813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C56213D-BBC7-4992-8F59-8FAD67B6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31813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37A47B-5640-48B7-ADA7-2661AD27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1813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A8FC065-7386-40DB-AAC9-118C799D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1F33"/>
                </a:solidFill>
              </a:defRPr>
            </a:pPr>
            <a:r>
              <a:rPr sz="1125" b="1">
                <a:solidFill>
                  <a:srgbClr val="0B1F33"/>
                </a:solidFill>
              </a:rPr>
              <a:t>Aplicación móvil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FF1C333-320E-430C-B4FB-790F082D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7338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81411CB-5EB0-4E9F-86CE-E2489884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7338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D76E2F4-8F57-4956-BB1F-79E924379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37338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A4D3F9C-D480-4703-A96B-7E0D856A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37338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296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B0EE6B7-A4BD-4E76-8F9F-ADCF93BA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7338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296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8C790F-4494-4BDD-8AFF-FED5BC140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7338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296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E4A3758-747C-46A1-BA98-87BE1A05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37338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B61DB08-E98D-464B-9C2B-F766A999D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7338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A7CBC79-B4BD-4F97-A364-D581012E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1F33"/>
                </a:solidFill>
              </a:defRPr>
            </a:pPr>
            <a:r>
              <a:rPr sz="1125" b="1">
                <a:solidFill>
                  <a:srgbClr val="0B1F33"/>
                </a:solidFill>
              </a:rPr>
              <a:t>Integraciones y dashboard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8B75337-4023-463D-ADFA-42CF9497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2862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575E68B-0E38-481A-AC15-4DBA5F13D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2862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61C8BAB-CCAE-4FA2-88EE-DB8310B2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42862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6201DF5-D5FC-4BC7-B1A4-D0447D69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2862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BAC953-FD2C-45FF-98AC-670FDA70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2862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E5C11B7-0784-4A85-825B-ECE26471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2862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6A21345-1CBB-4CCC-A586-4B7A2D8C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2862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7F2E651-4BDF-4B81-B384-3A8876D70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28625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6647A1D-FFAB-41DA-98EB-35173A0F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1F33"/>
                </a:solidFill>
              </a:defRPr>
            </a:pPr>
            <a:r>
              <a:rPr sz="1125" b="1">
                <a:solidFill>
                  <a:srgbClr val="0B1F33"/>
                </a:solidFill>
              </a:rPr>
              <a:t>Pruebas y documentación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4F10368-98E1-4E57-AA50-68E6CBD1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8387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926C935-D73B-4E72-9D59-5E4F8BEC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8387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AE5AE53-34E4-47B9-849C-A750DAB1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48387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D7176C4-6818-4136-BFDB-E1E3DAF5C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8387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AFD3830-D819-435C-B25C-BD8ABEBC4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8387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4AD0BE8-3CD5-4F90-AF9F-EAABA12EA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8387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5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DACAE4A-C774-4A82-A032-8DAF86B94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8387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296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A5E4DCE-675F-46B1-9900-6F2234C0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838700"/>
            <a:ext cx="62865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296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CC12F1A-7BFB-426B-AE9D-80B94BB1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572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DBAA1DD-6137-4919-8909-6F5543D19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86425"/>
            <a:ext cx="1017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Recursos: VS Code · GitHub · SQL · Ionic/Angular · API de mapas · servicios de notificación</a:t>
            </a:r>
          </a:p>
        </p:txBody>
      </p:sp>
    </p:spTree>
    <p:extLst>
      <p:ext uri="{BB962C8B-B14F-4D97-AF65-F5344CB8AC3E}">
        <p14:creationId xmlns:p14="http://schemas.microsoft.com/office/powerpoint/2010/main" val="15827007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91F788-6035-4AFF-9213-12F3C81D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90381A-5F82-4051-9B16-2E0925142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EVIDENCIAS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9D7B5A-813D-471B-B8DB-A007D387E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33"/>
                </a:solidFill>
              </a:defRPr>
            </a:pPr>
            <a:r>
              <a:rPr sz="2550" b="1">
                <a:solidFill>
                  <a:srgbClr val="0B1F33"/>
                </a:solidFill>
              </a:rPr>
              <a:t>Cada entrega demuestra avance, integración y calidad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70E29-86B7-4491-B5A1-FECC7FD6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0A54F7-AB4F-436D-9E68-33969C1F8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586"/>
                </a:solidFill>
              </a:defRPr>
            </a:pPr>
            <a:r>
              <a:rPr sz="825" b="1">
                <a:solidFill>
                  <a:srgbClr val="637586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DE8670-10C1-4395-AEC7-AE1C7A8A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573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B8D4"/>
                </a:solidFill>
              </a:defRPr>
            </a:pPr>
            <a:r>
              <a:rPr sz="975" b="1">
                <a:solidFill>
                  <a:srgbClr val="16B8D4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C1BC43-637F-4A5A-A6E8-1E29B362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0972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33"/>
                </a:solidFill>
              </a:defRPr>
            </a:pPr>
            <a:r>
              <a:rPr sz="1275" b="1">
                <a:solidFill>
                  <a:srgbClr val="0B1F33"/>
                </a:solidFill>
              </a:rPr>
              <a:t>ERS Y DISEÑO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3ABF8F-16E8-468A-98D0-9A2749083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609725"/>
            <a:ext cx="657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586"/>
                </a:solidFill>
              </a:defRPr>
            </a:pPr>
            <a:r>
              <a:rPr sz="1200" b="0">
                <a:solidFill>
                  <a:srgbClr val="637586"/>
                </a:solidFill>
              </a:rPr>
              <a:t>Alcance, actores, requisitos, reglas y prototipos.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660B50-629E-44B9-B57B-FFF24F41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09800"/>
            <a:ext cx="942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BABB3F-73B9-40A6-A54D-10DF8BDA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3842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B8D4"/>
                </a:solidFill>
              </a:defRPr>
            </a:pPr>
            <a:r>
              <a:rPr sz="975" b="1">
                <a:solidFill>
                  <a:srgbClr val="16B8D4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28C137-DFE1-45CA-84B5-1500BBC49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5908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33"/>
                </a:solidFill>
              </a:defRPr>
            </a:pPr>
            <a:r>
              <a:rPr sz="1275" b="1">
                <a:solidFill>
                  <a:srgbClr val="0B1F33"/>
                </a:solidFill>
              </a:rPr>
              <a:t>MODELO Y ARQUITECTURA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7A790D-74A4-421F-9466-B8E606A5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90800"/>
            <a:ext cx="657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586"/>
                </a:solidFill>
              </a:defRPr>
            </a:pPr>
            <a:r>
              <a:rPr sz="1200" b="0">
                <a:solidFill>
                  <a:srgbClr val="637586"/>
                </a:solidFill>
              </a:rPr>
              <a:t>Base de datos, API y comunicación entre componentes.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9C27C2-32D6-45FE-A624-48AF787A2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90875"/>
            <a:ext cx="942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5652D6-2F6B-4313-AEB2-0C516060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B8D4"/>
                </a:solidFill>
              </a:defRPr>
            </a:pPr>
            <a:r>
              <a:rPr sz="975" b="1">
                <a:solidFill>
                  <a:srgbClr val="16B8D4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DE776C-451E-4DCB-AE36-3507AB24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718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33"/>
                </a:solidFill>
              </a:defRPr>
            </a:pPr>
            <a:r>
              <a:rPr sz="1275" b="1">
                <a:solidFill>
                  <a:srgbClr val="0B1F33"/>
                </a:solidFill>
              </a:rPr>
              <a:t>PROTOTIPO FUNCIONAL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D20914-777E-41A1-9E94-5D5C5ADC1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71875"/>
            <a:ext cx="657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586"/>
                </a:solidFill>
              </a:defRPr>
            </a:pPr>
            <a:r>
              <a:rPr sz="1200" b="0">
                <a:solidFill>
                  <a:srgbClr val="637586"/>
                </a:solidFill>
              </a:rPr>
              <a:t>Web, app, backend y BD en el flujo principal.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3C0FFA-5FCE-4A88-835D-AB1E853C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71950"/>
            <a:ext cx="942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9B67AB-A8FC-46C9-98C6-AD0C6925B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005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B8D4"/>
                </a:solidFill>
              </a:defRPr>
            </a:pPr>
            <a:r>
              <a:rPr sz="975" b="1">
                <a:solidFill>
                  <a:srgbClr val="16B8D4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892145-7C7B-4895-B11F-FC5A7A55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529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33"/>
                </a:solidFill>
              </a:defRPr>
            </a:pPr>
            <a:r>
              <a:rPr sz="1275" b="1">
                <a:solidFill>
                  <a:srgbClr val="0B1F33"/>
                </a:solidFill>
              </a:rPr>
              <a:t>PRUEBAS Y DEFENSA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D68187-65AA-4833-9794-1F73D6F8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52950"/>
            <a:ext cx="657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586"/>
                </a:solidFill>
              </a:defRPr>
            </a:pPr>
            <a:r>
              <a:rPr sz="1200" b="0">
                <a:solidFill>
                  <a:srgbClr val="637586"/>
                </a:solidFill>
              </a:rPr>
              <a:t>Casos, resultados, dashboard, manual y presentación.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24AB4-F4CC-4514-961C-2F4DB86D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153025"/>
            <a:ext cx="942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FC1D8B-9A1C-4569-B289-45F78BBA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753100"/>
            <a:ext cx="85725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F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C32657-9B38-421F-BA38-95015336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800725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962FF"/>
                </a:solidFill>
              </a:defRPr>
            </a:pPr>
            <a:r>
              <a:rPr sz="1125" b="1">
                <a:solidFill>
                  <a:srgbClr val="2962FF"/>
                </a:solidFill>
              </a:rPr>
              <a:t>Requisito → diseño → implementación → caso de prueba → evidencia</a:t>
            </a:r>
          </a:p>
        </p:txBody>
      </p:sp>
    </p:spTree>
    <p:extLst>
      <p:ext uri="{BB962C8B-B14F-4D97-AF65-F5344CB8AC3E}">
        <p14:creationId xmlns:p14="http://schemas.microsoft.com/office/powerpoint/2010/main" val="12217163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51C06D-574A-41D9-A2E4-85B962F2C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EC90B8-401D-4C63-9A89-8DA539EBA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COLABORACIÓN Y EQUIPO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9195B1-7BCB-4436-827A-B85B1464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33"/>
                </a:solidFill>
              </a:defRPr>
            </a:pPr>
            <a:r>
              <a:rPr sz="2550" b="1">
                <a:solidFill>
                  <a:srgbClr val="0B1F33"/>
                </a:solidFill>
              </a:rPr>
              <a:t>Responsabilidades claras, calidad compartida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4C7B1E-D90A-4E75-A7B0-7C12A338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8A6921-5F91-427E-872E-64A7E271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586"/>
                </a:solidFill>
              </a:defRPr>
            </a:pPr>
            <a:r>
              <a:rPr sz="825" b="1">
                <a:solidFill>
                  <a:srgbClr val="637586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146EC3-1A7C-427D-B33B-5A0F417E7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32194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B3BA4F-5597-4C32-9404-DB5F0638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193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6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4FCEBD-1F3A-47EE-98CA-3B8D6AB8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1F33"/>
                </a:solidFill>
              </a:defRPr>
            </a:pPr>
            <a:r>
              <a:rPr sz="1200" b="1">
                <a:solidFill>
                  <a:srgbClr val="0B1F33"/>
                </a:solidFill>
              </a:rPr>
              <a:t>SEBASTIÁN VALDÉS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49C34C-BAEB-4E79-AD8C-8DB4B75F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2686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962FF"/>
                </a:solidFill>
              </a:defRPr>
            </a:pPr>
            <a:r>
              <a:rPr sz="1050" b="1">
                <a:solidFill>
                  <a:srgbClr val="2962FF"/>
                </a:solidFill>
              </a:rPr>
              <a:t>Líder de proyecto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016ADE-B6C8-45DB-A479-725BF4D4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2686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586"/>
                </a:solidFill>
              </a:defRPr>
            </a:pPr>
            <a:r>
              <a:rPr sz="1200" b="0">
                <a:solidFill>
                  <a:srgbClr val="637586"/>
                </a:solidFill>
              </a:rPr>
              <a:t>Coordinación, alcance, plazos y validación.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5A0672-F87B-41E3-886E-C8A28729A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752600"/>
            <a:ext cx="32194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AC74DD-B5E3-4307-847F-C4B14A43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193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BBF3B0-F118-4F2B-AB3F-1BFB0E0B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003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1F33"/>
                </a:solidFill>
              </a:defRPr>
            </a:pPr>
            <a:r>
              <a:rPr sz="1200" b="1">
                <a:solidFill>
                  <a:srgbClr val="0B1F33"/>
                </a:solidFill>
              </a:rPr>
              <a:t>JOSÉ HERRERA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93CEF9-99CD-431A-8779-122F8516D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71825"/>
            <a:ext cx="2686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B8D4"/>
                </a:solidFill>
              </a:defRPr>
            </a:pPr>
            <a:r>
              <a:rPr sz="1050" b="1">
                <a:solidFill>
                  <a:srgbClr val="16B8D4"/>
                </a:solidFill>
              </a:rPr>
              <a:t>Desarrollador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04BAFE-94D1-43AF-BCB8-56FB7E0CE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600450"/>
            <a:ext cx="2686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586"/>
                </a:solidFill>
              </a:defRPr>
            </a:pPr>
            <a:r>
              <a:rPr sz="1200" b="0">
                <a:solidFill>
                  <a:srgbClr val="637586"/>
                </a:solidFill>
              </a:rPr>
              <a:t>Web, app móvil, lógica e integración.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8C34CC-E4EF-4052-8294-F93C607F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752600"/>
            <a:ext cx="32194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706CC2-C523-4380-B89F-D02B39BE4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193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0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8EA461-004B-44CA-8796-50D643A44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8003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1F33"/>
                </a:solidFill>
              </a:defRPr>
            </a:pPr>
            <a:r>
              <a:rPr sz="1200" b="1">
                <a:solidFill>
                  <a:srgbClr val="0B1F33"/>
                </a:solidFill>
              </a:rPr>
              <a:t>JOSÉ ESPINOZA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4532D6-5881-4DFD-A609-98102B04B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71825"/>
            <a:ext cx="2686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C08A"/>
                </a:solidFill>
              </a:defRPr>
            </a:pPr>
            <a:r>
              <a:rPr sz="1050" b="1">
                <a:solidFill>
                  <a:srgbClr val="55C08A"/>
                </a:solidFill>
              </a:rPr>
              <a:t>BD y arquitectura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19669B-42AA-43DB-AE11-7A24B69F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00450"/>
            <a:ext cx="2686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586"/>
                </a:solidFill>
              </a:defRPr>
            </a:pPr>
            <a:r>
              <a:rPr sz="1200" b="0">
                <a:solidFill>
                  <a:srgbClr val="637586"/>
                </a:solidFill>
              </a:rPr>
              <a:t>Modelo de datos, arquitectura y comunicación.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1AB5D4-5335-4EB7-96C2-144595CA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2679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7C3DA1-761B-4F6D-BB5A-A782ADE8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149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RESPONSABILIDAD CONJUNTA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DCD301-F224-4F5A-8966-7DD799995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86375"/>
            <a:ext cx="714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Análisis · revisiones · integración · pruebas · GitHub · reuniones</a:t>
            </a:r>
          </a:p>
        </p:txBody>
      </p:sp>
    </p:spTree>
    <p:extLst>
      <p:ext uri="{BB962C8B-B14F-4D97-AF65-F5344CB8AC3E}">
        <p14:creationId xmlns:p14="http://schemas.microsoft.com/office/powerpoint/2010/main" val="160436494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35FD67-2E24-4105-B369-096CF830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3F547D-CDE6-4A28-80A7-BD0991734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B8D4"/>
                </a:solidFill>
              </a:defRPr>
            </a:pPr>
            <a:r>
              <a:rPr sz="900" b="1">
                <a:solidFill>
                  <a:srgbClr val="16B8D4"/>
                </a:solidFill>
              </a:rPr>
              <a:t>REFERENCIAS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3A9EFA-CEA3-4C91-B97E-74DF01862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33"/>
                </a:solidFill>
              </a:defRPr>
            </a:pPr>
            <a:r>
              <a:rPr sz="2550" b="1">
                <a:solidFill>
                  <a:srgbClr val="0B1F33"/>
                </a:solidFill>
              </a:rPr>
              <a:t>La propuesta se sustenta en los documentos oficiales del proyecto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4F9308-3303-43CF-B2B8-8B7D0171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082604-B237-4E42-9407-F1DEE803C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586"/>
                </a:solidFill>
              </a:defRPr>
            </a:pPr>
            <a:r>
              <a:rPr sz="825" b="1">
                <a:solidFill>
                  <a:srgbClr val="637586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819909-2692-4BA9-B423-E2018DA4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962FF"/>
                </a:solidFill>
              </a:defRPr>
            </a:pPr>
            <a:r>
              <a:rPr sz="1125" b="1">
                <a:solidFill>
                  <a:srgbClr val="2962FF"/>
                </a:solidFill>
              </a:rPr>
              <a:t>DOCUMENTOS BASE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D806FF-8342-4BE3-B093-9C56C5255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05727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F1B8B9-BE28-4C32-A647-A110FF7D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D02822-8BFA-4EE6-8DC0-1EAEE33F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43150"/>
            <a:ext cx="1014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</a:defRPr>
            </a:pPr>
            <a:r>
              <a:rPr sz="1500" b="1">
                <a:solidFill>
                  <a:srgbClr val="0B1F33"/>
                </a:solidFill>
              </a:rPr>
              <a:t>Guía del estudiante — Fase 1: Definición del Proyecto APT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D6621A-B421-467F-8CCD-B304A247D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714625"/>
            <a:ext cx="1014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586"/>
                </a:solidFill>
              </a:defRPr>
            </a:pPr>
            <a:r>
              <a:rPr sz="1125" b="0">
                <a:solidFill>
                  <a:srgbClr val="637586"/>
                </a:solidFill>
              </a:rPr>
              <a:t>Documento institucional utilizado para estructurar la definición, objetivos, metodología, planificación, evidencias y criterios de presentación.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54D79E-DCA4-477C-A95B-BD41C8D50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05727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5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871B3A-ED90-4D8D-849A-7F158345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6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01D2A0-284B-4AA2-9E09-08F3D9CD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695700"/>
            <a:ext cx="1014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</a:defRPr>
            </a:pPr>
            <a:r>
              <a:rPr sz="1500" b="1">
                <a:solidFill>
                  <a:srgbClr val="0B1F33"/>
                </a:solidFill>
              </a:rPr>
              <a:t>Especificación de Requisitos de Software — Técnico Ya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B21549-B162-4475-AB41-4C7ABC39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067175"/>
            <a:ext cx="1014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586"/>
                </a:solidFill>
              </a:defRPr>
            </a:pPr>
            <a:r>
              <a:rPr sz="1125" b="0">
                <a:solidFill>
                  <a:srgbClr val="637586"/>
                </a:solidFill>
              </a:rPr>
              <a:t>Documento del equipo utilizado para fundamentar el problema, alcance, actores, arquitectura, funcionalidades, reglas y requisitos del sistema.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0B3A3B-FFD2-47E8-8FEE-E2F83AF3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572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36A9B5-3B41-4B72-B78E-CC7EAA793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149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La información presentada corresponde al alcance definido por el equipo para la empresa JJV.</a:t>
            </a:r>
          </a:p>
        </p:txBody>
      </p:sp>
    </p:spTree>
    <p:extLst>
      <p:ext uri="{BB962C8B-B14F-4D97-AF65-F5344CB8AC3E}">
        <p14:creationId xmlns:p14="http://schemas.microsoft.com/office/powerpoint/2010/main" val="170675402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CD0F7F-4595-4FB5-9FA8-632CD0DC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2BC223-B168-4400-8023-FA31E52D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B8D4"/>
                </a:solidFill>
              </a:defRPr>
            </a:pPr>
            <a:r>
              <a:rPr sz="975" b="1">
                <a:solidFill>
                  <a:srgbClr val="16B8D4"/>
                </a:solidFill>
              </a:rPr>
              <a:t>CIERRE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80E26F-AAA6-4626-BCFB-44D65DA4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87630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Técnico Ya transforma un proceso disperso</a:t>
            </a:r>
          </a:p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en una operación trazable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050D46-E3D4-406B-A34A-7B5C2050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3048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53047"/>
          </a:solidFill>
          <a:ln xmlns:a="http://schemas.openxmlformats.org/drawingml/2006/main" w="9525">
            <a:solidFill>
              <a:srgbClr val="29445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127A8D-6C8B-4DAE-8D94-29A7EEB1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57625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B8D4"/>
                </a:solidFill>
              </a:defRPr>
            </a:pPr>
            <a:r>
              <a:rPr sz="975" b="1">
                <a:solidFill>
                  <a:srgbClr val="16B8D4"/>
                </a:solidFill>
              </a:rPr>
              <a:t>CENTRALIZA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5F3911-DE87-4C82-AE22-5AFF33F2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00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Solicitudes y órdenes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780B61-0609-4F0D-9BCA-378684E4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676650"/>
            <a:ext cx="3048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53047"/>
          </a:solidFill>
          <a:ln xmlns:a="http://schemas.openxmlformats.org/drawingml/2006/main" w="9525">
            <a:solidFill>
              <a:srgbClr val="2944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EF41F2-9E37-4692-BD6F-889D983F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57625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B8D4"/>
                </a:solidFill>
              </a:defRPr>
            </a:pPr>
            <a:r>
              <a:rPr sz="975" b="1">
                <a:solidFill>
                  <a:srgbClr val="16B8D4"/>
                </a:solidFill>
              </a:rPr>
              <a:t>COORDINA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C596F0-72F9-4872-9EFC-A8BBD759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100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Gestores y técnicos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91ACCC-2F59-41EB-A476-696D5A5A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76650"/>
            <a:ext cx="3048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6B8D4"/>
          </a:solidFill>
          <a:ln xmlns:a="http://schemas.openxmlformats.org/drawingml/2006/main" w="9525">
            <a:solidFill>
              <a:srgbClr val="16B8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179A41-A089-4ED9-8ACF-1011FC57D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857625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1F33"/>
                </a:solidFill>
              </a:defRPr>
            </a:pPr>
            <a:r>
              <a:rPr sz="975" b="1">
                <a:solidFill>
                  <a:srgbClr val="0B1F33"/>
                </a:solidFill>
              </a:rPr>
              <a:t>DEMUESTRA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013259-FE97-467E-98EE-3C3D39B12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100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Competencias profesionales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479DBC-5D6E-4BD8-9F1F-BBF89F5E5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34025"/>
            <a:ext cx="828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B8D4"/>
                </a:solidFill>
              </a:defRPr>
            </a:pPr>
            <a:r>
              <a:rPr sz="1425" b="1">
                <a:solidFill>
                  <a:srgbClr val="16B8D4"/>
                </a:solidFill>
              </a:rPr>
              <a:t>Próximo hito: validar el alcance y avanzar al diseño técnico.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A79BFE-3233-439C-9685-3F4C509F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95312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¿Preguntas?</a:t>
            </a:r>
          </a:p>
        </p:txBody>
      </p:sp>
    </p:spTree>
    <p:extLst>
      <p:ext uri="{BB962C8B-B14F-4D97-AF65-F5344CB8AC3E}">
        <p14:creationId xmlns:p14="http://schemas.microsoft.com/office/powerpoint/2010/main" val="1647913135"/>
      </p:ext>
    </p:extLst>
  </p:cSld>
</p:sld>
</file>

<file path=ppt/theme/theme1.xml><?xml version="1.0" encoding="utf-8"?>
<a:theme xmlns:a="http://schemas.openxmlformats.org/drawingml/2006/main" name="ChatGPT">
  <a:themeElements>
    <a:clrScheme name="Tecnico Ya">
      <a:dk1>
        <a:srgbClr val="071521"/>
      </a:dk1>
      <a:lt1>
        <a:srgbClr val="FFFFFF"/>
      </a:lt1>
      <a:dk2>
        <a:srgbClr val="153047"/>
      </a:dk2>
      <a:lt2>
        <a:srgbClr val="DCE7EF"/>
      </a:lt2>
      <a:accent1>
        <a:srgbClr val="16B8D4"/>
      </a:accent1>
      <a:accent2>
        <a:srgbClr val="2962FF"/>
      </a:accent2>
      <a:accent3>
        <a:srgbClr val="F5B63C"/>
      </a:accent3>
      <a:accent4>
        <a:srgbClr val="55C08A"/>
      </a:accent4>
      <a:accent5>
        <a:srgbClr val="9F7AEA"/>
      </a:accent5>
      <a:accent6>
        <a:srgbClr val="FF6B6B"/>
      </a:accent6>
      <a:hlink>
        <a:srgbClr val="16B8D4"/>
      </a:hlink>
      <a:folHlink>
        <a:srgbClr val="9F7AE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ecnico Ya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2026-09-04T00:45:42.7810000Z</dcterms:created>
  <dcterms:modified xsi:type="dcterms:W3CDTF">2026-09-04T00:45:42.7810000Z</dcterms:modified>
</coreProperties>
</file>